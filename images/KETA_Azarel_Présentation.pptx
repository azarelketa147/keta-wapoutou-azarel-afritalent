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86" autoAdjust="0"/>
    <p:restoredTop sz="94610"/>
  </p:normalViewPr>
  <p:slideViewPr>
    <p:cSldViewPr snapToGrid="0" snapToObjects="1">
      <p:cViewPr varScale="1">
        <p:scale>
          <a:sx n="66" d="100"/>
          <a:sy n="66" d="100"/>
        </p:scale>
        <p:origin x="8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245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zarel-sylvano/commit-/commits/main/"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mailto:https://azarelketa147.github.io/KETA-WAPOUTOU-Azarel-AfriTalent/"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736854" y="-2172694"/>
            <a:ext cx="5029200" cy="5029200"/>
          </a:xfrm>
          <a:prstGeom prst="ellipse">
            <a:avLst/>
          </a:prstGeom>
          <a:solidFill>
            <a:srgbClr val="8F3DFF">
              <a:alpha val="18000"/>
            </a:srgbClr>
          </a:solidFill>
          <a:ln/>
        </p:spPr>
      </p:sp>
      <p:sp>
        <p:nvSpPr>
          <p:cNvPr id="3" name="Shape 1"/>
          <p:cNvSpPr/>
          <p:nvPr/>
        </p:nvSpPr>
        <p:spPr>
          <a:xfrm>
            <a:off x="-1371600" y="4572000"/>
            <a:ext cx="4114800" cy="4114800"/>
          </a:xfrm>
          <a:prstGeom prst="ellipse">
            <a:avLst/>
          </a:prstGeom>
          <a:solidFill>
            <a:srgbClr val="5B21B6">
              <a:alpha val="22000"/>
            </a:srgbClr>
          </a:solidFill>
          <a:ln/>
        </p:spPr>
      </p:sp>
      <p:sp>
        <p:nvSpPr>
          <p:cNvPr id="4" name="Text 2"/>
          <p:cNvSpPr/>
          <p:nvPr/>
        </p:nvSpPr>
        <p:spPr>
          <a:xfrm>
            <a:off x="3687775" y="502920"/>
            <a:ext cx="8229600" cy="365760"/>
          </a:xfrm>
          <a:prstGeom prst="rect">
            <a:avLst/>
          </a:prstGeom>
          <a:noFill/>
          <a:ln/>
        </p:spPr>
        <p:txBody>
          <a:bodyPr wrap="square" lIns="0" tIns="0" rIns="0" bIns="0" rtlCol="0" anchor="ctr"/>
          <a:lstStyle/>
          <a:p>
            <a:pPr marL="0" indent="0">
              <a:buNone/>
            </a:pPr>
            <a:r>
              <a:rPr lang="en-US" sz="1300" kern="0" spc="300" dirty="0">
                <a:solidFill>
                  <a:schemeClr val="bg2"/>
                </a:solidFill>
                <a:latin typeface="Algerian" panose="04020705040A02060702" pitchFamily="82" charset="0"/>
                <a:ea typeface="Calibri" pitchFamily="34" charset="-122"/>
                <a:cs typeface="Calibri" pitchFamily="34" charset="-120"/>
              </a:rPr>
              <a:t>PROJET WEB · DÉVELOPPEMENT FRONT-END</a:t>
            </a:r>
            <a:endParaRPr lang="en-US" sz="1300" dirty="0">
              <a:solidFill>
                <a:schemeClr val="bg2"/>
              </a:solidFill>
              <a:latin typeface="Algerian" panose="04020705040A02060702" pitchFamily="82" charset="0"/>
            </a:endParaRPr>
          </a:p>
        </p:txBody>
      </p:sp>
      <p:sp>
        <p:nvSpPr>
          <p:cNvPr id="5" name="Text 3"/>
          <p:cNvSpPr/>
          <p:nvPr/>
        </p:nvSpPr>
        <p:spPr>
          <a:xfrm>
            <a:off x="3840480" y="1188720"/>
            <a:ext cx="9601200" cy="1051560"/>
          </a:xfrm>
          <a:prstGeom prst="rect">
            <a:avLst/>
          </a:prstGeom>
          <a:noFill/>
          <a:ln/>
        </p:spPr>
        <p:txBody>
          <a:bodyPr wrap="square" lIns="0" tIns="0" rIns="0" bIns="0" rtlCol="0" anchor="t"/>
          <a:lstStyle/>
          <a:p>
            <a:pPr marL="0" indent="0">
              <a:buNone/>
            </a:pPr>
            <a:r>
              <a:rPr lang="en-US" sz="5800" kern="0" spc="100" dirty="0">
                <a:solidFill>
                  <a:schemeClr val="bg2"/>
                </a:solidFill>
                <a:latin typeface="Algerian" panose="04020705040A02060702" pitchFamily="82" charset="0"/>
                <a:ea typeface="Cambria" pitchFamily="34" charset="-122"/>
                <a:cs typeface="Cambria" pitchFamily="34" charset="-120"/>
              </a:rPr>
              <a:t>AFRITALENT</a:t>
            </a:r>
            <a:endParaRPr lang="en-US" sz="5800" dirty="0">
              <a:solidFill>
                <a:schemeClr val="bg2"/>
              </a:solidFill>
              <a:latin typeface="Algerian" panose="04020705040A02060702" pitchFamily="82" charset="0"/>
            </a:endParaRPr>
          </a:p>
        </p:txBody>
      </p:sp>
      <p:sp>
        <p:nvSpPr>
          <p:cNvPr id="6" name="Text 4"/>
          <p:cNvSpPr/>
          <p:nvPr/>
        </p:nvSpPr>
        <p:spPr>
          <a:xfrm>
            <a:off x="3840480" y="2080260"/>
            <a:ext cx="9601200" cy="1051560"/>
          </a:xfrm>
          <a:prstGeom prst="rect">
            <a:avLst/>
          </a:prstGeom>
          <a:noFill/>
          <a:ln/>
        </p:spPr>
        <p:txBody>
          <a:bodyPr wrap="square" lIns="0" tIns="0" rIns="0" bIns="0" rtlCol="0" anchor="t"/>
          <a:lstStyle/>
          <a:p>
            <a:pPr marL="0" indent="0">
              <a:buNone/>
            </a:pPr>
            <a:r>
              <a:rPr lang="en-US" sz="5800" kern="0" spc="100" dirty="0">
                <a:solidFill>
                  <a:schemeClr val="bg2"/>
                </a:solidFill>
                <a:latin typeface="Algerian" panose="04020705040A02060702" pitchFamily="82" charset="0"/>
                <a:ea typeface="Cambria" pitchFamily="34" charset="-122"/>
                <a:cs typeface="Cambria" pitchFamily="34" charset="-120"/>
              </a:rPr>
              <a:t>GAMEHAVEN</a:t>
            </a:r>
            <a:endParaRPr lang="en-US" sz="5800" dirty="0">
              <a:solidFill>
                <a:schemeClr val="bg2"/>
              </a:solidFill>
              <a:latin typeface="Algerian" panose="04020705040A02060702" pitchFamily="82" charset="0"/>
            </a:endParaRPr>
          </a:p>
        </p:txBody>
      </p:sp>
      <p:sp>
        <p:nvSpPr>
          <p:cNvPr id="7" name="Text 5"/>
          <p:cNvSpPr/>
          <p:nvPr/>
        </p:nvSpPr>
        <p:spPr>
          <a:xfrm>
            <a:off x="2681935" y="3314104"/>
            <a:ext cx="8686800" cy="457200"/>
          </a:xfrm>
          <a:prstGeom prst="rect">
            <a:avLst/>
          </a:prstGeom>
          <a:noFill/>
          <a:ln/>
        </p:spPr>
        <p:txBody>
          <a:bodyPr wrap="square" lIns="0" tIns="0" rIns="0" bIns="0" rtlCol="0" anchor="ctr"/>
          <a:lstStyle/>
          <a:p>
            <a:pPr marL="0" indent="0">
              <a:buNone/>
            </a:pPr>
            <a:r>
              <a:rPr lang="en-US" sz="1600" dirty="0">
                <a:solidFill>
                  <a:schemeClr val="bg2"/>
                </a:solidFill>
                <a:latin typeface="Algerian" panose="04020705040A02060702" pitchFamily="82" charset="0"/>
                <a:ea typeface="Calibri" pitchFamily="34" charset="-122"/>
                <a:cs typeface="Calibri" pitchFamily="34" charset="-120"/>
              </a:rPr>
              <a:t>Plateforme freelance gaming — connecter les talents africains aux opportunités créatives</a:t>
            </a:r>
            <a:endParaRPr lang="en-US" sz="1600" dirty="0">
              <a:solidFill>
                <a:schemeClr val="bg2"/>
              </a:solidFill>
              <a:latin typeface="Algerian" panose="04020705040A02060702" pitchFamily="82" charset="0"/>
            </a:endParaRPr>
          </a:p>
        </p:txBody>
      </p:sp>
      <p:sp>
        <p:nvSpPr>
          <p:cNvPr id="8" name="Shape 6"/>
          <p:cNvSpPr/>
          <p:nvPr/>
        </p:nvSpPr>
        <p:spPr>
          <a:xfrm>
            <a:off x="220649" y="4685704"/>
            <a:ext cx="6035040" cy="1417320"/>
          </a:xfrm>
          <a:prstGeom prst="roundRect">
            <a:avLst>
              <a:gd name="adj" fmla="val 9032"/>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chemeClr val="bg2"/>
              </a:solidFill>
              <a:latin typeface="Algerian" panose="04020705040A02060702" pitchFamily="82" charset="0"/>
            </a:endParaRPr>
          </a:p>
        </p:txBody>
      </p:sp>
      <p:sp>
        <p:nvSpPr>
          <p:cNvPr id="9" name="Text 7"/>
          <p:cNvSpPr/>
          <p:nvPr/>
        </p:nvSpPr>
        <p:spPr>
          <a:xfrm>
            <a:off x="1051560" y="4910328"/>
            <a:ext cx="5577840" cy="365760"/>
          </a:xfrm>
          <a:prstGeom prst="rect">
            <a:avLst/>
          </a:prstGeom>
          <a:noFill/>
          <a:ln/>
        </p:spPr>
        <p:txBody>
          <a:bodyPr wrap="square" lIns="0" tIns="0" rIns="0" bIns="0" rtlCol="0" anchor="ctr"/>
          <a:lstStyle/>
          <a:p>
            <a:pPr marL="0" indent="0">
              <a:buNone/>
            </a:pPr>
            <a:r>
              <a:rPr lang="en-US" sz="1300" dirty="0">
                <a:solidFill>
                  <a:schemeClr val="bg2"/>
                </a:solidFill>
                <a:latin typeface="Algerian" panose="04020705040A02060702" pitchFamily="82" charset="0"/>
                <a:ea typeface="Calibri" pitchFamily="34" charset="-122"/>
                <a:cs typeface="Calibri" pitchFamily="34" charset="-120"/>
              </a:rPr>
              <a:t>Nom &amp; Prénom :  KETA-WAPOUTOU </a:t>
            </a:r>
            <a:r>
              <a:rPr lang="en-US" sz="1300" dirty="0" err="1">
                <a:solidFill>
                  <a:schemeClr val="bg2"/>
                </a:solidFill>
                <a:latin typeface="Algerian" panose="04020705040A02060702" pitchFamily="82" charset="0"/>
                <a:ea typeface="Calibri" pitchFamily="34" charset="-122"/>
                <a:cs typeface="Calibri" pitchFamily="34" charset="-120"/>
              </a:rPr>
              <a:t>Azarel</a:t>
            </a:r>
            <a:r>
              <a:rPr lang="en-US" sz="1300" dirty="0">
                <a:solidFill>
                  <a:schemeClr val="bg2"/>
                </a:solidFill>
                <a:latin typeface="Algerian" panose="04020705040A02060702" pitchFamily="82" charset="0"/>
                <a:ea typeface="Calibri" pitchFamily="34" charset="-122"/>
                <a:cs typeface="Calibri" pitchFamily="34" charset="-120"/>
              </a:rPr>
              <a:t> Sylvano</a:t>
            </a:r>
            <a:endParaRPr lang="en-US" sz="1300" dirty="0">
              <a:solidFill>
                <a:schemeClr val="bg2"/>
              </a:solidFill>
              <a:latin typeface="Algerian" panose="04020705040A02060702" pitchFamily="82" charset="0"/>
            </a:endParaRPr>
          </a:p>
        </p:txBody>
      </p:sp>
      <p:sp>
        <p:nvSpPr>
          <p:cNvPr id="10" name="Text 8"/>
          <p:cNvSpPr/>
          <p:nvPr/>
        </p:nvSpPr>
        <p:spPr>
          <a:xfrm>
            <a:off x="1051560" y="5303520"/>
            <a:ext cx="5577840" cy="365760"/>
          </a:xfrm>
          <a:prstGeom prst="rect">
            <a:avLst/>
          </a:prstGeom>
          <a:noFill/>
          <a:ln/>
        </p:spPr>
        <p:txBody>
          <a:bodyPr wrap="square" lIns="0" tIns="0" rIns="0" bIns="0" rtlCol="0" anchor="ctr"/>
          <a:lstStyle/>
          <a:p>
            <a:pPr marL="0" indent="0">
              <a:buNone/>
            </a:pPr>
            <a:r>
              <a:rPr lang="en-US" sz="1300" dirty="0">
                <a:solidFill>
                  <a:schemeClr val="bg2"/>
                </a:solidFill>
                <a:latin typeface="Algerian" panose="04020705040A02060702" pitchFamily="82" charset="0"/>
                <a:ea typeface="Calibri" pitchFamily="34" charset="-122"/>
                <a:cs typeface="Calibri" pitchFamily="34" charset="-120"/>
              </a:rPr>
              <a:t>Classe :  L1CS</a:t>
            </a:r>
            <a:endParaRPr lang="en-US" sz="1300" dirty="0">
              <a:solidFill>
                <a:schemeClr val="bg2"/>
              </a:solidFill>
              <a:latin typeface="Algerian" panose="04020705040A02060702" pitchFamily="82" charset="0"/>
            </a:endParaRPr>
          </a:p>
        </p:txBody>
      </p:sp>
      <p:sp>
        <p:nvSpPr>
          <p:cNvPr id="11" name="Text 9"/>
          <p:cNvSpPr/>
          <p:nvPr/>
        </p:nvSpPr>
        <p:spPr>
          <a:xfrm>
            <a:off x="1051560" y="5696712"/>
            <a:ext cx="5577840" cy="365760"/>
          </a:xfrm>
          <a:prstGeom prst="rect">
            <a:avLst/>
          </a:prstGeom>
          <a:noFill/>
          <a:ln/>
        </p:spPr>
        <p:txBody>
          <a:bodyPr wrap="square" lIns="0" tIns="0" rIns="0" bIns="0" rtlCol="0" anchor="ctr"/>
          <a:lstStyle/>
          <a:p>
            <a:pPr marL="0" indent="0">
              <a:buNone/>
            </a:pPr>
            <a:r>
              <a:rPr lang="en-US" sz="1300" dirty="0">
                <a:solidFill>
                  <a:schemeClr val="bg2"/>
                </a:solidFill>
                <a:latin typeface="Algerian" panose="04020705040A02060702" pitchFamily="82" charset="0"/>
                <a:ea typeface="Calibri" pitchFamily="34" charset="-122"/>
                <a:cs typeface="Calibri" pitchFamily="34" charset="-120"/>
              </a:rPr>
              <a:t>Date :  2025-2026</a:t>
            </a:r>
            <a:endParaRPr lang="en-US" sz="1300" dirty="0">
              <a:solidFill>
                <a:schemeClr val="bg2"/>
              </a:solidFill>
              <a:latin typeface="Algerian" panose="04020705040A02060702" pitchFamily="82" charset="0"/>
            </a:endParaRPr>
          </a:p>
        </p:txBody>
      </p:sp>
      <p:sp>
        <p:nvSpPr>
          <p:cNvPr id="14" name="Text 11"/>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lgerian" panose="04020705040A02060702" pitchFamily="82" charset="0"/>
                <a:ea typeface="Calibri" pitchFamily="34" charset="-122"/>
                <a:cs typeface="Calibri" pitchFamily="34" charset="-120"/>
              </a:rPr>
              <a:t>01</a:t>
            </a:r>
            <a:endParaRPr lang="en-US" sz="1000" dirty="0">
              <a:solidFill>
                <a:schemeClr val="bg2"/>
              </a:solidFill>
              <a:latin typeface="Algerian" panose="04020705040A02060702" pitchFamily="82" charset="0"/>
            </a:endParaRPr>
          </a:p>
        </p:txBody>
      </p:sp>
      <p:sp>
        <p:nvSpPr>
          <p:cNvPr id="15" name="Text 12"/>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lgerian" panose="04020705040A02060702"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SOMMAIRE</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Plan de la présentation</a:t>
            </a:r>
            <a:endParaRPr lang="en-US" sz="3200"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463040"/>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5" name="Text 3"/>
          <p:cNvSpPr/>
          <p:nvPr/>
        </p:nvSpPr>
        <p:spPr>
          <a:xfrm>
            <a:off x="713232" y="1463040"/>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01</a:t>
            </a:r>
            <a:endParaRPr lang="en-US" sz="2600" dirty="0">
              <a:solidFill>
                <a:schemeClr val="bg2"/>
              </a:solidFill>
              <a:latin typeface="Arial" panose="020B0604020202020204" pitchFamily="34" charset="0"/>
              <a:cs typeface="Arial" panose="020B0604020202020204" pitchFamily="34" charset="0"/>
            </a:endParaRPr>
          </a:p>
        </p:txBody>
      </p:sp>
      <p:sp>
        <p:nvSpPr>
          <p:cNvPr id="8" name="Text 5"/>
          <p:cNvSpPr/>
          <p:nvPr/>
        </p:nvSpPr>
        <p:spPr>
          <a:xfrm>
            <a:off x="1965960" y="1463040"/>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Présentation du projet</a:t>
            </a:r>
            <a:endParaRPr lang="en-US" sz="1450" dirty="0">
              <a:solidFill>
                <a:schemeClr val="bg2"/>
              </a:solidFill>
              <a:latin typeface="Arial" panose="020B0604020202020204" pitchFamily="34" charset="0"/>
              <a:cs typeface="Arial" panose="020B0604020202020204" pitchFamily="34" charset="0"/>
            </a:endParaRPr>
          </a:p>
        </p:txBody>
      </p:sp>
      <p:sp>
        <p:nvSpPr>
          <p:cNvPr id="9" name="Shape 6"/>
          <p:cNvSpPr/>
          <p:nvPr/>
        </p:nvSpPr>
        <p:spPr>
          <a:xfrm>
            <a:off x="548640" y="2404872"/>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0" name="Text 7"/>
          <p:cNvSpPr/>
          <p:nvPr/>
        </p:nvSpPr>
        <p:spPr>
          <a:xfrm>
            <a:off x="713232" y="2404872"/>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02</a:t>
            </a:r>
            <a:endParaRPr lang="en-US" sz="2600" dirty="0">
              <a:solidFill>
                <a:schemeClr val="bg2"/>
              </a:solidFill>
              <a:latin typeface="Arial" panose="020B0604020202020204" pitchFamily="34" charset="0"/>
              <a:cs typeface="Arial" panose="020B0604020202020204" pitchFamily="34" charset="0"/>
            </a:endParaRPr>
          </a:p>
        </p:txBody>
      </p:sp>
      <p:sp>
        <p:nvSpPr>
          <p:cNvPr id="13" name="Text 9"/>
          <p:cNvSpPr/>
          <p:nvPr/>
        </p:nvSpPr>
        <p:spPr>
          <a:xfrm>
            <a:off x="1965960" y="2404872"/>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Choix de design</a:t>
            </a:r>
            <a:endParaRPr lang="en-US" sz="1450" dirty="0">
              <a:solidFill>
                <a:schemeClr val="bg2"/>
              </a:solidFill>
              <a:latin typeface="Arial" panose="020B0604020202020204" pitchFamily="34" charset="0"/>
              <a:cs typeface="Arial" panose="020B0604020202020204" pitchFamily="34" charset="0"/>
            </a:endParaRPr>
          </a:p>
        </p:txBody>
      </p:sp>
      <p:sp>
        <p:nvSpPr>
          <p:cNvPr id="14" name="Shape 10"/>
          <p:cNvSpPr/>
          <p:nvPr/>
        </p:nvSpPr>
        <p:spPr>
          <a:xfrm>
            <a:off x="548640" y="3346704"/>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5" name="Text 11"/>
          <p:cNvSpPr/>
          <p:nvPr/>
        </p:nvSpPr>
        <p:spPr>
          <a:xfrm>
            <a:off x="713232" y="3346704"/>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03</a:t>
            </a:r>
            <a:endParaRPr lang="en-US" sz="2600" dirty="0">
              <a:solidFill>
                <a:schemeClr val="bg2"/>
              </a:solidFill>
              <a:latin typeface="Arial" panose="020B0604020202020204" pitchFamily="34" charset="0"/>
              <a:cs typeface="Arial" panose="020B0604020202020204" pitchFamily="34" charset="0"/>
            </a:endParaRPr>
          </a:p>
        </p:txBody>
      </p:sp>
      <p:sp>
        <p:nvSpPr>
          <p:cNvPr id="18" name="Text 13"/>
          <p:cNvSpPr/>
          <p:nvPr/>
        </p:nvSpPr>
        <p:spPr>
          <a:xfrm>
            <a:off x="1965960" y="3346704"/>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Architecture du site</a:t>
            </a:r>
            <a:endParaRPr lang="en-US" sz="1450" dirty="0">
              <a:solidFill>
                <a:schemeClr val="bg2"/>
              </a:solidFill>
              <a:latin typeface="Arial" panose="020B0604020202020204" pitchFamily="34" charset="0"/>
              <a:cs typeface="Arial" panose="020B0604020202020204" pitchFamily="34" charset="0"/>
            </a:endParaRPr>
          </a:p>
        </p:txBody>
      </p:sp>
      <p:sp>
        <p:nvSpPr>
          <p:cNvPr id="19" name="Shape 14"/>
          <p:cNvSpPr/>
          <p:nvPr/>
        </p:nvSpPr>
        <p:spPr>
          <a:xfrm>
            <a:off x="548640" y="4288536"/>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20" name="Text 15"/>
          <p:cNvSpPr/>
          <p:nvPr/>
        </p:nvSpPr>
        <p:spPr>
          <a:xfrm>
            <a:off x="713232" y="4288536"/>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04</a:t>
            </a:r>
            <a:endParaRPr lang="en-US" sz="2600" dirty="0">
              <a:solidFill>
                <a:schemeClr val="bg2"/>
              </a:solidFill>
              <a:latin typeface="Arial" panose="020B0604020202020204" pitchFamily="34" charset="0"/>
              <a:cs typeface="Arial" panose="020B0604020202020204" pitchFamily="34" charset="0"/>
            </a:endParaRPr>
          </a:p>
        </p:txBody>
      </p:sp>
      <p:sp>
        <p:nvSpPr>
          <p:cNvPr id="23" name="Text 17"/>
          <p:cNvSpPr/>
          <p:nvPr/>
        </p:nvSpPr>
        <p:spPr>
          <a:xfrm>
            <a:off x="1965960" y="4288536"/>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Points techniques (JS, Bootstrap, CSS)</a:t>
            </a:r>
            <a:endParaRPr lang="en-US" sz="1450" dirty="0">
              <a:solidFill>
                <a:schemeClr val="bg2"/>
              </a:solidFill>
              <a:latin typeface="Arial" panose="020B0604020202020204" pitchFamily="34" charset="0"/>
              <a:cs typeface="Arial" panose="020B0604020202020204" pitchFamily="34" charset="0"/>
            </a:endParaRPr>
          </a:p>
        </p:txBody>
      </p:sp>
      <p:sp>
        <p:nvSpPr>
          <p:cNvPr id="24" name="Shape 18"/>
          <p:cNvSpPr/>
          <p:nvPr/>
        </p:nvSpPr>
        <p:spPr>
          <a:xfrm>
            <a:off x="548640" y="5230368"/>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25" name="Text 19"/>
          <p:cNvSpPr/>
          <p:nvPr/>
        </p:nvSpPr>
        <p:spPr>
          <a:xfrm>
            <a:off x="713232" y="5230368"/>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05</a:t>
            </a:r>
            <a:endParaRPr lang="en-US" sz="2600" dirty="0">
              <a:solidFill>
                <a:schemeClr val="bg2"/>
              </a:solidFill>
              <a:latin typeface="Arial" panose="020B0604020202020204" pitchFamily="34" charset="0"/>
              <a:cs typeface="Arial" panose="020B0604020202020204" pitchFamily="34" charset="0"/>
            </a:endParaRPr>
          </a:p>
        </p:txBody>
      </p:sp>
      <p:sp>
        <p:nvSpPr>
          <p:cNvPr id="28" name="Text 21"/>
          <p:cNvSpPr/>
          <p:nvPr/>
        </p:nvSpPr>
        <p:spPr>
          <a:xfrm>
            <a:off x="1965960" y="5230368"/>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GitHub &amp; workflow</a:t>
            </a:r>
            <a:endParaRPr lang="en-US" sz="1450" dirty="0">
              <a:solidFill>
                <a:schemeClr val="bg2"/>
              </a:solidFill>
              <a:latin typeface="Arial" panose="020B0604020202020204" pitchFamily="34" charset="0"/>
              <a:cs typeface="Arial" panose="020B0604020202020204" pitchFamily="34" charset="0"/>
            </a:endParaRPr>
          </a:p>
        </p:txBody>
      </p:sp>
      <p:sp>
        <p:nvSpPr>
          <p:cNvPr id="29" name="Shape 22"/>
          <p:cNvSpPr/>
          <p:nvPr/>
        </p:nvSpPr>
        <p:spPr>
          <a:xfrm>
            <a:off x="6080760" y="1463040"/>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30" name="Text 23"/>
          <p:cNvSpPr/>
          <p:nvPr/>
        </p:nvSpPr>
        <p:spPr>
          <a:xfrm>
            <a:off x="6245352" y="1463040"/>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06</a:t>
            </a:r>
            <a:endParaRPr lang="en-US" sz="2600" dirty="0">
              <a:solidFill>
                <a:schemeClr val="bg2"/>
              </a:solidFill>
              <a:latin typeface="Arial" panose="020B0604020202020204" pitchFamily="34" charset="0"/>
              <a:cs typeface="Arial" panose="020B0604020202020204" pitchFamily="34" charset="0"/>
            </a:endParaRPr>
          </a:p>
        </p:txBody>
      </p:sp>
      <p:sp>
        <p:nvSpPr>
          <p:cNvPr id="33" name="Text 25"/>
          <p:cNvSpPr/>
          <p:nvPr/>
        </p:nvSpPr>
        <p:spPr>
          <a:xfrm>
            <a:off x="7498080" y="1463040"/>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Difficultés &amp; solutions</a:t>
            </a:r>
            <a:endParaRPr lang="en-US" sz="1450" dirty="0">
              <a:solidFill>
                <a:schemeClr val="bg2"/>
              </a:solidFill>
              <a:latin typeface="Arial" panose="020B0604020202020204" pitchFamily="34" charset="0"/>
              <a:cs typeface="Arial" panose="020B0604020202020204" pitchFamily="34" charset="0"/>
            </a:endParaRPr>
          </a:p>
        </p:txBody>
      </p:sp>
      <p:sp>
        <p:nvSpPr>
          <p:cNvPr id="34" name="Shape 26"/>
          <p:cNvSpPr/>
          <p:nvPr/>
        </p:nvSpPr>
        <p:spPr>
          <a:xfrm>
            <a:off x="6080760" y="2404872"/>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35" name="Text 27"/>
          <p:cNvSpPr/>
          <p:nvPr/>
        </p:nvSpPr>
        <p:spPr>
          <a:xfrm>
            <a:off x="6245352" y="2404872"/>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07</a:t>
            </a:r>
            <a:endParaRPr lang="en-US" sz="2600" dirty="0">
              <a:solidFill>
                <a:schemeClr val="bg2"/>
              </a:solidFill>
              <a:latin typeface="Arial" panose="020B0604020202020204" pitchFamily="34" charset="0"/>
              <a:cs typeface="Arial" panose="020B0604020202020204" pitchFamily="34" charset="0"/>
            </a:endParaRPr>
          </a:p>
        </p:txBody>
      </p:sp>
      <p:sp>
        <p:nvSpPr>
          <p:cNvPr id="38" name="Text 29"/>
          <p:cNvSpPr/>
          <p:nvPr/>
        </p:nvSpPr>
        <p:spPr>
          <a:xfrm>
            <a:off x="7498080" y="2404872"/>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Ressources utilisées</a:t>
            </a:r>
            <a:endParaRPr lang="en-US" sz="1450" dirty="0">
              <a:solidFill>
                <a:schemeClr val="bg2"/>
              </a:solidFill>
              <a:latin typeface="Arial" panose="020B0604020202020204" pitchFamily="34" charset="0"/>
              <a:cs typeface="Arial" panose="020B0604020202020204" pitchFamily="34" charset="0"/>
            </a:endParaRPr>
          </a:p>
        </p:txBody>
      </p:sp>
      <p:sp>
        <p:nvSpPr>
          <p:cNvPr id="39" name="Shape 30"/>
          <p:cNvSpPr/>
          <p:nvPr/>
        </p:nvSpPr>
        <p:spPr>
          <a:xfrm>
            <a:off x="6080760" y="3346704"/>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40" name="Text 31"/>
          <p:cNvSpPr/>
          <p:nvPr/>
        </p:nvSpPr>
        <p:spPr>
          <a:xfrm>
            <a:off x="6245352" y="3346704"/>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08</a:t>
            </a:r>
            <a:endParaRPr lang="en-US" sz="2600" dirty="0">
              <a:solidFill>
                <a:schemeClr val="bg2"/>
              </a:solidFill>
              <a:latin typeface="Arial" panose="020B0604020202020204" pitchFamily="34" charset="0"/>
              <a:cs typeface="Arial" panose="020B0604020202020204" pitchFamily="34" charset="0"/>
            </a:endParaRPr>
          </a:p>
        </p:txBody>
      </p:sp>
      <p:sp>
        <p:nvSpPr>
          <p:cNvPr id="43" name="Text 33"/>
          <p:cNvSpPr/>
          <p:nvPr/>
        </p:nvSpPr>
        <p:spPr>
          <a:xfrm>
            <a:off x="7498080" y="3346704"/>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Démonstration live</a:t>
            </a:r>
            <a:endParaRPr lang="en-US" sz="1450" dirty="0">
              <a:solidFill>
                <a:schemeClr val="bg2"/>
              </a:solidFill>
              <a:latin typeface="Arial" panose="020B0604020202020204" pitchFamily="34" charset="0"/>
              <a:cs typeface="Arial" panose="020B0604020202020204" pitchFamily="34" charset="0"/>
            </a:endParaRPr>
          </a:p>
        </p:txBody>
      </p:sp>
      <p:sp>
        <p:nvSpPr>
          <p:cNvPr id="44" name="Shape 34"/>
          <p:cNvSpPr/>
          <p:nvPr/>
        </p:nvSpPr>
        <p:spPr>
          <a:xfrm>
            <a:off x="6080760" y="4288536"/>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45" name="Text 35"/>
          <p:cNvSpPr/>
          <p:nvPr/>
        </p:nvSpPr>
        <p:spPr>
          <a:xfrm>
            <a:off x="6245352" y="4288536"/>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09</a:t>
            </a:r>
            <a:endParaRPr lang="en-US" sz="2600" dirty="0">
              <a:solidFill>
                <a:schemeClr val="bg2"/>
              </a:solidFill>
              <a:latin typeface="Arial" panose="020B0604020202020204" pitchFamily="34" charset="0"/>
              <a:cs typeface="Arial" panose="020B0604020202020204" pitchFamily="34" charset="0"/>
            </a:endParaRPr>
          </a:p>
        </p:txBody>
      </p:sp>
      <p:sp>
        <p:nvSpPr>
          <p:cNvPr id="48" name="Text 37"/>
          <p:cNvSpPr/>
          <p:nvPr/>
        </p:nvSpPr>
        <p:spPr>
          <a:xfrm>
            <a:off x="7498080" y="4288536"/>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Conclusion &amp; perspectives</a:t>
            </a:r>
            <a:endParaRPr lang="en-US" sz="1450" dirty="0">
              <a:solidFill>
                <a:schemeClr val="bg2"/>
              </a:solidFill>
              <a:latin typeface="Arial" panose="020B0604020202020204" pitchFamily="34" charset="0"/>
              <a:cs typeface="Arial" panose="020B0604020202020204" pitchFamily="34" charset="0"/>
            </a:endParaRPr>
          </a:p>
        </p:txBody>
      </p:sp>
      <p:sp>
        <p:nvSpPr>
          <p:cNvPr id="49" name="Text 38"/>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02</a:t>
            </a:r>
            <a:endParaRPr lang="en-US" sz="1000" dirty="0">
              <a:solidFill>
                <a:schemeClr val="bg2"/>
              </a:solidFill>
              <a:latin typeface="Arial" panose="020B0604020202020204" pitchFamily="34" charset="0"/>
              <a:cs typeface="Arial" panose="020B0604020202020204" pitchFamily="34" charset="0"/>
            </a:endParaRPr>
          </a:p>
        </p:txBody>
      </p:sp>
      <p:sp>
        <p:nvSpPr>
          <p:cNvPr id="50" name="Text 39"/>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602175" y="261325"/>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PRÉSENTATION DU PROJET</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2738628" y="652110"/>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Contexte, objectif &amp; public cible</a:t>
            </a:r>
            <a:endParaRPr lang="en-US" sz="3200"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463040"/>
            <a:ext cx="6126480" cy="1965960"/>
          </a:xfrm>
          <a:prstGeom prst="roundRect">
            <a:avLst>
              <a:gd name="adj" fmla="val 5581"/>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7" name="Text 4"/>
          <p:cNvSpPr/>
          <p:nvPr/>
        </p:nvSpPr>
        <p:spPr>
          <a:xfrm>
            <a:off x="2738628" y="1691640"/>
            <a:ext cx="4937760" cy="365760"/>
          </a:xfrm>
          <a:prstGeom prst="rect">
            <a:avLst/>
          </a:prstGeom>
          <a:noFill/>
          <a:ln/>
        </p:spPr>
        <p:txBody>
          <a:bodyPr wrap="square" lIns="0" tIns="0" rIns="0" bIns="0" rtlCol="0" anchor="ctr"/>
          <a:lstStyle/>
          <a:p>
            <a:pPr marL="0" indent="0">
              <a:buNone/>
            </a:pPr>
            <a:r>
              <a:rPr lang="en-US" sz="1700" b="1" dirty="0">
                <a:solidFill>
                  <a:schemeClr val="bg2"/>
                </a:solidFill>
                <a:latin typeface="Arial" panose="020B0604020202020204" pitchFamily="34" charset="0"/>
                <a:ea typeface="Cambria" pitchFamily="34" charset="-122"/>
                <a:cs typeface="Arial" panose="020B0604020202020204" pitchFamily="34" charset="0"/>
              </a:rPr>
              <a:t>Contexte</a:t>
            </a:r>
            <a:endParaRPr lang="en-US" sz="1700" dirty="0">
              <a:solidFill>
                <a:schemeClr val="bg2"/>
              </a:solidFill>
              <a:latin typeface="Arial" panose="020B0604020202020204" pitchFamily="34" charset="0"/>
              <a:cs typeface="Arial" panose="020B0604020202020204" pitchFamily="34" charset="0"/>
            </a:endParaRPr>
          </a:p>
        </p:txBody>
      </p:sp>
      <p:sp>
        <p:nvSpPr>
          <p:cNvPr id="8" name="Text 5"/>
          <p:cNvSpPr/>
          <p:nvPr/>
        </p:nvSpPr>
        <p:spPr>
          <a:xfrm>
            <a:off x="822960" y="2024194"/>
            <a:ext cx="5577840" cy="1280160"/>
          </a:xfrm>
          <a:prstGeom prst="rect">
            <a:avLst/>
          </a:prstGeom>
          <a:noFill/>
          <a:ln/>
        </p:spPr>
        <p:txBody>
          <a:bodyPr wrap="square" lIns="0" tIns="0" rIns="0" bIns="0" rtlCol="0" anchor="t"/>
          <a:lstStyle/>
          <a:p>
            <a:pPr>
              <a:lnSpc>
                <a:spcPct val="115000"/>
              </a:lnSpc>
            </a:pPr>
            <a:r>
              <a:rPr lang="fr-FR" sz="1400" b="1" dirty="0">
                <a:solidFill>
                  <a:schemeClr val="bg2"/>
                </a:solidFill>
                <a:latin typeface="Arial" panose="020B0604020202020204" pitchFamily="34" charset="0"/>
                <a:cs typeface="Arial" panose="020B0604020202020204" pitchFamily="34" charset="0"/>
              </a:rPr>
              <a:t>GAMEHAVEN est un site web dédié à l'univers du gaming. Il permet aux joueurs de découvrir des jeux, de suivre les actualités, de consulter des informations sur les différents univers de jeux et de rejoindre une communauté de passionnés. Le site propose une interface moderne, interactive et adaptée aux ordinateurs, tablettes et smartphones.</a:t>
            </a:r>
            <a:endParaRPr lang="en-US" sz="1250" b="1" dirty="0">
              <a:solidFill>
                <a:schemeClr val="bg2"/>
              </a:solidFill>
              <a:latin typeface="Arial" panose="020B0604020202020204" pitchFamily="34" charset="0"/>
              <a:cs typeface="Arial" panose="020B0604020202020204" pitchFamily="34" charset="0"/>
            </a:endParaRPr>
          </a:p>
        </p:txBody>
      </p:sp>
      <p:sp>
        <p:nvSpPr>
          <p:cNvPr id="9" name="Shape 6"/>
          <p:cNvSpPr/>
          <p:nvPr/>
        </p:nvSpPr>
        <p:spPr>
          <a:xfrm>
            <a:off x="502920" y="3828450"/>
            <a:ext cx="6126480" cy="1965960"/>
          </a:xfrm>
          <a:prstGeom prst="roundRect">
            <a:avLst>
              <a:gd name="adj" fmla="val 5581"/>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2" name="Text 8"/>
          <p:cNvSpPr/>
          <p:nvPr/>
        </p:nvSpPr>
        <p:spPr>
          <a:xfrm>
            <a:off x="2819401" y="3819785"/>
            <a:ext cx="4937760" cy="365760"/>
          </a:xfrm>
          <a:prstGeom prst="rect">
            <a:avLst/>
          </a:prstGeom>
          <a:noFill/>
          <a:ln/>
        </p:spPr>
        <p:txBody>
          <a:bodyPr wrap="square" lIns="0" tIns="0" rIns="0" bIns="0" rtlCol="0" anchor="ctr"/>
          <a:lstStyle/>
          <a:p>
            <a:pPr marL="0" indent="0">
              <a:buNone/>
            </a:pPr>
            <a:r>
              <a:rPr lang="en-US" sz="1700" b="1" dirty="0">
                <a:solidFill>
                  <a:schemeClr val="bg2"/>
                </a:solidFill>
                <a:latin typeface="Arial" panose="020B0604020202020204" pitchFamily="34" charset="0"/>
                <a:ea typeface="Cambria" pitchFamily="34" charset="-122"/>
                <a:cs typeface="Arial" panose="020B0604020202020204" pitchFamily="34" charset="0"/>
              </a:rPr>
              <a:t>Objectif</a:t>
            </a:r>
            <a:endParaRPr lang="en-US" sz="1700" dirty="0">
              <a:solidFill>
                <a:schemeClr val="bg2"/>
              </a:solidFill>
              <a:latin typeface="Arial" panose="020B0604020202020204" pitchFamily="34" charset="0"/>
              <a:cs typeface="Arial" panose="020B0604020202020204" pitchFamily="34" charset="0"/>
            </a:endParaRPr>
          </a:p>
        </p:txBody>
      </p:sp>
      <p:sp>
        <p:nvSpPr>
          <p:cNvPr id="13" name="Text 9"/>
          <p:cNvSpPr/>
          <p:nvPr/>
        </p:nvSpPr>
        <p:spPr>
          <a:xfrm>
            <a:off x="925830" y="4233672"/>
            <a:ext cx="5577840" cy="1280160"/>
          </a:xfrm>
          <a:prstGeom prst="rect">
            <a:avLst/>
          </a:prstGeom>
          <a:noFill/>
          <a:ln/>
        </p:spPr>
        <p:txBody>
          <a:bodyPr wrap="square" lIns="0" tIns="0" rIns="0" bIns="0" rtlCol="0" anchor="t"/>
          <a:lstStyle/>
          <a:p>
            <a:pPr>
              <a:lnSpc>
                <a:spcPct val="115000"/>
              </a:lnSpc>
            </a:pPr>
            <a:r>
              <a:rPr lang="fr-FR" sz="1400" b="1" dirty="0">
                <a:solidFill>
                  <a:schemeClr val="bg2"/>
                </a:solidFill>
                <a:latin typeface="Arial" panose="020B0604020202020204" pitchFamily="34" charset="0"/>
                <a:cs typeface="Arial" panose="020B0604020202020204" pitchFamily="34" charset="0"/>
              </a:rPr>
              <a:t>Créer un site vitrine de plusieurs pages qui fonctionne sur tous les appareils (ordinateur, tablette et téléphone) et qui contient des fonctionnalités interactives. Le projet utilise HTML, CSS, JavaScript et Bootstrap 5, avec un mode clair/sombre, un formulaire validé, des animations au défilement et un système de filtrage des éléments.</a:t>
            </a:r>
            <a:endParaRPr lang="fr-FR" sz="1400" dirty="0">
              <a:solidFill>
                <a:schemeClr val="bg2"/>
              </a:solidFill>
              <a:latin typeface="Arial" panose="020B0604020202020204" pitchFamily="34" charset="0"/>
              <a:cs typeface="Arial" panose="020B0604020202020204" pitchFamily="34" charset="0"/>
            </a:endParaRPr>
          </a:p>
          <a:p>
            <a:pPr marL="0" indent="0">
              <a:lnSpc>
                <a:spcPct val="115000"/>
              </a:lnSpc>
              <a:buNone/>
            </a:pPr>
            <a:endParaRPr lang="en-US" sz="1250" dirty="0">
              <a:solidFill>
                <a:schemeClr val="bg2"/>
              </a:solidFill>
              <a:latin typeface="Arial" panose="020B0604020202020204" pitchFamily="34" charset="0"/>
              <a:cs typeface="Arial" panose="020B0604020202020204" pitchFamily="34" charset="0"/>
            </a:endParaRPr>
          </a:p>
        </p:txBody>
      </p:sp>
      <p:sp>
        <p:nvSpPr>
          <p:cNvPr id="14" name="Shape 10"/>
          <p:cNvSpPr/>
          <p:nvPr/>
        </p:nvSpPr>
        <p:spPr>
          <a:xfrm>
            <a:off x="6903720" y="1450526"/>
            <a:ext cx="4754880" cy="4343884"/>
          </a:xfrm>
          <a:prstGeom prst="roundRect">
            <a:avLst>
              <a:gd name="adj" fmla="val 2667"/>
            </a:avLst>
          </a:prstGeom>
          <a:solidFill>
            <a:srgbClr val="1B1733"/>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rgbClr val="002060"/>
              </a:solidFill>
              <a:latin typeface="Arial" panose="020B0604020202020204" pitchFamily="34" charset="0"/>
              <a:cs typeface="Arial" panose="020B0604020202020204" pitchFamily="34" charset="0"/>
            </a:endParaRPr>
          </a:p>
        </p:txBody>
      </p:sp>
      <p:sp>
        <p:nvSpPr>
          <p:cNvPr id="17" name="Text 12"/>
          <p:cNvSpPr/>
          <p:nvPr/>
        </p:nvSpPr>
        <p:spPr>
          <a:xfrm>
            <a:off x="8540015" y="1714500"/>
            <a:ext cx="3566160" cy="365760"/>
          </a:xfrm>
          <a:prstGeom prst="rect">
            <a:avLst/>
          </a:prstGeom>
          <a:noFill/>
          <a:ln/>
        </p:spPr>
        <p:txBody>
          <a:bodyPr wrap="square" lIns="0" tIns="0" rIns="0" bIns="0" rtlCol="0" anchor="ctr"/>
          <a:lstStyle/>
          <a:p>
            <a:pPr marL="0" indent="0">
              <a:buNone/>
            </a:pPr>
            <a:r>
              <a:rPr lang="en-US" sz="1700" b="1" dirty="0">
                <a:solidFill>
                  <a:schemeClr val="bg2"/>
                </a:solidFill>
                <a:latin typeface="Arial" panose="020B0604020202020204" pitchFamily="34" charset="0"/>
                <a:ea typeface="Cambria" pitchFamily="34" charset="-122"/>
                <a:cs typeface="Arial" panose="020B0604020202020204" pitchFamily="34" charset="0"/>
              </a:rPr>
              <a:t>Public cible</a:t>
            </a:r>
            <a:endParaRPr lang="en-US" sz="1700" dirty="0">
              <a:solidFill>
                <a:schemeClr val="bg2"/>
              </a:solidFill>
              <a:latin typeface="Arial" panose="020B0604020202020204" pitchFamily="34" charset="0"/>
              <a:cs typeface="Arial" panose="020B0604020202020204" pitchFamily="34" charset="0"/>
            </a:endParaRPr>
          </a:p>
        </p:txBody>
      </p:sp>
      <p:sp>
        <p:nvSpPr>
          <p:cNvPr id="18" name="Shape 13"/>
          <p:cNvSpPr/>
          <p:nvPr/>
        </p:nvSpPr>
        <p:spPr>
          <a:xfrm>
            <a:off x="7196328" y="2295144"/>
            <a:ext cx="109728" cy="109728"/>
          </a:xfrm>
          <a:prstGeom prst="ellipse">
            <a:avLst/>
          </a:prstGeom>
          <a:solidFill>
            <a:srgbClr val="2DD4BF"/>
          </a:solidFill>
          <a:ln/>
        </p:spPr>
      </p:sp>
      <p:sp>
        <p:nvSpPr>
          <p:cNvPr id="19" name="Text 14"/>
          <p:cNvSpPr/>
          <p:nvPr/>
        </p:nvSpPr>
        <p:spPr>
          <a:xfrm>
            <a:off x="7452360" y="2167128"/>
            <a:ext cx="3931920" cy="320040"/>
          </a:xfrm>
          <a:prstGeom prst="rect">
            <a:avLst/>
          </a:prstGeom>
          <a:noFill/>
          <a:ln/>
        </p:spPr>
        <p:txBody>
          <a:bodyPr wrap="square" lIns="0" tIns="0" rIns="0" bIns="0" rtlCol="0" anchor="ctr"/>
          <a:lstStyle/>
          <a:p>
            <a:r>
              <a:rPr lang="fr-FR" sz="1400" b="1" dirty="0">
                <a:solidFill>
                  <a:schemeClr val="bg2"/>
                </a:solidFill>
                <a:latin typeface="Arial" panose="020B0604020202020204" pitchFamily="34" charset="0"/>
                <a:cs typeface="Arial" panose="020B0604020202020204" pitchFamily="34" charset="0"/>
              </a:rPr>
              <a:t>Passionnés de jeux vidéo</a:t>
            </a:r>
            <a:endParaRPr lang="en-US" sz="1350" b="1" dirty="0">
              <a:solidFill>
                <a:schemeClr val="bg2"/>
              </a:solidFill>
              <a:latin typeface="Arial" panose="020B0604020202020204" pitchFamily="34" charset="0"/>
              <a:cs typeface="Arial" panose="020B0604020202020204" pitchFamily="34" charset="0"/>
            </a:endParaRPr>
          </a:p>
        </p:txBody>
      </p:sp>
      <p:sp>
        <p:nvSpPr>
          <p:cNvPr id="20" name="Text 15"/>
          <p:cNvSpPr/>
          <p:nvPr/>
        </p:nvSpPr>
        <p:spPr>
          <a:xfrm>
            <a:off x="7452360" y="2468880"/>
            <a:ext cx="3931920" cy="548640"/>
          </a:xfrm>
          <a:prstGeom prst="rect">
            <a:avLst/>
          </a:prstGeom>
          <a:noFill/>
          <a:ln/>
        </p:spPr>
        <p:txBody>
          <a:bodyPr wrap="square" lIns="0" tIns="0" rIns="0" bIns="0" rtlCol="0" anchor="ctr"/>
          <a:lstStyle/>
          <a:p>
            <a:pPr>
              <a:lnSpc>
                <a:spcPct val="110000"/>
              </a:lnSpc>
            </a:pPr>
            <a:r>
              <a:rPr lang="fr-FR" sz="1200" dirty="0">
                <a:solidFill>
                  <a:schemeClr val="bg2"/>
                </a:solidFill>
                <a:latin typeface="Arial" panose="020B0604020202020204" pitchFamily="34" charset="0"/>
                <a:cs typeface="Arial" panose="020B0604020202020204" pitchFamily="34" charset="0"/>
              </a:rPr>
              <a:t>Joueurs réguliers qui suivent les actualités, les nouveautés et les tendances du monde du gaming.</a:t>
            </a:r>
            <a:endParaRPr lang="en-US" sz="1200" b="1" dirty="0">
              <a:solidFill>
                <a:schemeClr val="bg2"/>
              </a:solidFill>
              <a:latin typeface="Arial" panose="020B0604020202020204" pitchFamily="34" charset="0"/>
              <a:cs typeface="Arial" panose="020B0604020202020204" pitchFamily="34" charset="0"/>
            </a:endParaRPr>
          </a:p>
        </p:txBody>
      </p:sp>
      <p:sp>
        <p:nvSpPr>
          <p:cNvPr id="21" name="Shape 16"/>
          <p:cNvSpPr/>
          <p:nvPr/>
        </p:nvSpPr>
        <p:spPr>
          <a:xfrm>
            <a:off x="7196328" y="3346704"/>
            <a:ext cx="109728" cy="109728"/>
          </a:xfrm>
          <a:prstGeom prst="ellipse">
            <a:avLst/>
          </a:prstGeom>
          <a:solidFill>
            <a:srgbClr val="2DD4BF"/>
          </a:solidFill>
          <a:ln/>
        </p:spPr>
      </p:sp>
      <p:sp>
        <p:nvSpPr>
          <p:cNvPr id="22" name="Text 17"/>
          <p:cNvSpPr/>
          <p:nvPr/>
        </p:nvSpPr>
        <p:spPr>
          <a:xfrm>
            <a:off x="7452360" y="3218688"/>
            <a:ext cx="3931920" cy="320040"/>
          </a:xfrm>
          <a:prstGeom prst="rect">
            <a:avLst/>
          </a:prstGeom>
          <a:noFill/>
          <a:ln/>
        </p:spPr>
        <p:txBody>
          <a:bodyPr wrap="square" lIns="0" tIns="0" rIns="0" bIns="0" rtlCol="0" anchor="ctr"/>
          <a:lstStyle/>
          <a:p>
            <a:r>
              <a:rPr lang="fr-FR" sz="1400" b="1" dirty="0">
                <a:solidFill>
                  <a:schemeClr val="bg2"/>
                </a:solidFill>
                <a:latin typeface="Arial" panose="020B0604020202020204" pitchFamily="34" charset="0"/>
                <a:cs typeface="Arial" panose="020B0604020202020204" pitchFamily="34" charset="0"/>
              </a:rPr>
              <a:t>Joueurs occasionnels</a:t>
            </a:r>
            <a:endParaRPr lang="en-US" sz="1350" b="1" dirty="0">
              <a:solidFill>
                <a:schemeClr val="bg2"/>
              </a:solidFill>
              <a:latin typeface="Arial" panose="020B0604020202020204" pitchFamily="34" charset="0"/>
              <a:cs typeface="Arial" panose="020B0604020202020204" pitchFamily="34" charset="0"/>
            </a:endParaRPr>
          </a:p>
        </p:txBody>
      </p:sp>
      <p:sp>
        <p:nvSpPr>
          <p:cNvPr id="23" name="Text 18"/>
          <p:cNvSpPr/>
          <p:nvPr/>
        </p:nvSpPr>
        <p:spPr>
          <a:xfrm>
            <a:off x="7452360" y="3520440"/>
            <a:ext cx="3931920" cy="548640"/>
          </a:xfrm>
          <a:prstGeom prst="rect">
            <a:avLst/>
          </a:prstGeom>
          <a:noFill/>
          <a:ln/>
        </p:spPr>
        <p:txBody>
          <a:bodyPr wrap="square" lIns="0" tIns="0" rIns="0" bIns="0" rtlCol="0" anchor="ctr"/>
          <a:lstStyle/>
          <a:p>
            <a:pPr>
              <a:lnSpc>
                <a:spcPct val="110000"/>
              </a:lnSpc>
            </a:pPr>
            <a:r>
              <a:rPr lang="fr-FR" sz="1200" dirty="0">
                <a:solidFill>
                  <a:schemeClr val="bg2"/>
                </a:solidFill>
                <a:latin typeface="Arial" panose="020B0604020202020204" pitchFamily="34" charset="0"/>
                <a:cs typeface="Arial" panose="020B0604020202020204" pitchFamily="34" charset="0"/>
              </a:rPr>
              <a:t>Personnes qui jouent pendant leur temps libre et souhaitent découvrir de nouveaux jeux.</a:t>
            </a:r>
            <a:endParaRPr lang="en-US" sz="1200" b="1" dirty="0">
              <a:solidFill>
                <a:schemeClr val="bg2"/>
              </a:solidFill>
              <a:latin typeface="Arial" panose="020B0604020202020204" pitchFamily="34" charset="0"/>
              <a:cs typeface="Arial" panose="020B0604020202020204" pitchFamily="34" charset="0"/>
            </a:endParaRPr>
          </a:p>
        </p:txBody>
      </p:sp>
      <p:sp>
        <p:nvSpPr>
          <p:cNvPr id="24" name="Shape 19"/>
          <p:cNvSpPr/>
          <p:nvPr/>
        </p:nvSpPr>
        <p:spPr>
          <a:xfrm>
            <a:off x="7196328" y="4398264"/>
            <a:ext cx="109728" cy="109728"/>
          </a:xfrm>
          <a:prstGeom prst="ellipse">
            <a:avLst/>
          </a:prstGeom>
          <a:solidFill>
            <a:srgbClr val="2DD4BF"/>
          </a:solidFill>
          <a:ln/>
        </p:spPr>
      </p:sp>
      <p:sp>
        <p:nvSpPr>
          <p:cNvPr id="25" name="Text 20"/>
          <p:cNvSpPr/>
          <p:nvPr/>
        </p:nvSpPr>
        <p:spPr>
          <a:xfrm>
            <a:off x="7452360" y="4270248"/>
            <a:ext cx="3931920" cy="320040"/>
          </a:xfrm>
          <a:prstGeom prst="rect">
            <a:avLst/>
          </a:prstGeom>
          <a:noFill/>
          <a:ln/>
        </p:spPr>
        <p:txBody>
          <a:bodyPr wrap="square" lIns="0" tIns="0" rIns="0" bIns="0" rtlCol="0" anchor="ctr"/>
          <a:lstStyle/>
          <a:p>
            <a:r>
              <a:rPr lang="fr-FR" sz="1400" b="1" dirty="0">
                <a:solidFill>
                  <a:schemeClr val="bg2"/>
                </a:solidFill>
                <a:latin typeface="Arial" panose="020B0604020202020204" pitchFamily="34" charset="0"/>
                <a:cs typeface="Arial" panose="020B0604020202020204" pitchFamily="34" charset="0"/>
              </a:rPr>
              <a:t>Fans de compétitions</a:t>
            </a:r>
            <a:endParaRPr lang="en-US" sz="1350" b="1" dirty="0">
              <a:solidFill>
                <a:schemeClr val="bg2"/>
              </a:solidFill>
              <a:latin typeface="Arial" panose="020B0604020202020204" pitchFamily="34" charset="0"/>
              <a:cs typeface="Arial" panose="020B0604020202020204" pitchFamily="34" charset="0"/>
            </a:endParaRPr>
          </a:p>
        </p:txBody>
      </p:sp>
      <p:sp>
        <p:nvSpPr>
          <p:cNvPr id="26" name="Text 21"/>
          <p:cNvSpPr/>
          <p:nvPr/>
        </p:nvSpPr>
        <p:spPr>
          <a:xfrm>
            <a:off x="7452360" y="4572000"/>
            <a:ext cx="3931920" cy="548640"/>
          </a:xfrm>
          <a:prstGeom prst="rect">
            <a:avLst/>
          </a:prstGeom>
          <a:noFill/>
          <a:ln/>
        </p:spPr>
        <p:txBody>
          <a:bodyPr wrap="square" lIns="0" tIns="0" rIns="0" bIns="0" rtlCol="0" anchor="ctr"/>
          <a:lstStyle/>
          <a:p>
            <a:pPr>
              <a:lnSpc>
                <a:spcPct val="110000"/>
              </a:lnSpc>
            </a:pPr>
            <a:r>
              <a:rPr lang="fr-FR" sz="1400" dirty="0">
                <a:solidFill>
                  <a:schemeClr val="bg2"/>
                </a:solidFill>
                <a:latin typeface="Arial" panose="020B0604020202020204" pitchFamily="34" charset="0"/>
                <a:cs typeface="Arial" panose="020B0604020202020204" pitchFamily="34" charset="0"/>
              </a:rPr>
              <a:t>Utilisateurs intéressés par les tournois, les équipes, les compétitions et les événements liés aux jeux vidéo.</a:t>
            </a:r>
            <a:endParaRPr lang="en-US" sz="1400" b="1" dirty="0">
              <a:solidFill>
                <a:schemeClr val="bg2"/>
              </a:solidFill>
              <a:latin typeface="Arial" panose="020B0604020202020204" pitchFamily="34" charset="0"/>
              <a:cs typeface="Arial" panose="020B0604020202020204" pitchFamily="34" charset="0"/>
            </a:endParaRPr>
          </a:p>
        </p:txBody>
      </p:sp>
      <p:sp>
        <p:nvSpPr>
          <p:cNvPr id="27" name="Text 22"/>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03</a:t>
            </a:r>
            <a:endParaRPr lang="en-US" sz="1000" dirty="0">
              <a:solidFill>
                <a:schemeClr val="bg2"/>
              </a:solidFill>
              <a:latin typeface="Arial" panose="020B0604020202020204" pitchFamily="34" charset="0"/>
              <a:cs typeface="Arial" panose="020B0604020202020204" pitchFamily="34" charset="0"/>
            </a:endParaRPr>
          </a:p>
        </p:txBody>
      </p:sp>
      <p:sp>
        <p:nvSpPr>
          <p:cNvPr id="28" name="Text 23"/>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800600" y="397220"/>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CHOIX DE DESIGN</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4011433" y="854221"/>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Palette de couleurs</a:t>
            </a:r>
            <a:endParaRPr lang="en-US" sz="3200" dirty="0">
              <a:solidFill>
                <a:schemeClr val="bg2"/>
              </a:solidFill>
              <a:latin typeface="Arial" panose="020B0604020202020204" pitchFamily="34" charset="0"/>
              <a:cs typeface="Arial" panose="020B0604020202020204" pitchFamily="34" charset="0"/>
            </a:endParaRPr>
          </a:p>
        </p:txBody>
      </p:sp>
      <p:sp>
        <p:nvSpPr>
          <p:cNvPr id="5" name="Shape 3"/>
          <p:cNvSpPr/>
          <p:nvPr/>
        </p:nvSpPr>
        <p:spPr>
          <a:xfrm>
            <a:off x="777240" y="1737360"/>
            <a:ext cx="914400" cy="914400"/>
          </a:xfrm>
          <a:prstGeom prst="roundRect">
            <a:avLst>
              <a:gd name="adj" fmla="val 12000"/>
            </a:avLst>
          </a:prstGeom>
          <a:solidFill>
            <a:srgbClr val="0A0E1A"/>
          </a:solidFill>
          <a:ln w="12700">
            <a:solidFill>
              <a:srgbClr val="FFFFFF">
                <a:alpha val="30000"/>
              </a:srgbClr>
            </a:solidFill>
            <a:prstDash val="solid"/>
          </a:ln>
        </p:spPr>
      </p:sp>
      <p:sp>
        <p:nvSpPr>
          <p:cNvPr id="6" name="Text 4"/>
          <p:cNvSpPr/>
          <p:nvPr/>
        </p:nvSpPr>
        <p:spPr>
          <a:xfrm>
            <a:off x="1828800" y="172821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Primary</a:t>
            </a:r>
            <a:endParaRPr lang="en-US" sz="1450" dirty="0">
              <a:solidFill>
                <a:schemeClr val="bg2"/>
              </a:solidFill>
              <a:latin typeface="Arial" panose="020B0604020202020204" pitchFamily="34" charset="0"/>
              <a:cs typeface="Arial" panose="020B0604020202020204" pitchFamily="34" charset="0"/>
            </a:endParaRPr>
          </a:p>
        </p:txBody>
      </p:sp>
      <p:sp>
        <p:nvSpPr>
          <p:cNvPr id="7" name="Text 5"/>
          <p:cNvSpPr/>
          <p:nvPr/>
        </p:nvSpPr>
        <p:spPr>
          <a:xfrm>
            <a:off x="1828800" y="203911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#0A0E1A</a:t>
            </a:r>
            <a:endParaRPr lang="en-US" sz="1150" dirty="0">
              <a:solidFill>
                <a:schemeClr val="bg2"/>
              </a:solidFill>
              <a:latin typeface="Arial" panose="020B0604020202020204" pitchFamily="34" charset="0"/>
              <a:cs typeface="Arial" panose="020B0604020202020204" pitchFamily="34" charset="0"/>
            </a:endParaRPr>
          </a:p>
        </p:txBody>
      </p:sp>
      <p:sp>
        <p:nvSpPr>
          <p:cNvPr id="8" name="Text 6"/>
          <p:cNvSpPr/>
          <p:nvPr/>
        </p:nvSpPr>
        <p:spPr>
          <a:xfrm>
            <a:off x="1828800" y="235000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Fond principal,</a:t>
            </a:r>
            <a:endParaRPr lang="en-US" sz="1000" dirty="0">
              <a:solidFill>
                <a:schemeClr val="bg2"/>
              </a:solidFill>
              <a:latin typeface="Arial" panose="020B0604020202020204" pitchFamily="34" charset="0"/>
              <a:cs typeface="Arial" panose="020B0604020202020204" pitchFamily="34" charset="0"/>
            </a:endParaRPr>
          </a:p>
        </p:txBody>
      </p:sp>
      <p:sp>
        <p:nvSpPr>
          <p:cNvPr id="10" name="Shape 8"/>
          <p:cNvSpPr/>
          <p:nvPr/>
        </p:nvSpPr>
        <p:spPr>
          <a:xfrm>
            <a:off x="4617720" y="1737360"/>
            <a:ext cx="914400" cy="914400"/>
          </a:xfrm>
          <a:prstGeom prst="roundRect">
            <a:avLst>
              <a:gd name="adj" fmla="val 12000"/>
            </a:avLst>
          </a:prstGeom>
          <a:solidFill>
            <a:srgbClr val="2D1B4E"/>
          </a:solidFill>
          <a:ln w="12700">
            <a:solidFill>
              <a:srgbClr val="FFFFFF">
                <a:alpha val="30000"/>
              </a:srgbClr>
            </a:solidFill>
            <a:prstDash val="solid"/>
          </a:ln>
        </p:spPr>
      </p:sp>
      <p:sp>
        <p:nvSpPr>
          <p:cNvPr id="11" name="Text 9"/>
          <p:cNvSpPr/>
          <p:nvPr/>
        </p:nvSpPr>
        <p:spPr>
          <a:xfrm>
            <a:off x="5669280" y="172821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Secondary</a:t>
            </a:r>
            <a:endParaRPr lang="en-US" sz="1450" dirty="0">
              <a:solidFill>
                <a:schemeClr val="bg2"/>
              </a:solidFill>
              <a:latin typeface="Arial" panose="020B0604020202020204" pitchFamily="34" charset="0"/>
              <a:cs typeface="Arial" panose="020B0604020202020204" pitchFamily="34" charset="0"/>
            </a:endParaRPr>
          </a:p>
        </p:txBody>
      </p:sp>
      <p:sp>
        <p:nvSpPr>
          <p:cNvPr id="12" name="Text 10"/>
          <p:cNvSpPr/>
          <p:nvPr/>
        </p:nvSpPr>
        <p:spPr>
          <a:xfrm>
            <a:off x="5669280" y="203911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#2D1B4E</a:t>
            </a:r>
            <a:endParaRPr lang="en-US" sz="1150" dirty="0">
              <a:solidFill>
                <a:schemeClr val="bg2"/>
              </a:solidFill>
              <a:latin typeface="Arial" panose="020B0604020202020204" pitchFamily="34" charset="0"/>
              <a:cs typeface="Arial" panose="020B0604020202020204" pitchFamily="34" charset="0"/>
            </a:endParaRPr>
          </a:p>
        </p:txBody>
      </p:sp>
      <p:sp>
        <p:nvSpPr>
          <p:cNvPr id="13" name="Text 11"/>
          <p:cNvSpPr/>
          <p:nvPr/>
        </p:nvSpPr>
        <p:spPr>
          <a:xfrm>
            <a:off x="5669280" y="235000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Cartes &amp; panneaux (bento, catégories)</a:t>
            </a:r>
            <a:endParaRPr lang="en-US" sz="1000" dirty="0">
              <a:solidFill>
                <a:schemeClr val="bg2"/>
              </a:solidFill>
              <a:latin typeface="Arial" panose="020B0604020202020204" pitchFamily="34" charset="0"/>
              <a:cs typeface="Arial" panose="020B0604020202020204" pitchFamily="34" charset="0"/>
            </a:endParaRPr>
          </a:p>
        </p:txBody>
      </p:sp>
      <p:sp>
        <p:nvSpPr>
          <p:cNvPr id="15" name="Shape 13"/>
          <p:cNvSpPr/>
          <p:nvPr/>
        </p:nvSpPr>
        <p:spPr>
          <a:xfrm>
            <a:off x="8458200" y="1737360"/>
            <a:ext cx="914400" cy="914400"/>
          </a:xfrm>
          <a:prstGeom prst="roundRect">
            <a:avLst>
              <a:gd name="adj" fmla="val 12000"/>
            </a:avLst>
          </a:prstGeom>
          <a:solidFill>
            <a:srgbClr val="8F3DFF"/>
          </a:solidFill>
          <a:ln w="12700">
            <a:solidFill>
              <a:srgbClr val="FFFFFF">
                <a:alpha val="30000"/>
              </a:srgbClr>
            </a:solidFill>
            <a:prstDash val="solid"/>
          </a:ln>
        </p:spPr>
      </p:sp>
      <p:sp>
        <p:nvSpPr>
          <p:cNvPr id="16" name="Text 14"/>
          <p:cNvSpPr/>
          <p:nvPr/>
        </p:nvSpPr>
        <p:spPr>
          <a:xfrm>
            <a:off x="9509760" y="172821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Accent violet</a:t>
            </a:r>
            <a:endParaRPr lang="en-US" sz="1450" dirty="0">
              <a:solidFill>
                <a:schemeClr val="bg2"/>
              </a:solidFill>
              <a:latin typeface="Arial" panose="020B0604020202020204" pitchFamily="34" charset="0"/>
              <a:cs typeface="Arial" panose="020B0604020202020204" pitchFamily="34" charset="0"/>
            </a:endParaRPr>
          </a:p>
        </p:txBody>
      </p:sp>
      <p:sp>
        <p:nvSpPr>
          <p:cNvPr id="17" name="Text 15"/>
          <p:cNvSpPr/>
          <p:nvPr/>
        </p:nvSpPr>
        <p:spPr>
          <a:xfrm>
            <a:off x="9509760" y="203911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#8F3DFF</a:t>
            </a:r>
            <a:endParaRPr lang="en-US" sz="1150" dirty="0">
              <a:solidFill>
                <a:schemeClr val="bg2"/>
              </a:solidFill>
              <a:latin typeface="Arial" panose="020B0604020202020204" pitchFamily="34" charset="0"/>
              <a:cs typeface="Arial" panose="020B0604020202020204" pitchFamily="34" charset="0"/>
            </a:endParaRPr>
          </a:p>
        </p:txBody>
      </p:sp>
      <p:sp>
        <p:nvSpPr>
          <p:cNvPr id="18" name="Text 16"/>
          <p:cNvSpPr/>
          <p:nvPr/>
        </p:nvSpPr>
        <p:spPr>
          <a:xfrm>
            <a:off x="9509760" y="235000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CTA, </a:t>
            </a:r>
            <a:r>
              <a:rPr lang="en-US" sz="1000" dirty="0" err="1">
                <a:solidFill>
                  <a:schemeClr val="bg2"/>
                </a:solidFill>
                <a:latin typeface="Arial" panose="020B0604020202020204" pitchFamily="34" charset="0"/>
                <a:ea typeface="Calibri" pitchFamily="34" charset="-122"/>
                <a:cs typeface="Arial" panose="020B0604020202020204" pitchFamily="34" charset="0"/>
              </a:rPr>
              <a:t>titres</a:t>
            </a:r>
            <a:endParaRPr lang="en-US" sz="1000" dirty="0">
              <a:solidFill>
                <a:schemeClr val="bg2"/>
              </a:solidFill>
              <a:latin typeface="Arial" panose="020B0604020202020204" pitchFamily="34" charset="0"/>
              <a:cs typeface="Arial" panose="020B0604020202020204" pitchFamily="34" charset="0"/>
            </a:endParaRPr>
          </a:p>
        </p:txBody>
      </p:sp>
      <p:sp>
        <p:nvSpPr>
          <p:cNvPr id="20" name="Shape 18"/>
          <p:cNvSpPr/>
          <p:nvPr/>
        </p:nvSpPr>
        <p:spPr>
          <a:xfrm>
            <a:off x="777240" y="3291840"/>
            <a:ext cx="914400" cy="914400"/>
          </a:xfrm>
          <a:prstGeom prst="roundRect">
            <a:avLst>
              <a:gd name="adj" fmla="val 12000"/>
            </a:avLst>
          </a:prstGeom>
          <a:solidFill>
            <a:srgbClr val="F4C63D"/>
          </a:solidFill>
          <a:ln w="12700">
            <a:solidFill>
              <a:srgbClr val="FFFFFF">
                <a:alpha val="30000"/>
              </a:srgbClr>
            </a:solidFill>
            <a:prstDash val="solid"/>
          </a:ln>
        </p:spPr>
      </p:sp>
      <p:sp>
        <p:nvSpPr>
          <p:cNvPr id="21" name="Text 19"/>
          <p:cNvSpPr/>
          <p:nvPr/>
        </p:nvSpPr>
        <p:spPr>
          <a:xfrm>
            <a:off x="1828800" y="328269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Accent doré</a:t>
            </a:r>
            <a:endParaRPr lang="en-US" sz="1450" dirty="0">
              <a:solidFill>
                <a:schemeClr val="bg2"/>
              </a:solidFill>
              <a:latin typeface="Arial" panose="020B0604020202020204" pitchFamily="34" charset="0"/>
              <a:cs typeface="Arial" panose="020B0604020202020204" pitchFamily="34" charset="0"/>
            </a:endParaRPr>
          </a:p>
        </p:txBody>
      </p:sp>
      <p:sp>
        <p:nvSpPr>
          <p:cNvPr id="22" name="Text 20"/>
          <p:cNvSpPr/>
          <p:nvPr/>
        </p:nvSpPr>
        <p:spPr>
          <a:xfrm>
            <a:off x="1828800" y="359359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#F4C63D</a:t>
            </a:r>
            <a:endParaRPr lang="en-US" sz="1150" dirty="0">
              <a:solidFill>
                <a:schemeClr val="bg2"/>
              </a:solidFill>
              <a:latin typeface="Arial" panose="020B0604020202020204" pitchFamily="34" charset="0"/>
              <a:cs typeface="Arial" panose="020B0604020202020204" pitchFamily="34" charset="0"/>
            </a:endParaRPr>
          </a:p>
        </p:txBody>
      </p:sp>
      <p:sp>
        <p:nvSpPr>
          <p:cNvPr id="23" name="Text 21"/>
          <p:cNvSpPr/>
          <p:nvPr/>
        </p:nvSpPr>
        <p:spPr>
          <a:xfrm>
            <a:off x="1828800" y="390448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Pricing "Populaire", badges, stats</a:t>
            </a:r>
            <a:endParaRPr lang="en-US" sz="1000" dirty="0">
              <a:solidFill>
                <a:schemeClr val="bg2"/>
              </a:solidFill>
              <a:latin typeface="Arial" panose="020B0604020202020204" pitchFamily="34" charset="0"/>
              <a:cs typeface="Arial" panose="020B0604020202020204" pitchFamily="34" charset="0"/>
            </a:endParaRPr>
          </a:p>
        </p:txBody>
      </p:sp>
      <p:sp>
        <p:nvSpPr>
          <p:cNvPr id="25" name="Shape 23"/>
          <p:cNvSpPr/>
          <p:nvPr/>
        </p:nvSpPr>
        <p:spPr>
          <a:xfrm>
            <a:off x="4617720" y="3291840"/>
            <a:ext cx="914400" cy="914400"/>
          </a:xfrm>
          <a:prstGeom prst="roundRect">
            <a:avLst>
              <a:gd name="adj" fmla="val 12000"/>
            </a:avLst>
          </a:prstGeom>
          <a:solidFill>
            <a:srgbClr val="F8F9FA"/>
          </a:solidFill>
          <a:ln w="12700">
            <a:solidFill>
              <a:srgbClr val="FFFFFF">
                <a:alpha val="30000"/>
              </a:srgbClr>
            </a:solidFill>
            <a:prstDash val="solid"/>
          </a:ln>
        </p:spPr>
      </p:sp>
      <p:sp>
        <p:nvSpPr>
          <p:cNvPr id="26" name="Text 24"/>
          <p:cNvSpPr/>
          <p:nvPr/>
        </p:nvSpPr>
        <p:spPr>
          <a:xfrm>
            <a:off x="5669280" y="328269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Texte clair</a:t>
            </a:r>
            <a:endParaRPr lang="en-US" sz="1450" dirty="0">
              <a:solidFill>
                <a:schemeClr val="bg2"/>
              </a:solidFill>
              <a:latin typeface="Arial" panose="020B0604020202020204" pitchFamily="34" charset="0"/>
              <a:cs typeface="Arial" panose="020B0604020202020204" pitchFamily="34" charset="0"/>
            </a:endParaRPr>
          </a:p>
        </p:txBody>
      </p:sp>
      <p:sp>
        <p:nvSpPr>
          <p:cNvPr id="27" name="Text 25"/>
          <p:cNvSpPr/>
          <p:nvPr/>
        </p:nvSpPr>
        <p:spPr>
          <a:xfrm>
            <a:off x="5669280" y="359359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#F8F9FA</a:t>
            </a:r>
            <a:endParaRPr lang="en-US" sz="1150" dirty="0">
              <a:solidFill>
                <a:schemeClr val="bg2"/>
              </a:solidFill>
              <a:latin typeface="Arial" panose="020B0604020202020204" pitchFamily="34" charset="0"/>
              <a:cs typeface="Arial" panose="020B0604020202020204" pitchFamily="34" charset="0"/>
            </a:endParaRPr>
          </a:p>
        </p:txBody>
      </p:sp>
      <p:sp>
        <p:nvSpPr>
          <p:cNvPr id="28" name="Text 26"/>
          <p:cNvSpPr/>
          <p:nvPr/>
        </p:nvSpPr>
        <p:spPr>
          <a:xfrm>
            <a:off x="5669280" y="390448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Texte principal sur fond sombre</a:t>
            </a:r>
            <a:endParaRPr lang="en-US" sz="1000" dirty="0">
              <a:solidFill>
                <a:schemeClr val="bg2"/>
              </a:solidFill>
              <a:latin typeface="Arial" panose="020B0604020202020204" pitchFamily="34" charset="0"/>
              <a:cs typeface="Arial" panose="020B0604020202020204" pitchFamily="34" charset="0"/>
            </a:endParaRPr>
          </a:p>
        </p:txBody>
      </p:sp>
      <p:sp>
        <p:nvSpPr>
          <p:cNvPr id="30" name="Shape 28"/>
          <p:cNvSpPr/>
          <p:nvPr/>
        </p:nvSpPr>
        <p:spPr>
          <a:xfrm>
            <a:off x="8458200" y="3291840"/>
            <a:ext cx="914400" cy="914400"/>
          </a:xfrm>
          <a:prstGeom prst="roundRect">
            <a:avLst>
              <a:gd name="adj" fmla="val 12000"/>
            </a:avLst>
          </a:prstGeom>
          <a:solidFill>
            <a:srgbClr val="ADB5BD"/>
          </a:solidFill>
          <a:ln w="12700">
            <a:solidFill>
              <a:srgbClr val="FFFFFF">
                <a:alpha val="30000"/>
              </a:srgbClr>
            </a:solidFill>
            <a:prstDash val="solid"/>
          </a:ln>
        </p:spPr>
      </p:sp>
      <p:sp>
        <p:nvSpPr>
          <p:cNvPr id="31" name="Text 29"/>
          <p:cNvSpPr/>
          <p:nvPr/>
        </p:nvSpPr>
        <p:spPr>
          <a:xfrm>
            <a:off x="9509760" y="328269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Texte gris</a:t>
            </a:r>
            <a:endParaRPr lang="en-US" sz="1450" dirty="0">
              <a:solidFill>
                <a:schemeClr val="bg2"/>
              </a:solidFill>
              <a:latin typeface="Arial" panose="020B0604020202020204" pitchFamily="34" charset="0"/>
              <a:cs typeface="Arial" panose="020B0604020202020204" pitchFamily="34" charset="0"/>
            </a:endParaRPr>
          </a:p>
        </p:txBody>
      </p:sp>
      <p:sp>
        <p:nvSpPr>
          <p:cNvPr id="32" name="Text 30"/>
          <p:cNvSpPr/>
          <p:nvPr/>
        </p:nvSpPr>
        <p:spPr>
          <a:xfrm>
            <a:off x="9509760" y="359359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#ADB5BD</a:t>
            </a:r>
            <a:endParaRPr lang="en-US" sz="1150" dirty="0">
              <a:solidFill>
                <a:schemeClr val="bg2"/>
              </a:solidFill>
              <a:latin typeface="Arial" panose="020B0604020202020204" pitchFamily="34" charset="0"/>
              <a:cs typeface="Arial" panose="020B0604020202020204" pitchFamily="34" charset="0"/>
            </a:endParaRPr>
          </a:p>
        </p:txBody>
      </p:sp>
      <p:sp>
        <p:nvSpPr>
          <p:cNvPr id="33" name="Text 31"/>
          <p:cNvSpPr/>
          <p:nvPr/>
        </p:nvSpPr>
        <p:spPr>
          <a:xfrm>
            <a:off x="9509760" y="390448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Paragraphes, légendes</a:t>
            </a:r>
            <a:endParaRPr lang="en-US" sz="1000" dirty="0">
              <a:solidFill>
                <a:schemeClr val="bg2"/>
              </a:solidFill>
              <a:latin typeface="Arial" panose="020B0604020202020204" pitchFamily="34" charset="0"/>
              <a:cs typeface="Arial" panose="020B0604020202020204" pitchFamily="34" charset="0"/>
            </a:endParaRPr>
          </a:p>
        </p:txBody>
      </p:sp>
      <p:sp>
        <p:nvSpPr>
          <p:cNvPr id="34" name="Text 32"/>
          <p:cNvSpPr/>
          <p:nvPr/>
        </p:nvSpPr>
        <p:spPr>
          <a:xfrm>
            <a:off x="617220" y="5093208"/>
            <a:ext cx="11064240" cy="548640"/>
          </a:xfrm>
          <a:prstGeom prst="rect">
            <a:avLst/>
          </a:prstGeom>
          <a:noFill/>
          <a:ln/>
        </p:spPr>
        <p:txBody>
          <a:bodyPr wrap="square" lIns="0" tIns="0" rIns="0" bIns="0" rtlCol="0" anchor="ctr"/>
          <a:lstStyle/>
          <a:p>
            <a:pPr>
              <a:lnSpc>
                <a:spcPct val="115000"/>
              </a:lnSpc>
            </a:pPr>
            <a:r>
              <a:rPr lang="fr-FR" b="1" dirty="0">
                <a:solidFill>
                  <a:schemeClr val="bg2"/>
                </a:solidFill>
                <a:latin typeface="Arial" panose="020B0604020202020204" pitchFamily="34" charset="0"/>
                <a:cs typeface="Arial" panose="020B0604020202020204" pitchFamily="34" charset="0"/>
              </a:rPr>
              <a:t>Pourquoi cette palette ?</a:t>
            </a:r>
            <a:br>
              <a:rPr lang="fr-FR" b="1" dirty="0">
                <a:solidFill>
                  <a:schemeClr val="bg2"/>
                </a:solidFill>
                <a:latin typeface="Arial" panose="020B0604020202020204" pitchFamily="34" charset="0"/>
                <a:cs typeface="Arial" panose="020B0604020202020204" pitchFamily="34" charset="0"/>
              </a:rPr>
            </a:br>
            <a:r>
              <a:rPr lang="fr-FR" b="1" dirty="0">
                <a:solidFill>
                  <a:schemeClr val="bg2"/>
                </a:solidFill>
                <a:latin typeface="Arial" panose="020B0604020202020204" pitchFamily="34" charset="0"/>
                <a:cs typeface="Arial" panose="020B0604020202020204" pitchFamily="34" charset="0"/>
              </a:rPr>
              <a:t>Le violet néon sur fond sombre reflète l'univers du gaming de GAMEHAVEN. Le doré met en avant les offres premium. La dominante sombre (environ 70 %) améliore le confort visuel (agréable à regarder et facile à lire), tandis que les couleurs d'accent apportent du contraste et attirent l'attention sur les éléments importants.</a:t>
            </a:r>
          </a:p>
          <a:p>
            <a:pPr marL="0" indent="0">
              <a:lnSpc>
                <a:spcPct val="115000"/>
              </a:lnSpc>
              <a:buNone/>
            </a:pPr>
            <a:endParaRPr lang="en-US" b="1" dirty="0">
              <a:solidFill>
                <a:schemeClr val="bg2"/>
              </a:solidFill>
              <a:latin typeface="Arial" panose="020B0604020202020204" pitchFamily="34" charset="0"/>
              <a:cs typeface="Arial" panose="020B0604020202020204" pitchFamily="34" charset="0"/>
            </a:endParaRPr>
          </a:p>
        </p:txBody>
      </p:sp>
      <p:sp>
        <p:nvSpPr>
          <p:cNvPr id="35" name="Text 33"/>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04</a:t>
            </a:r>
            <a:endParaRPr lang="en-US" sz="1000" dirty="0">
              <a:solidFill>
                <a:schemeClr val="bg2"/>
              </a:solidFill>
              <a:latin typeface="Arial" panose="020B0604020202020204" pitchFamily="34" charset="0"/>
              <a:cs typeface="Arial" panose="020B0604020202020204" pitchFamily="34" charset="0"/>
            </a:endParaRPr>
          </a:p>
        </p:txBody>
      </p:sp>
      <p:sp>
        <p:nvSpPr>
          <p:cNvPr id="36" name="Text 34"/>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602175" y="211997"/>
            <a:ext cx="7315200" cy="320040"/>
          </a:xfrm>
          <a:prstGeom prst="rect">
            <a:avLst/>
          </a:prstGeom>
          <a:noFill/>
          <a:ln/>
        </p:spPr>
        <p:txBody>
          <a:bodyPr wrap="square" lIns="0" tIns="0" rIns="0" bIns="0" rtlCol="0" anchor="ctr"/>
          <a:lstStyle/>
          <a:p>
            <a:pPr marL="0" indent="0" algn="l">
              <a:buNone/>
            </a:pPr>
            <a:r>
              <a:rPr lang="en-US" sz="1400" b="1" kern="0" spc="300" dirty="0">
                <a:solidFill>
                  <a:schemeClr val="bg2"/>
                </a:solidFill>
                <a:latin typeface="Arial" panose="020B0604020202020204" pitchFamily="34" charset="0"/>
                <a:ea typeface="Calibri" pitchFamily="34" charset="-122"/>
                <a:cs typeface="Arial" panose="020B0604020202020204" pitchFamily="34" charset="0"/>
              </a:rPr>
              <a:t>CHOIX DE DESIGN</a:t>
            </a:r>
            <a:endParaRPr lang="en-US" sz="1400" b="1"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2849077" y="621792"/>
            <a:ext cx="10515600" cy="640080"/>
          </a:xfrm>
          <a:prstGeom prst="rect">
            <a:avLst/>
          </a:prstGeom>
          <a:noFill/>
          <a:ln/>
        </p:spPr>
        <p:txBody>
          <a:bodyPr wrap="square" lIns="0" tIns="0" rIns="0" bIns="0" rtlCol="0" anchor="ctr"/>
          <a:lstStyle/>
          <a:p>
            <a:pPr marL="0" indent="0" algn="l">
              <a:buNone/>
            </a:pPr>
            <a:r>
              <a:rPr lang="en-US" sz="3600" b="1" dirty="0">
                <a:solidFill>
                  <a:schemeClr val="bg2"/>
                </a:solidFill>
                <a:latin typeface="Arial" panose="020B0604020202020204" pitchFamily="34" charset="0"/>
                <a:ea typeface="Cambria" pitchFamily="34" charset="-122"/>
                <a:cs typeface="Arial" panose="020B0604020202020204" pitchFamily="34" charset="0"/>
              </a:rPr>
              <a:t>Typographies &amp; inspirations</a:t>
            </a:r>
            <a:endParaRPr lang="en-US" sz="3600" b="1"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508760"/>
            <a:ext cx="5486400" cy="4114800"/>
          </a:xfrm>
          <a:prstGeom prst="roundRect">
            <a:avLst>
              <a:gd name="adj" fmla="val 2667"/>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7" name="Text 4"/>
          <p:cNvSpPr/>
          <p:nvPr/>
        </p:nvSpPr>
        <p:spPr>
          <a:xfrm>
            <a:off x="1463040" y="1719072"/>
            <a:ext cx="4297680" cy="365760"/>
          </a:xfrm>
          <a:prstGeom prst="rect">
            <a:avLst/>
          </a:prstGeom>
          <a:noFill/>
          <a:ln/>
        </p:spPr>
        <p:txBody>
          <a:bodyPr wrap="square" lIns="0" tIns="0" rIns="0" bIns="0" rtlCol="0" anchor="ctr"/>
          <a:lstStyle/>
          <a:p>
            <a:pPr marL="0" indent="0">
              <a:buNone/>
            </a:pPr>
            <a:r>
              <a:rPr lang="en-US" b="1" dirty="0">
                <a:solidFill>
                  <a:schemeClr val="bg2"/>
                </a:solidFill>
                <a:latin typeface="Arial" panose="020B0604020202020204" pitchFamily="34" charset="0"/>
                <a:ea typeface="Cambria" pitchFamily="34" charset="-122"/>
                <a:cs typeface="Arial" panose="020B0604020202020204" pitchFamily="34" charset="0"/>
              </a:rPr>
              <a:t>Polices utilisées</a:t>
            </a:r>
            <a:endParaRPr lang="en-US" b="1" dirty="0">
              <a:solidFill>
                <a:schemeClr val="bg2"/>
              </a:solidFill>
              <a:latin typeface="Arial" panose="020B0604020202020204" pitchFamily="34" charset="0"/>
              <a:cs typeface="Arial" panose="020B0604020202020204" pitchFamily="34" charset="0"/>
            </a:endParaRPr>
          </a:p>
        </p:txBody>
      </p:sp>
      <p:sp>
        <p:nvSpPr>
          <p:cNvPr id="8" name="Text 5"/>
          <p:cNvSpPr/>
          <p:nvPr/>
        </p:nvSpPr>
        <p:spPr>
          <a:xfrm>
            <a:off x="822960" y="2235708"/>
            <a:ext cx="4937760" cy="457200"/>
          </a:xfrm>
          <a:prstGeom prst="rect">
            <a:avLst/>
          </a:prstGeom>
          <a:noFill/>
          <a:ln/>
        </p:spPr>
        <p:txBody>
          <a:bodyPr wrap="square" lIns="0" tIns="0" rIns="0" bIns="0" rtlCol="0" anchor="ctr"/>
          <a:lstStyle/>
          <a:p>
            <a:pPr marL="0" indent="0">
              <a:buNone/>
            </a:pPr>
            <a:r>
              <a:rPr lang="en-US" sz="2800" b="1" dirty="0">
                <a:solidFill>
                  <a:schemeClr val="bg2"/>
                </a:solidFill>
                <a:latin typeface="Arial" panose="020B0604020202020204" pitchFamily="34" charset="0"/>
                <a:ea typeface="Cambria" pitchFamily="34" charset="-122"/>
                <a:cs typeface="Arial" panose="020B0604020202020204" pitchFamily="34" charset="0"/>
              </a:rPr>
              <a:t>Orbitron</a:t>
            </a:r>
            <a:endParaRPr lang="en-US" sz="2800" b="1" dirty="0">
              <a:solidFill>
                <a:schemeClr val="bg2"/>
              </a:solidFill>
              <a:latin typeface="Arial" panose="020B0604020202020204" pitchFamily="34" charset="0"/>
              <a:cs typeface="Arial" panose="020B0604020202020204" pitchFamily="34" charset="0"/>
            </a:endParaRPr>
          </a:p>
        </p:txBody>
      </p:sp>
      <p:sp>
        <p:nvSpPr>
          <p:cNvPr id="9" name="Text 6"/>
          <p:cNvSpPr/>
          <p:nvPr/>
        </p:nvSpPr>
        <p:spPr>
          <a:xfrm>
            <a:off x="822960" y="2816352"/>
            <a:ext cx="4937760" cy="594360"/>
          </a:xfrm>
          <a:prstGeom prst="rect">
            <a:avLst/>
          </a:prstGeom>
          <a:noFill/>
          <a:ln/>
        </p:spPr>
        <p:txBody>
          <a:bodyPr wrap="square" lIns="0" tIns="0" rIns="0" bIns="0" rtlCol="0" anchor="ctr"/>
          <a:lstStyle/>
          <a:p>
            <a:pPr>
              <a:lnSpc>
                <a:spcPct val="115000"/>
              </a:lnSpc>
            </a:pPr>
            <a:r>
              <a:rPr lang="fr-FR" sz="1400" b="1" dirty="0">
                <a:solidFill>
                  <a:schemeClr val="bg2"/>
                </a:solidFill>
                <a:latin typeface="Arial" panose="020B0604020202020204" pitchFamily="34" charset="0"/>
                <a:cs typeface="Arial" panose="020B0604020202020204" pitchFamily="34" charset="0"/>
              </a:rPr>
              <a:t>Titres (h1 à h6) : cette police a été choisie parce qu'elle donne au site un aspect moderne, en accord avec le thème du gaming.</a:t>
            </a:r>
            <a:endParaRPr lang="en-US" sz="1400" b="1" dirty="0">
              <a:solidFill>
                <a:schemeClr val="bg2"/>
              </a:solidFill>
              <a:latin typeface="Arial" panose="020B0604020202020204" pitchFamily="34" charset="0"/>
              <a:cs typeface="Arial" panose="020B0604020202020204" pitchFamily="34" charset="0"/>
            </a:endParaRPr>
          </a:p>
        </p:txBody>
      </p:sp>
      <p:sp>
        <p:nvSpPr>
          <p:cNvPr id="10" name="Shape 7"/>
          <p:cNvSpPr/>
          <p:nvPr/>
        </p:nvSpPr>
        <p:spPr>
          <a:xfrm>
            <a:off x="822960" y="3456432"/>
            <a:ext cx="4937760" cy="0"/>
          </a:xfrm>
          <a:prstGeom prst="line">
            <a:avLst/>
          </a:prstGeom>
          <a:noFill/>
          <a:ln w="12700">
            <a:solidFill>
              <a:srgbClr val="2A2545"/>
            </a:solidFill>
            <a:prstDash val="solid"/>
          </a:ln>
        </p:spPr>
      </p:sp>
      <p:sp>
        <p:nvSpPr>
          <p:cNvPr id="11" name="Text 8"/>
          <p:cNvSpPr/>
          <p:nvPr/>
        </p:nvSpPr>
        <p:spPr>
          <a:xfrm>
            <a:off x="822960" y="3611880"/>
            <a:ext cx="4937760" cy="457200"/>
          </a:xfrm>
          <a:prstGeom prst="rect">
            <a:avLst/>
          </a:prstGeom>
          <a:noFill/>
          <a:ln/>
        </p:spPr>
        <p:txBody>
          <a:bodyPr wrap="square" lIns="0" tIns="0" rIns="0" bIns="0" rtlCol="0" anchor="ctr"/>
          <a:lstStyle/>
          <a:p>
            <a:pPr marL="0" indent="0">
              <a:buNone/>
            </a:pPr>
            <a:r>
              <a:rPr lang="en-US" sz="2800" b="1" dirty="0">
                <a:solidFill>
                  <a:schemeClr val="bg2"/>
                </a:solidFill>
                <a:latin typeface="Arial" panose="020B0604020202020204" pitchFamily="34" charset="0"/>
                <a:ea typeface="Calibri" pitchFamily="34" charset="-122"/>
                <a:cs typeface="Arial" panose="020B0604020202020204" pitchFamily="34" charset="0"/>
              </a:rPr>
              <a:t>Poppins</a:t>
            </a:r>
            <a:endParaRPr lang="en-US" sz="2800" b="1" dirty="0">
              <a:solidFill>
                <a:schemeClr val="bg2"/>
              </a:solidFill>
              <a:latin typeface="Arial" panose="020B0604020202020204" pitchFamily="34" charset="0"/>
              <a:cs typeface="Arial" panose="020B0604020202020204" pitchFamily="34" charset="0"/>
            </a:endParaRPr>
          </a:p>
        </p:txBody>
      </p:sp>
      <p:sp>
        <p:nvSpPr>
          <p:cNvPr id="12" name="Text 9"/>
          <p:cNvSpPr/>
          <p:nvPr/>
        </p:nvSpPr>
        <p:spPr>
          <a:xfrm>
            <a:off x="807720" y="4301049"/>
            <a:ext cx="4937760" cy="594360"/>
          </a:xfrm>
          <a:prstGeom prst="rect">
            <a:avLst/>
          </a:prstGeom>
          <a:noFill/>
          <a:ln/>
        </p:spPr>
        <p:txBody>
          <a:bodyPr wrap="square" lIns="0" tIns="0" rIns="0" bIns="0" rtlCol="0" anchor="ctr"/>
          <a:lstStyle/>
          <a:p>
            <a:pPr>
              <a:lnSpc>
                <a:spcPct val="115000"/>
              </a:lnSpc>
            </a:pPr>
            <a:r>
              <a:rPr lang="fr-FR" sz="1400" b="1" dirty="0">
                <a:solidFill>
                  <a:schemeClr val="bg2"/>
                </a:solidFill>
                <a:latin typeface="Arial" panose="020B0604020202020204" pitchFamily="34" charset="0"/>
                <a:cs typeface="Arial" panose="020B0604020202020204" pitchFamily="34" charset="0"/>
              </a:rPr>
              <a:t>Corps de texte : une police simple et facile à lire, choisie pour offrir une bonne lisibilité sur le fond sombre. Elle apporte également un style moderne et agréable pour les paragraphes et les boutons</a:t>
            </a:r>
            <a:endParaRPr lang="en-US" sz="1400" b="1" dirty="0">
              <a:solidFill>
                <a:schemeClr val="bg2"/>
              </a:solidFill>
              <a:latin typeface="Arial" panose="020B0604020202020204" pitchFamily="34" charset="0"/>
              <a:cs typeface="Arial" panose="020B0604020202020204" pitchFamily="34" charset="0"/>
            </a:endParaRPr>
          </a:p>
        </p:txBody>
      </p:sp>
      <p:sp>
        <p:nvSpPr>
          <p:cNvPr id="13" name="Text 10"/>
          <p:cNvSpPr/>
          <p:nvPr/>
        </p:nvSpPr>
        <p:spPr>
          <a:xfrm>
            <a:off x="822960" y="4800600"/>
            <a:ext cx="4937760" cy="640080"/>
          </a:xfrm>
          <a:prstGeom prst="rect">
            <a:avLst/>
          </a:prstGeom>
          <a:noFill/>
          <a:ln/>
        </p:spPr>
        <p:txBody>
          <a:bodyPr wrap="square" lIns="0" tIns="0" rIns="0" bIns="0" rtlCol="0" anchor="ctr"/>
          <a:lstStyle/>
          <a:p>
            <a:pPr marL="0" indent="0">
              <a:lnSpc>
                <a:spcPct val="115000"/>
              </a:lnSpc>
              <a:buNone/>
            </a:pPr>
            <a:endParaRPr lang="en-US" sz="1200" b="1" dirty="0">
              <a:solidFill>
                <a:schemeClr val="bg2"/>
              </a:solidFill>
              <a:latin typeface="Arial" panose="020B0604020202020204" pitchFamily="34" charset="0"/>
              <a:cs typeface="Arial" panose="020B0604020202020204" pitchFamily="34" charset="0"/>
            </a:endParaRPr>
          </a:p>
        </p:txBody>
      </p:sp>
      <p:sp>
        <p:nvSpPr>
          <p:cNvPr id="14" name="Shape 11"/>
          <p:cNvSpPr/>
          <p:nvPr/>
        </p:nvSpPr>
        <p:spPr>
          <a:xfrm>
            <a:off x="6355080" y="1508760"/>
            <a:ext cx="5303520" cy="4114800"/>
          </a:xfrm>
          <a:prstGeom prst="roundRect">
            <a:avLst>
              <a:gd name="adj" fmla="val 2667"/>
            </a:avLst>
          </a:prstGeom>
          <a:solidFill>
            <a:srgbClr val="1B1733"/>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sz="2000" b="1" dirty="0">
              <a:solidFill>
                <a:schemeClr val="bg2"/>
              </a:solidFill>
              <a:latin typeface="Arial" panose="020B0604020202020204" pitchFamily="34" charset="0"/>
              <a:cs typeface="Arial" panose="020B0604020202020204" pitchFamily="34" charset="0"/>
            </a:endParaRPr>
          </a:p>
        </p:txBody>
      </p:sp>
      <p:sp>
        <p:nvSpPr>
          <p:cNvPr id="17" name="Text 13"/>
          <p:cNvSpPr/>
          <p:nvPr/>
        </p:nvSpPr>
        <p:spPr>
          <a:xfrm>
            <a:off x="7269480" y="1719072"/>
            <a:ext cx="4114800" cy="365760"/>
          </a:xfrm>
          <a:prstGeom prst="rect">
            <a:avLst/>
          </a:prstGeom>
          <a:noFill/>
          <a:ln/>
        </p:spPr>
        <p:txBody>
          <a:bodyPr wrap="square" lIns="0" tIns="0" rIns="0" bIns="0" rtlCol="0" anchor="ctr"/>
          <a:lstStyle/>
          <a:p>
            <a:pPr marL="0" indent="0">
              <a:buNone/>
            </a:pPr>
            <a:r>
              <a:rPr lang="en-US" b="1" dirty="0">
                <a:solidFill>
                  <a:schemeClr val="bg2"/>
                </a:solidFill>
                <a:latin typeface="Arial" panose="020B0604020202020204" pitchFamily="34" charset="0"/>
                <a:ea typeface="Cambria" pitchFamily="34" charset="-122"/>
                <a:cs typeface="Arial" panose="020B0604020202020204" pitchFamily="34" charset="0"/>
              </a:rPr>
              <a:t>Inspirations</a:t>
            </a:r>
            <a:endParaRPr lang="en-US" b="1" dirty="0">
              <a:solidFill>
                <a:schemeClr val="bg2"/>
              </a:solidFill>
              <a:latin typeface="Arial" panose="020B0604020202020204" pitchFamily="34" charset="0"/>
              <a:cs typeface="Arial" panose="020B0604020202020204" pitchFamily="34" charset="0"/>
            </a:endParaRPr>
          </a:p>
        </p:txBody>
      </p:sp>
      <p:sp>
        <p:nvSpPr>
          <p:cNvPr id="18" name="Shape 14"/>
          <p:cNvSpPr/>
          <p:nvPr/>
        </p:nvSpPr>
        <p:spPr>
          <a:xfrm>
            <a:off x="6647688" y="2368296"/>
            <a:ext cx="109728" cy="109728"/>
          </a:xfrm>
          <a:prstGeom prst="ellipse">
            <a:avLst/>
          </a:prstGeom>
          <a:solidFill>
            <a:srgbClr val="8F3DFF"/>
          </a:solidFill>
          <a:ln/>
        </p:spPr>
      </p:sp>
      <p:sp>
        <p:nvSpPr>
          <p:cNvPr id="19" name="Text 15"/>
          <p:cNvSpPr/>
          <p:nvPr/>
        </p:nvSpPr>
        <p:spPr>
          <a:xfrm>
            <a:off x="6903720" y="2240280"/>
            <a:ext cx="4480560" cy="292608"/>
          </a:xfrm>
          <a:prstGeom prst="rect">
            <a:avLst/>
          </a:prstGeom>
          <a:noFill/>
          <a:ln/>
        </p:spPr>
        <p:txBody>
          <a:bodyPr wrap="square" lIns="0" tIns="0" rIns="0" bIns="0" rtlCol="0" anchor="ctr"/>
          <a:lstStyle/>
          <a:p>
            <a:pPr marL="0" indent="0">
              <a:buNone/>
            </a:pPr>
            <a:r>
              <a:rPr lang="en-US" sz="1400" b="1" dirty="0" err="1">
                <a:solidFill>
                  <a:schemeClr val="bg2"/>
                </a:solidFill>
                <a:latin typeface="Arial" panose="020B0604020202020204" pitchFamily="34" charset="0"/>
                <a:ea typeface="Calibri" pitchFamily="34" charset="-122"/>
                <a:cs typeface="Arial" panose="020B0604020202020204" pitchFamily="34" charset="0"/>
              </a:rPr>
              <a:t>Plateforme</a:t>
            </a:r>
            <a:r>
              <a:rPr lang="en-US" sz="1400" b="1" dirty="0">
                <a:solidFill>
                  <a:schemeClr val="bg2"/>
                </a:solidFill>
                <a:latin typeface="Arial" panose="020B0604020202020204" pitchFamily="34" charset="0"/>
                <a:ea typeface="Calibri" pitchFamily="34" charset="-122"/>
                <a:cs typeface="Arial" panose="020B0604020202020204" pitchFamily="34" charset="0"/>
              </a:rPr>
              <a:t> gaming</a:t>
            </a:r>
            <a:endParaRPr lang="en-US" sz="1400" b="1" dirty="0">
              <a:solidFill>
                <a:schemeClr val="bg2"/>
              </a:solidFill>
              <a:latin typeface="Arial" panose="020B0604020202020204" pitchFamily="34" charset="0"/>
              <a:cs typeface="Arial" panose="020B0604020202020204" pitchFamily="34" charset="0"/>
            </a:endParaRPr>
          </a:p>
        </p:txBody>
      </p:sp>
      <p:sp>
        <p:nvSpPr>
          <p:cNvPr id="20" name="Text 16"/>
          <p:cNvSpPr/>
          <p:nvPr/>
        </p:nvSpPr>
        <p:spPr>
          <a:xfrm>
            <a:off x="6903720" y="2514600"/>
            <a:ext cx="4480560" cy="457200"/>
          </a:xfrm>
          <a:prstGeom prst="rect">
            <a:avLst/>
          </a:prstGeom>
          <a:noFill/>
          <a:ln/>
        </p:spPr>
        <p:txBody>
          <a:bodyPr wrap="square" lIns="0" tIns="0" rIns="0" bIns="0" rtlCol="0" anchor="ctr"/>
          <a:lstStyle/>
          <a:p>
            <a:pPr marL="0" indent="0">
              <a:lnSpc>
                <a:spcPct val="110000"/>
              </a:lnSpc>
              <a:buNone/>
            </a:pPr>
            <a:r>
              <a:rPr lang="en-US" sz="1200" b="1" dirty="0">
                <a:solidFill>
                  <a:schemeClr val="bg2"/>
                </a:solidFill>
                <a:latin typeface="Arial" panose="020B0604020202020204" pitchFamily="34" charset="0"/>
                <a:ea typeface="Calibri" pitchFamily="34" charset="-122"/>
                <a:cs typeface="Arial" panose="020B0604020202020204" pitchFamily="34" charset="0"/>
              </a:rPr>
              <a:t>ambiance néon, fonds sombres, glow violet sur les titres</a:t>
            </a:r>
            <a:endParaRPr lang="en-US" sz="1200" b="1" dirty="0">
              <a:solidFill>
                <a:schemeClr val="bg2"/>
              </a:solidFill>
              <a:latin typeface="Arial" panose="020B0604020202020204" pitchFamily="34" charset="0"/>
              <a:cs typeface="Arial" panose="020B0604020202020204" pitchFamily="34" charset="0"/>
            </a:endParaRPr>
          </a:p>
        </p:txBody>
      </p:sp>
      <p:sp>
        <p:nvSpPr>
          <p:cNvPr id="21" name="Shape 17"/>
          <p:cNvSpPr/>
          <p:nvPr/>
        </p:nvSpPr>
        <p:spPr>
          <a:xfrm>
            <a:off x="6647688" y="3145536"/>
            <a:ext cx="109728" cy="109728"/>
          </a:xfrm>
          <a:prstGeom prst="ellipse">
            <a:avLst/>
          </a:prstGeom>
          <a:solidFill>
            <a:srgbClr val="8F3DFF"/>
          </a:solidFill>
          <a:ln/>
        </p:spPr>
      </p:sp>
      <p:sp>
        <p:nvSpPr>
          <p:cNvPr id="22" name="Text 18"/>
          <p:cNvSpPr/>
          <p:nvPr/>
        </p:nvSpPr>
        <p:spPr>
          <a:xfrm>
            <a:off x="6903720" y="3017520"/>
            <a:ext cx="4480560" cy="292608"/>
          </a:xfrm>
          <a:prstGeom prst="rect">
            <a:avLst/>
          </a:prstGeom>
          <a:noFill/>
          <a:ln/>
        </p:spPr>
        <p:txBody>
          <a:bodyPr wrap="square" lIns="0" tIns="0" rIns="0" bIns="0" rtlCol="0" anchor="ctr"/>
          <a:lstStyle/>
          <a:p>
            <a:r>
              <a:rPr lang="fr-FR" sz="1600" b="1" dirty="0">
                <a:solidFill>
                  <a:schemeClr val="bg2"/>
                </a:solidFill>
                <a:latin typeface="Arial" panose="020B0604020202020204" pitchFamily="34" charset="0"/>
                <a:cs typeface="Arial" panose="020B0604020202020204" pitchFamily="34" charset="0"/>
              </a:rPr>
              <a:t>Sites web modernes</a:t>
            </a:r>
            <a:endParaRPr lang="en-US" sz="1400" b="1" dirty="0">
              <a:solidFill>
                <a:schemeClr val="bg2"/>
              </a:solidFill>
              <a:latin typeface="Arial" panose="020B0604020202020204" pitchFamily="34" charset="0"/>
              <a:cs typeface="Arial" panose="020B0604020202020204" pitchFamily="34" charset="0"/>
            </a:endParaRPr>
          </a:p>
        </p:txBody>
      </p:sp>
      <p:sp>
        <p:nvSpPr>
          <p:cNvPr id="23" name="Text 19"/>
          <p:cNvSpPr/>
          <p:nvPr/>
        </p:nvSpPr>
        <p:spPr>
          <a:xfrm>
            <a:off x="6903720" y="3291840"/>
            <a:ext cx="4480560" cy="457200"/>
          </a:xfrm>
          <a:prstGeom prst="rect">
            <a:avLst/>
          </a:prstGeom>
          <a:noFill/>
          <a:ln/>
        </p:spPr>
        <p:txBody>
          <a:bodyPr wrap="square" lIns="0" tIns="0" rIns="0" bIns="0" rtlCol="0" anchor="ctr"/>
          <a:lstStyle/>
          <a:p>
            <a:pPr marL="0" indent="0">
              <a:lnSpc>
                <a:spcPct val="110000"/>
              </a:lnSpc>
              <a:buNone/>
            </a:pPr>
            <a:r>
              <a:rPr lang="en-US" sz="1200" b="1" dirty="0">
                <a:solidFill>
                  <a:schemeClr val="bg2"/>
                </a:solidFill>
                <a:latin typeface="Arial" panose="020B0604020202020204" pitchFamily="34" charset="0"/>
                <a:ea typeface="Calibri" pitchFamily="34" charset="-122"/>
                <a:cs typeface="Arial" panose="020B0604020202020204" pitchFamily="34" charset="0"/>
              </a:rPr>
              <a:t>sections « bento grid » pour présenter les fonctionnalités en un coup d'œil</a:t>
            </a:r>
            <a:endParaRPr lang="en-US" sz="1200" b="1" dirty="0">
              <a:solidFill>
                <a:schemeClr val="bg2"/>
              </a:solidFill>
              <a:latin typeface="Arial" panose="020B0604020202020204" pitchFamily="34" charset="0"/>
              <a:cs typeface="Arial" panose="020B0604020202020204" pitchFamily="34" charset="0"/>
            </a:endParaRPr>
          </a:p>
        </p:txBody>
      </p:sp>
      <p:sp>
        <p:nvSpPr>
          <p:cNvPr id="24" name="Shape 20"/>
          <p:cNvSpPr/>
          <p:nvPr/>
        </p:nvSpPr>
        <p:spPr>
          <a:xfrm>
            <a:off x="6647688" y="3922776"/>
            <a:ext cx="109728" cy="109728"/>
          </a:xfrm>
          <a:prstGeom prst="ellipse">
            <a:avLst/>
          </a:prstGeom>
          <a:solidFill>
            <a:srgbClr val="8F3DFF"/>
          </a:solidFill>
          <a:ln/>
        </p:spPr>
      </p:sp>
      <p:sp>
        <p:nvSpPr>
          <p:cNvPr id="25" name="Text 21"/>
          <p:cNvSpPr/>
          <p:nvPr/>
        </p:nvSpPr>
        <p:spPr>
          <a:xfrm>
            <a:off x="6903720" y="3794760"/>
            <a:ext cx="4480560" cy="292608"/>
          </a:xfrm>
          <a:prstGeom prst="rect">
            <a:avLst/>
          </a:prstGeom>
          <a:noFill/>
          <a:ln/>
        </p:spPr>
        <p:txBody>
          <a:bodyPr wrap="square" lIns="0" tIns="0" rIns="0" bIns="0" rtlCol="0" anchor="ctr"/>
          <a:lstStyle/>
          <a:p>
            <a:r>
              <a:rPr lang="fr-FR" sz="1600" b="1" dirty="0">
                <a:solidFill>
                  <a:schemeClr val="bg2"/>
                </a:solidFill>
                <a:latin typeface="Arial" panose="020B0604020202020204" pitchFamily="34" charset="0"/>
                <a:cs typeface="Arial" panose="020B0604020202020204" pitchFamily="34" charset="0"/>
              </a:rPr>
              <a:t>Plateforme de jeux vidéo</a:t>
            </a:r>
            <a:endParaRPr lang="en-US" sz="1400" b="1" dirty="0">
              <a:solidFill>
                <a:schemeClr val="bg2"/>
              </a:solidFill>
              <a:latin typeface="Arial" panose="020B0604020202020204" pitchFamily="34" charset="0"/>
              <a:cs typeface="Arial" panose="020B0604020202020204" pitchFamily="34" charset="0"/>
            </a:endParaRPr>
          </a:p>
        </p:txBody>
      </p:sp>
      <p:sp>
        <p:nvSpPr>
          <p:cNvPr id="26" name="Text 22"/>
          <p:cNvSpPr/>
          <p:nvPr/>
        </p:nvSpPr>
        <p:spPr>
          <a:xfrm>
            <a:off x="6903720" y="4069080"/>
            <a:ext cx="4480560" cy="457200"/>
          </a:xfrm>
          <a:prstGeom prst="rect">
            <a:avLst/>
          </a:prstGeom>
          <a:noFill/>
          <a:ln/>
        </p:spPr>
        <p:txBody>
          <a:bodyPr wrap="square" lIns="0" tIns="0" rIns="0" bIns="0" rtlCol="0" anchor="ctr"/>
          <a:lstStyle/>
          <a:p>
            <a:pPr marL="0" indent="0">
              <a:lnSpc>
                <a:spcPct val="110000"/>
              </a:lnSpc>
              <a:buNone/>
            </a:pPr>
            <a:r>
              <a:rPr lang="en-US" sz="1200" b="1" dirty="0">
                <a:solidFill>
                  <a:schemeClr val="bg2"/>
                </a:solidFill>
                <a:latin typeface="Arial" panose="020B0604020202020204" pitchFamily="34" charset="0"/>
                <a:ea typeface="Calibri" pitchFamily="34" charset="-122"/>
                <a:cs typeface="Arial" panose="020B0604020202020204" pitchFamily="34" charset="0"/>
              </a:rPr>
              <a:t>cartes profils avec note, tarif horaire et filtres par catégorie</a:t>
            </a:r>
            <a:endParaRPr lang="en-US" sz="1200" b="1" dirty="0">
              <a:solidFill>
                <a:schemeClr val="bg2"/>
              </a:solidFill>
              <a:latin typeface="Arial" panose="020B0604020202020204" pitchFamily="34" charset="0"/>
              <a:cs typeface="Arial" panose="020B0604020202020204" pitchFamily="34" charset="0"/>
            </a:endParaRPr>
          </a:p>
        </p:txBody>
      </p:sp>
      <p:sp>
        <p:nvSpPr>
          <p:cNvPr id="27" name="Shape 23"/>
          <p:cNvSpPr/>
          <p:nvPr/>
        </p:nvSpPr>
        <p:spPr>
          <a:xfrm>
            <a:off x="6647688" y="4700016"/>
            <a:ext cx="109728" cy="109728"/>
          </a:xfrm>
          <a:prstGeom prst="ellipse">
            <a:avLst/>
          </a:prstGeom>
          <a:solidFill>
            <a:srgbClr val="8F3DFF"/>
          </a:solidFill>
          <a:ln/>
        </p:spPr>
      </p:sp>
      <p:sp>
        <p:nvSpPr>
          <p:cNvPr id="28" name="Text 24"/>
          <p:cNvSpPr/>
          <p:nvPr/>
        </p:nvSpPr>
        <p:spPr>
          <a:xfrm>
            <a:off x="6903720" y="4572000"/>
            <a:ext cx="4480560" cy="292608"/>
          </a:xfrm>
          <a:prstGeom prst="rect">
            <a:avLst/>
          </a:prstGeom>
          <a:noFill/>
          <a:ln/>
        </p:spPr>
        <p:txBody>
          <a:bodyPr wrap="square" lIns="0" tIns="0" rIns="0" bIns="0" rtlCol="0" anchor="ctr"/>
          <a:lstStyle/>
          <a:p>
            <a:r>
              <a:rPr lang="fr-FR" sz="1600" b="1" dirty="0">
                <a:solidFill>
                  <a:schemeClr val="bg2"/>
                </a:solidFill>
                <a:latin typeface="Arial" panose="020B0604020202020204" pitchFamily="34" charset="0"/>
                <a:cs typeface="Arial" panose="020B0604020202020204" pitchFamily="34" charset="0"/>
              </a:rPr>
              <a:t>Tableaux de bord premium</a:t>
            </a:r>
            <a:endParaRPr lang="en-US" sz="1400" b="1" dirty="0">
              <a:solidFill>
                <a:schemeClr val="bg2"/>
              </a:solidFill>
              <a:latin typeface="Arial" panose="020B0604020202020204" pitchFamily="34" charset="0"/>
              <a:cs typeface="Arial" panose="020B0604020202020204" pitchFamily="34" charset="0"/>
            </a:endParaRPr>
          </a:p>
        </p:txBody>
      </p:sp>
      <p:sp>
        <p:nvSpPr>
          <p:cNvPr id="29" name="Text 25"/>
          <p:cNvSpPr/>
          <p:nvPr/>
        </p:nvSpPr>
        <p:spPr>
          <a:xfrm>
            <a:off x="6903720" y="4846320"/>
            <a:ext cx="4480560" cy="457200"/>
          </a:xfrm>
          <a:prstGeom prst="rect">
            <a:avLst/>
          </a:prstGeom>
          <a:noFill/>
          <a:ln/>
        </p:spPr>
        <p:txBody>
          <a:bodyPr wrap="square" lIns="0" tIns="0" rIns="0" bIns="0" rtlCol="0" anchor="ctr"/>
          <a:lstStyle/>
          <a:p>
            <a:pPr marL="0" indent="0">
              <a:lnSpc>
                <a:spcPct val="110000"/>
              </a:lnSpc>
              <a:buNone/>
            </a:pPr>
            <a:r>
              <a:rPr lang="en-US" sz="1200" b="1" dirty="0">
                <a:solidFill>
                  <a:schemeClr val="bg2"/>
                </a:solidFill>
                <a:latin typeface="Arial" panose="020B0604020202020204" pitchFamily="34" charset="0"/>
                <a:ea typeface="Calibri" pitchFamily="34" charset="-122"/>
                <a:cs typeface="Arial" panose="020B0604020202020204" pitchFamily="34" charset="0"/>
              </a:rPr>
              <a:t>cartes tarifaires avec badge « Populaire » et mise en avant dorée</a:t>
            </a:r>
            <a:endParaRPr lang="en-US" sz="1200" b="1" dirty="0">
              <a:solidFill>
                <a:schemeClr val="bg2"/>
              </a:solidFill>
              <a:latin typeface="Arial" panose="020B0604020202020204" pitchFamily="34" charset="0"/>
              <a:cs typeface="Arial" panose="020B0604020202020204" pitchFamily="34" charset="0"/>
            </a:endParaRPr>
          </a:p>
        </p:txBody>
      </p:sp>
      <p:sp>
        <p:nvSpPr>
          <p:cNvPr id="30" name="Text 26"/>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50" b="1" dirty="0">
                <a:solidFill>
                  <a:schemeClr val="bg2"/>
                </a:solidFill>
                <a:latin typeface="Arial" panose="020B0604020202020204" pitchFamily="34" charset="0"/>
                <a:ea typeface="Calibri" pitchFamily="34" charset="-122"/>
                <a:cs typeface="Arial" panose="020B0604020202020204" pitchFamily="34" charset="0"/>
              </a:rPr>
              <a:t>05</a:t>
            </a:r>
            <a:endParaRPr lang="en-US" sz="1050" b="1" dirty="0">
              <a:solidFill>
                <a:schemeClr val="bg2"/>
              </a:solidFill>
              <a:latin typeface="Arial" panose="020B0604020202020204" pitchFamily="34" charset="0"/>
              <a:cs typeface="Arial" panose="020B0604020202020204" pitchFamily="34" charset="0"/>
            </a:endParaRPr>
          </a:p>
        </p:txBody>
      </p:sp>
      <p:sp>
        <p:nvSpPr>
          <p:cNvPr id="31" name="Text 27"/>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50" b="1"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876800" y="269748"/>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ARCHITECTURE</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3429000" y="591713"/>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Arborescence du projet</a:t>
            </a:r>
            <a:endParaRPr lang="en-US" sz="3200"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508760"/>
            <a:ext cx="5120640" cy="4572000"/>
          </a:xfrm>
          <a:prstGeom prst="roundRect">
            <a:avLst>
              <a:gd name="adj" fmla="val 2400"/>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chemeClr val="bg2"/>
              </a:solidFill>
              <a:latin typeface="Arial" panose="020B0604020202020204" pitchFamily="34" charset="0"/>
              <a:cs typeface="Arial" panose="020B0604020202020204" pitchFamily="34" charset="0"/>
            </a:endParaRPr>
          </a:p>
        </p:txBody>
      </p:sp>
      <p:sp>
        <p:nvSpPr>
          <p:cNvPr id="5" name="Text 3"/>
          <p:cNvSpPr/>
          <p:nvPr/>
        </p:nvSpPr>
        <p:spPr>
          <a:xfrm>
            <a:off x="868680" y="1691640"/>
            <a:ext cx="4480560" cy="292608"/>
          </a:xfrm>
          <a:prstGeom prst="rect">
            <a:avLst/>
          </a:prstGeom>
          <a:noFill/>
          <a:ln/>
        </p:spPr>
        <p:txBody>
          <a:bodyPr wrap="square" lIns="0" tIns="0" rIns="0" bIns="0" rtlCol="0" anchor="ctr"/>
          <a:lstStyle/>
          <a:p>
            <a:pPr marL="0" indent="0">
              <a:buNone/>
            </a:pPr>
            <a:r>
              <a:rPr lang="en-US" sz="1400" b="1" dirty="0">
                <a:solidFill>
                  <a:schemeClr val="bg2"/>
                </a:solidFill>
                <a:latin typeface="Arial" panose="020B0604020202020204" pitchFamily="34" charset="0"/>
                <a:ea typeface="Courier New" pitchFamily="34" charset="-122"/>
                <a:cs typeface="Arial" panose="020B0604020202020204" pitchFamily="34" charset="0"/>
              </a:rPr>
              <a:t>--- </a:t>
            </a:r>
            <a:r>
              <a:rPr lang="en-US" sz="1400" b="1" dirty="0" err="1">
                <a:solidFill>
                  <a:schemeClr val="bg2"/>
                </a:solidFill>
                <a:latin typeface="Arial" panose="020B0604020202020204" pitchFamily="34" charset="0"/>
                <a:ea typeface="Courier New" pitchFamily="34" charset="-122"/>
                <a:cs typeface="Arial" panose="020B0604020202020204" pitchFamily="34" charset="0"/>
              </a:rPr>
              <a:t>afritalent</a:t>
            </a:r>
            <a:r>
              <a:rPr lang="en-US" sz="1400" b="1" dirty="0">
                <a:solidFill>
                  <a:schemeClr val="bg2"/>
                </a:solidFill>
                <a:latin typeface="Arial" panose="020B0604020202020204" pitchFamily="34" charset="0"/>
                <a:ea typeface="Courier New" pitchFamily="34" charset="-122"/>
                <a:cs typeface="Arial" panose="020B0604020202020204" pitchFamily="34" charset="0"/>
              </a:rPr>
              <a:t>/</a:t>
            </a:r>
            <a:endParaRPr lang="en-US" sz="1400" dirty="0">
              <a:solidFill>
                <a:schemeClr val="bg2"/>
              </a:solidFill>
              <a:latin typeface="Arial" panose="020B0604020202020204" pitchFamily="34" charset="0"/>
              <a:cs typeface="Arial" panose="020B0604020202020204" pitchFamily="34" charset="0"/>
            </a:endParaRPr>
          </a:p>
        </p:txBody>
      </p:sp>
      <p:sp>
        <p:nvSpPr>
          <p:cNvPr id="6" name="Text 4"/>
          <p:cNvSpPr/>
          <p:nvPr/>
        </p:nvSpPr>
        <p:spPr>
          <a:xfrm>
            <a:off x="868680" y="2057400"/>
            <a:ext cx="448056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index.html</a:t>
            </a:r>
            <a:endParaRPr lang="en-US" sz="1150" dirty="0">
              <a:solidFill>
                <a:schemeClr val="bg2"/>
              </a:solidFill>
              <a:latin typeface="Arial" panose="020B0604020202020204" pitchFamily="34" charset="0"/>
              <a:cs typeface="Arial" panose="020B0604020202020204" pitchFamily="34" charset="0"/>
            </a:endParaRPr>
          </a:p>
        </p:txBody>
      </p:sp>
      <p:sp>
        <p:nvSpPr>
          <p:cNvPr id="7" name="Text 5"/>
          <p:cNvSpPr/>
          <p:nvPr/>
        </p:nvSpPr>
        <p:spPr>
          <a:xfrm>
            <a:off x="868680" y="2409444"/>
            <a:ext cx="448056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freelances.html</a:t>
            </a:r>
            <a:endParaRPr lang="en-US" sz="1150" dirty="0">
              <a:solidFill>
                <a:schemeClr val="bg2"/>
              </a:solidFill>
              <a:latin typeface="Arial" panose="020B0604020202020204" pitchFamily="34" charset="0"/>
              <a:cs typeface="Arial" panose="020B0604020202020204" pitchFamily="34" charset="0"/>
            </a:endParaRPr>
          </a:p>
        </p:txBody>
      </p:sp>
      <p:sp>
        <p:nvSpPr>
          <p:cNvPr id="8" name="Text 6"/>
          <p:cNvSpPr/>
          <p:nvPr/>
        </p:nvSpPr>
        <p:spPr>
          <a:xfrm>
            <a:off x="868680" y="2761488"/>
            <a:ext cx="448056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tarifs.html</a:t>
            </a:r>
            <a:endParaRPr lang="en-US" sz="1150" dirty="0">
              <a:solidFill>
                <a:schemeClr val="bg2"/>
              </a:solidFill>
              <a:latin typeface="Arial" panose="020B0604020202020204" pitchFamily="34" charset="0"/>
              <a:cs typeface="Arial" panose="020B0604020202020204" pitchFamily="34" charset="0"/>
            </a:endParaRPr>
          </a:p>
        </p:txBody>
      </p:sp>
      <p:sp>
        <p:nvSpPr>
          <p:cNvPr id="9" name="Text 7"/>
          <p:cNvSpPr/>
          <p:nvPr/>
        </p:nvSpPr>
        <p:spPr>
          <a:xfrm>
            <a:off x="868680" y="3113532"/>
            <a:ext cx="448056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contact.html</a:t>
            </a:r>
            <a:endParaRPr lang="en-US" sz="1150" dirty="0">
              <a:solidFill>
                <a:schemeClr val="bg2"/>
              </a:solidFill>
              <a:latin typeface="Arial" panose="020B0604020202020204" pitchFamily="34" charset="0"/>
              <a:cs typeface="Arial" panose="020B0604020202020204" pitchFamily="34" charset="0"/>
            </a:endParaRPr>
          </a:p>
        </p:txBody>
      </p:sp>
      <p:sp>
        <p:nvSpPr>
          <p:cNvPr id="10" name="Text 8"/>
          <p:cNvSpPr/>
          <p:nvPr/>
        </p:nvSpPr>
        <p:spPr>
          <a:xfrm>
            <a:off x="868680" y="3465576"/>
            <a:ext cx="448056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about.html</a:t>
            </a:r>
            <a:endParaRPr lang="en-US" sz="1150" dirty="0">
              <a:solidFill>
                <a:schemeClr val="bg2"/>
              </a:solidFill>
              <a:latin typeface="Arial" panose="020B0604020202020204" pitchFamily="34" charset="0"/>
              <a:cs typeface="Arial" panose="020B0604020202020204" pitchFamily="34" charset="0"/>
            </a:endParaRPr>
          </a:p>
        </p:txBody>
      </p:sp>
      <p:sp>
        <p:nvSpPr>
          <p:cNvPr id="11" name="Text 9"/>
          <p:cNvSpPr/>
          <p:nvPr/>
        </p:nvSpPr>
        <p:spPr>
          <a:xfrm>
            <a:off x="1188720" y="3817620"/>
            <a:ext cx="4160520" cy="274320"/>
          </a:xfrm>
          <a:prstGeom prst="rect">
            <a:avLst/>
          </a:prstGeom>
          <a:noFill/>
          <a:ln/>
        </p:spPr>
        <p:txBody>
          <a:bodyPr wrap="square" lIns="0" tIns="0" rIns="0" bIns="0" rtlCol="0" anchor="ctr"/>
          <a:lstStyle/>
          <a:p>
            <a:pPr marL="0" indent="0">
              <a:buNone/>
            </a:pPr>
            <a:r>
              <a:rPr lang="en-US" sz="1150" b="1" dirty="0">
                <a:solidFill>
                  <a:schemeClr val="bg2"/>
                </a:solidFill>
                <a:latin typeface="Arial" panose="020B0604020202020204" pitchFamily="34" charset="0"/>
                <a:ea typeface="Courier New" pitchFamily="34" charset="-122"/>
                <a:cs typeface="Arial" panose="020B0604020202020204" pitchFamily="34" charset="0"/>
              </a:rPr>
              <a:t> css/</a:t>
            </a:r>
            <a:endParaRPr lang="en-US" sz="1150" dirty="0">
              <a:solidFill>
                <a:schemeClr val="bg2"/>
              </a:solidFill>
              <a:latin typeface="Arial" panose="020B0604020202020204" pitchFamily="34" charset="0"/>
              <a:cs typeface="Arial" panose="020B0604020202020204" pitchFamily="34" charset="0"/>
            </a:endParaRPr>
          </a:p>
        </p:txBody>
      </p:sp>
      <p:sp>
        <p:nvSpPr>
          <p:cNvPr id="12" name="Text 10"/>
          <p:cNvSpPr/>
          <p:nvPr/>
        </p:nvSpPr>
        <p:spPr>
          <a:xfrm>
            <a:off x="1508760" y="4169664"/>
            <a:ext cx="384048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style.css</a:t>
            </a:r>
            <a:endParaRPr lang="en-US" sz="1150" dirty="0">
              <a:solidFill>
                <a:schemeClr val="bg2"/>
              </a:solidFill>
              <a:latin typeface="Arial" panose="020B0604020202020204" pitchFamily="34" charset="0"/>
              <a:cs typeface="Arial" panose="020B0604020202020204" pitchFamily="34" charset="0"/>
            </a:endParaRPr>
          </a:p>
        </p:txBody>
      </p:sp>
      <p:sp>
        <p:nvSpPr>
          <p:cNvPr id="13" name="Text 11"/>
          <p:cNvSpPr/>
          <p:nvPr/>
        </p:nvSpPr>
        <p:spPr>
          <a:xfrm>
            <a:off x="1188720" y="4521708"/>
            <a:ext cx="4160520" cy="274320"/>
          </a:xfrm>
          <a:prstGeom prst="rect">
            <a:avLst/>
          </a:prstGeom>
          <a:noFill/>
          <a:ln/>
        </p:spPr>
        <p:txBody>
          <a:bodyPr wrap="square" lIns="0" tIns="0" rIns="0" bIns="0" rtlCol="0" anchor="ctr"/>
          <a:lstStyle/>
          <a:p>
            <a:pPr marL="0" indent="0">
              <a:buNone/>
            </a:pPr>
            <a:r>
              <a:rPr lang="en-US" sz="1150" b="1" dirty="0">
                <a:solidFill>
                  <a:schemeClr val="bg2"/>
                </a:solidFill>
                <a:latin typeface="Arial" panose="020B0604020202020204" pitchFamily="34" charset="0"/>
                <a:ea typeface="Courier New" pitchFamily="34" charset="-122"/>
                <a:cs typeface="Arial" panose="020B0604020202020204" pitchFamily="34" charset="0"/>
              </a:rPr>
              <a:t>--- js/</a:t>
            </a:r>
            <a:endParaRPr lang="en-US" sz="1150" dirty="0">
              <a:solidFill>
                <a:schemeClr val="bg2"/>
              </a:solidFill>
              <a:latin typeface="Arial" panose="020B0604020202020204" pitchFamily="34" charset="0"/>
              <a:cs typeface="Arial" panose="020B0604020202020204" pitchFamily="34" charset="0"/>
            </a:endParaRPr>
          </a:p>
        </p:txBody>
      </p:sp>
      <p:sp>
        <p:nvSpPr>
          <p:cNvPr id="14" name="Text 12"/>
          <p:cNvSpPr/>
          <p:nvPr/>
        </p:nvSpPr>
        <p:spPr>
          <a:xfrm>
            <a:off x="1508760" y="4873752"/>
            <a:ext cx="384048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main.js</a:t>
            </a:r>
            <a:endParaRPr lang="en-US" sz="1150" dirty="0">
              <a:solidFill>
                <a:schemeClr val="bg2"/>
              </a:solidFill>
              <a:latin typeface="Arial" panose="020B0604020202020204" pitchFamily="34" charset="0"/>
              <a:cs typeface="Arial" panose="020B0604020202020204" pitchFamily="34" charset="0"/>
            </a:endParaRPr>
          </a:p>
        </p:txBody>
      </p:sp>
      <p:sp>
        <p:nvSpPr>
          <p:cNvPr id="15" name="Text 13"/>
          <p:cNvSpPr/>
          <p:nvPr/>
        </p:nvSpPr>
        <p:spPr>
          <a:xfrm>
            <a:off x="1188720" y="5225796"/>
            <a:ext cx="4160520" cy="274320"/>
          </a:xfrm>
          <a:prstGeom prst="rect">
            <a:avLst/>
          </a:prstGeom>
          <a:noFill/>
          <a:ln/>
        </p:spPr>
        <p:txBody>
          <a:bodyPr wrap="square" lIns="0" tIns="0" rIns="0" bIns="0" rtlCol="0" anchor="ctr"/>
          <a:lstStyle/>
          <a:p>
            <a:pPr marL="0" indent="0">
              <a:buNone/>
            </a:pPr>
            <a:r>
              <a:rPr lang="en-US" sz="1150" b="1" dirty="0">
                <a:solidFill>
                  <a:schemeClr val="bg2"/>
                </a:solidFill>
                <a:latin typeface="Arial" panose="020B0604020202020204" pitchFamily="34" charset="0"/>
                <a:ea typeface="Courier New" pitchFamily="34" charset="-122"/>
                <a:cs typeface="Arial" panose="020B0604020202020204" pitchFamily="34" charset="0"/>
              </a:rPr>
              <a:t>--- images/</a:t>
            </a:r>
            <a:endParaRPr lang="en-US" sz="1150" dirty="0">
              <a:solidFill>
                <a:schemeClr val="bg2"/>
              </a:solidFill>
              <a:latin typeface="Arial" panose="020B0604020202020204" pitchFamily="34" charset="0"/>
              <a:cs typeface="Arial" panose="020B0604020202020204" pitchFamily="34" charset="0"/>
            </a:endParaRPr>
          </a:p>
        </p:txBody>
      </p:sp>
      <p:sp>
        <p:nvSpPr>
          <p:cNvPr id="16" name="Text 14"/>
          <p:cNvSpPr/>
          <p:nvPr/>
        </p:nvSpPr>
        <p:spPr>
          <a:xfrm>
            <a:off x="1508760" y="5577840"/>
            <a:ext cx="384048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background.jpg, équipe, témoignages…</a:t>
            </a:r>
            <a:endParaRPr lang="en-US" sz="1150" dirty="0">
              <a:solidFill>
                <a:schemeClr val="bg2"/>
              </a:solidFill>
              <a:latin typeface="Arial" panose="020B0604020202020204" pitchFamily="34" charset="0"/>
              <a:cs typeface="Arial" panose="020B0604020202020204" pitchFamily="34" charset="0"/>
            </a:endParaRPr>
          </a:p>
        </p:txBody>
      </p:sp>
      <p:sp>
        <p:nvSpPr>
          <p:cNvPr id="17" name="Shape 15"/>
          <p:cNvSpPr/>
          <p:nvPr/>
        </p:nvSpPr>
        <p:spPr>
          <a:xfrm>
            <a:off x="5943600" y="1508760"/>
            <a:ext cx="5715000" cy="777240"/>
          </a:xfrm>
          <a:prstGeom prst="roundRect">
            <a:avLst>
              <a:gd name="adj" fmla="val 11765"/>
            </a:avLst>
          </a:prstGeom>
          <a:solidFill>
            <a:srgbClr val="161425"/>
          </a:solidFill>
          <a:ln w="12700">
            <a:solidFill>
              <a:srgbClr val="2A2545"/>
            </a:solidFill>
            <a:prstDash val="solid"/>
          </a:ln>
        </p:spPr>
      </p:sp>
      <p:sp>
        <p:nvSpPr>
          <p:cNvPr id="20" name="Text 17"/>
          <p:cNvSpPr/>
          <p:nvPr/>
        </p:nvSpPr>
        <p:spPr>
          <a:xfrm>
            <a:off x="6601968" y="1581912"/>
            <a:ext cx="489204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ourier New" pitchFamily="34" charset="-122"/>
                <a:cs typeface="Arial" panose="020B0604020202020204" pitchFamily="34" charset="0"/>
              </a:rPr>
              <a:t>index.html</a:t>
            </a:r>
            <a:endParaRPr lang="en-US" sz="1250" dirty="0">
              <a:solidFill>
                <a:schemeClr val="bg2"/>
              </a:solidFill>
              <a:latin typeface="Arial" panose="020B0604020202020204" pitchFamily="34" charset="0"/>
              <a:cs typeface="Arial" panose="020B0604020202020204" pitchFamily="34" charset="0"/>
            </a:endParaRPr>
          </a:p>
        </p:txBody>
      </p:sp>
      <p:sp>
        <p:nvSpPr>
          <p:cNvPr id="21" name="Text 18"/>
          <p:cNvSpPr/>
          <p:nvPr/>
        </p:nvSpPr>
        <p:spPr>
          <a:xfrm>
            <a:off x="6601968" y="1856232"/>
            <a:ext cx="4892040" cy="384048"/>
          </a:xfrm>
          <a:prstGeom prst="rect">
            <a:avLst/>
          </a:prstGeom>
          <a:noFill/>
          <a:ln/>
        </p:spPr>
        <p:txBody>
          <a:bodyPr wrap="square" lIns="0" tIns="0" rIns="0" bIns="0" rtlCol="0" anchor="ctr"/>
          <a:lstStyle/>
          <a:p>
            <a:pPr marL="0" indent="0">
              <a:lnSpc>
                <a:spcPct val="105000"/>
              </a:lnSpc>
              <a:buNone/>
            </a:pPr>
            <a:r>
              <a:rPr lang="en-US" sz="1050" dirty="0">
                <a:solidFill>
                  <a:schemeClr val="bg2"/>
                </a:solidFill>
                <a:latin typeface="Arial" panose="020B0604020202020204" pitchFamily="34" charset="0"/>
                <a:ea typeface="Calibri" pitchFamily="34" charset="-122"/>
                <a:cs typeface="Arial" panose="020B0604020202020204" pitchFamily="34" charset="0"/>
              </a:rPr>
              <a:t>Accueil — hero, statistiques animées, « bento grid » des étapes, catégories, témoignages (carrousel)</a:t>
            </a:r>
            <a:endParaRPr lang="en-US" sz="1050" dirty="0">
              <a:solidFill>
                <a:schemeClr val="bg2"/>
              </a:solidFill>
              <a:latin typeface="Arial" panose="020B0604020202020204" pitchFamily="34" charset="0"/>
              <a:cs typeface="Arial" panose="020B0604020202020204" pitchFamily="34" charset="0"/>
            </a:endParaRPr>
          </a:p>
        </p:txBody>
      </p:sp>
      <p:sp>
        <p:nvSpPr>
          <p:cNvPr id="22" name="Shape 19"/>
          <p:cNvSpPr/>
          <p:nvPr/>
        </p:nvSpPr>
        <p:spPr>
          <a:xfrm>
            <a:off x="5943600" y="2423160"/>
            <a:ext cx="5715000" cy="777240"/>
          </a:xfrm>
          <a:prstGeom prst="roundRect">
            <a:avLst>
              <a:gd name="adj" fmla="val 11765"/>
            </a:avLst>
          </a:prstGeom>
          <a:solidFill>
            <a:srgbClr val="161425"/>
          </a:solidFill>
          <a:ln w="12700">
            <a:solidFill>
              <a:srgbClr val="2A2545"/>
            </a:solidFill>
            <a:prstDash val="solid"/>
          </a:ln>
        </p:spPr>
      </p:sp>
      <p:sp>
        <p:nvSpPr>
          <p:cNvPr id="25" name="Text 21"/>
          <p:cNvSpPr/>
          <p:nvPr/>
        </p:nvSpPr>
        <p:spPr>
          <a:xfrm>
            <a:off x="6601968" y="2496312"/>
            <a:ext cx="489204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ourier New" pitchFamily="34" charset="-122"/>
                <a:cs typeface="Arial" panose="020B0604020202020204" pitchFamily="34" charset="0"/>
              </a:rPr>
              <a:t>freelances.html</a:t>
            </a:r>
            <a:endParaRPr lang="en-US" sz="1250" dirty="0">
              <a:solidFill>
                <a:schemeClr val="bg2"/>
              </a:solidFill>
              <a:latin typeface="Arial" panose="020B0604020202020204" pitchFamily="34" charset="0"/>
              <a:cs typeface="Arial" panose="020B0604020202020204" pitchFamily="34" charset="0"/>
            </a:endParaRPr>
          </a:p>
        </p:txBody>
      </p:sp>
      <p:sp>
        <p:nvSpPr>
          <p:cNvPr id="26" name="Text 22"/>
          <p:cNvSpPr/>
          <p:nvPr/>
        </p:nvSpPr>
        <p:spPr>
          <a:xfrm>
            <a:off x="6601968" y="2770632"/>
            <a:ext cx="4892040" cy="384048"/>
          </a:xfrm>
          <a:prstGeom prst="rect">
            <a:avLst/>
          </a:prstGeom>
          <a:noFill/>
          <a:ln/>
        </p:spPr>
        <p:txBody>
          <a:bodyPr wrap="square" lIns="0" tIns="0" rIns="0" bIns="0" rtlCol="0" anchor="ctr"/>
          <a:lstStyle/>
          <a:p>
            <a:pPr marL="0" indent="0">
              <a:lnSpc>
                <a:spcPct val="105000"/>
              </a:lnSpc>
              <a:buNone/>
            </a:pPr>
            <a:r>
              <a:rPr lang="en-US" sz="1050" dirty="0">
                <a:solidFill>
                  <a:schemeClr val="bg2"/>
                </a:solidFill>
                <a:latin typeface="Arial" panose="020B0604020202020204" pitchFamily="34" charset="0"/>
                <a:ea typeface="Calibri" pitchFamily="34" charset="-122"/>
                <a:cs typeface="Arial" panose="020B0604020202020204" pitchFamily="34" charset="0"/>
              </a:rPr>
              <a:t>Catalogue freelances filtrable par catégorie (dev / design / marketing)</a:t>
            </a:r>
            <a:endParaRPr lang="en-US" sz="1050" dirty="0">
              <a:solidFill>
                <a:schemeClr val="bg2"/>
              </a:solidFill>
              <a:latin typeface="Arial" panose="020B0604020202020204" pitchFamily="34" charset="0"/>
              <a:cs typeface="Arial" panose="020B0604020202020204" pitchFamily="34" charset="0"/>
            </a:endParaRPr>
          </a:p>
        </p:txBody>
      </p:sp>
      <p:sp>
        <p:nvSpPr>
          <p:cNvPr id="27" name="Shape 23"/>
          <p:cNvSpPr/>
          <p:nvPr/>
        </p:nvSpPr>
        <p:spPr>
          <a:xfrm>
            <a:off x="5943600" y="3337560"/>
            <a:ext cx="5715000" cy="777240"/>
          </a:xfrm>
          <a:prstGeom prst="roundRect">
            <a:avLst>
              <a:gd name="adj" fmla="val 11765"/>
            </a:avLst>
          </a:prstGeom>
          <a:solidFill>
            <a:srgbClr val="161425"/>
          </a:solidFill>
          <a:ln w="12700">
            <a:solidFill>
              <a:srgbClr val="2A2545"/>
            </a:solidFill>
            <a:prstDash val="solid"/>
          </a:ln>
        </p:spPr>
      </p:sp>
      <p:sp>
        <p:nvSpPr>
          <p:cNvPr id="30" name="Text 25"/>
          <p:cNvSpPr/>
          <p:nvPr/>
        </p:nvSpPr>
        <p:spPr>
          <a:xfrm>
            <a:off x="6601968" y="3410712"/>
            <a:ext cx="489204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ourier New" pitchFamily="34" charset="-122"/>
                <a:cs typeface="Arial" panose="020B0604020202020204" pitchFamily="34" charset="0"/>
              </a:rPr>
              <a:t>tarifs.html</a:t>
            </a:r>
            <a:endParaRPr lang="en-US" sz="1250" dirty="0">
              <a:solidFill>
                <a:schemeClr val="bg2"/>
              </a:solidFill>
              <a:latin typeface="Arial" panose="020B0604020202020204" pitchFamily="34" charset="0"/>
              <a:cs typeface="Arial" panose="020B0604020202020204" pitchFamily="34" charset="0"/>
            </a:endParaRPr>
          </a:p>
        </p:txBody>
      </p:sp>
      <p:sp>
        <p:nvSpPr>
          <p:cNvPr id="31" name="Text 26"/>
          <p:cNvSpPr/>
          <p:nvPr/>
        </p:nvSpPr>
        <p:spPr>
          <a:xfrm>
            <a:off x="6601968" y="3685032"/>
            <a:ext cx="4892040" cy="384048"/>
          </a:xfrm>
          <a:prstGeom prst="rect">
            <a:avLst/>
          </a:prstGeom>
          <a:noFill/>
          <a:ln/>
        </p:spPr>
        <p:txBody>
          <a:bodyPr wrap="square" lIns="0" tIns="0" rIns="0" bIns="0" rtlCol="0" anchor="ctr"/>
          <a:lstStyle/>
          <a:p>
            <a:pPr marL="0" indent="0">
              <a:lnSpc>
                <a:spcPct val="105000"/>
              </a:lnSpc>
              <a:buNone/>
            </a:pPr>
            <a:r>
              <a:rPr lang="en-US" sz="1050" dirty="0">
                <a:solidFill>
                  <a:schemeClr val="bg2"/>
                </a:solidFill>
                <a:latin typeface="Arial" panose="020B0604020202020204" pitchFamily="34" charset="0"/>
                <a:ea typeface="Calibri" pitchFamily="34" charset="-122"/>
                <a:cs typeface="Arial" panose="020B0604020202020204" pitchFamily="34" charset="0"/>
              </a:rPr>
              <a:t>Grille de plans (Basic / Pro / Premium) + FAQ en accordéon</a:t>
            </a:r>
            <a:endParaRPr lang="en-US" sz="1050" dirty="0">
              <a:solidFill>
                <a:schemeClr val="bg2"/>
              </a:solidFill>
              <a:latin typeface="Arial" panose="020B0604020202020204" pitchFamily="34" charset="0"/>
              <a:cs typeface="Arial" panose="020B0604020202020204" pitchFamily="34" charset="0"/>
            </a:endParaRPr>
          </a:p>
        </p:txBody>
      </p:sp>
      <p:sp>
        <p:nvSpPr>
          <p:cNvPr id="32" name="Shape 27"/>
          <p:cNvSpPr/>
          <p:nvPr/>
        </p:nvSpPr>
        <p:spPr>
          <a:xfrm>
            <a:off x="5943600" y="4251960"/>
            <a:ext cx="5715000" cy="777240"/>
          </a:xfrm>
          <a:prstGeom prst="roundRect">
            <a:avLst>
              <a:gd name="adj" fmla="val 11765"/>
            </a:avLst>
          </a:prstGeom>
          <a:solidFill>
            <a:srgbClr val="161425"/>
          </a:solidFill>
          <a:ln w="12700">
            <a:solidFill>
              <a:srgbClr val="2A2545"/>
            </a:solidFill>
            <a:prstDash val="solid"/>
          </a:ln>
        </p:spPr>
      </p:sp>
      <p:sp>
        <p:nvSpPr>
          <p:cNvPr id="35" name="Text 29"/>
          <p:cNvSpPr/>
          <p:nvPr/>
        </p:nvSpPr>
        <p:spPr>
          <a:xfrm>
            <a:off x="6601968" y="4325112"/>
            <a:ext cx="489204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ourier New" pitchFamily="34" charset="-122"/>
                <a:cs typeface="Arial" panose="020B0604020202020204" pitchFamily="34" charset="0"/>
              </a:rPr>
              <a:t>about.html</a:t>
            </a:r>
            <a:endParaRPr lang="en-US" sz="1250" dirty="0">
              <a:solidFill>
                <a:schemeClr val="bg2"/>
              </a:solidFill>
              <a:latin typeface="Arial" panose="020B0604020202020204" pitchFamily="34" charset="0"/>
              <a:cs typeface="Arial" panose="020B0604020202020204" pitchFamily="34" charset="0"/>
            </a:endParaRPr>
          </a:p>
        </p:txBody>
      </p:sp>
      <p:sp>
        <p:nvSpPr>
          <p:cNvPr id="36" name="Text 30"/>
          <p:cNvSpPr/>
          <p:nvPr/>
        </p:nvSpPr>
        <p:spPr>
          <a:xfrm>
            <a:off x="6601968" y="4599432"/>
            <a:ext cx="4892040" cy="384048"/>
          </a:xfrm>
          <a:prstGeom prst="rect">
            <a:avLst/>
          </a:prstGeom>
          <a:noFill/>
          <a:ln/>
        </p:spPr>
        <p:txBody>
          <a:bodyPr wrap="square" lIns="0" tIns="0" rIns="0" bIns="0" rtlCol="0" anchor="ctr"/>
          <a:lstStyle/>
          <a:p>
            <a:pPr marL="0" indent="0">
              <a:lnSpc>
                <a:spcPct val="105000"/>
              </a:lnSpc>
              <a:buNone/>
            </a:pPr>
            <a:r>
              <a:rPr lang="en-US" sz="1050" dirty="0">
                <a:solidFill>
                  <a:schemeClr val="bg2"/>
                </a:solidFill>
                <a:latin typeface="Arial" panose="020B0604020202020204" pitchFamily="34" charset="0"/>
                <a:ea typeface="Calibri" pitchFamily="34" charset="-122"/>
                <a:cs typeface="Arial" panose="020B0604020202020204" pitchFamily="34" charset="0"/>
              </a:rPr>
              <a:t>Notre histoire, équipe, valeurs, chiffres clés animés</a:t>
            </a:r>
            <a:endParaRPr lang="en-US" sz="1050" dirty="0">
              <a:solidFill>
                <a:schemeClr val="bg2"/>
              </a:solidFill>
              <a:latin typeface="Arial" panose="020B0604020202020204" pitchFamily="34" charset="0"/>
              <a:cs typeface="Arial" panose="020B0604020202020204" pitchFamily="34" charset="0"/>
            </a:endParaRPr>
          </a:p>
        </p:txBody>
      </p:sp>
      <p:sp>
        <p:nvSpPr>
          <p:cNvPr id="37" name="Shape 31"/>
          <p:cNvSpPr/>
          <p:nvPr/>
        </p:nvSpPr>
        <p:spPr>
          <a:xfrm>
            <a:off x="5943600" y="5166360"/>
            <a:ext cx="5715000" cy="777240"/>
          </a:xfrm>
          <a:prstGeom prst="roundRect">
            <a:avLst>
              <a:gd name="adj" fmla="val 11765"/>
            </a:avLst>
          </a:prstGeom>
          <a:solidFill>
            <a:srgbClr val="161425"/>
          </a:solidFill>
          <a:ln w="12700">
            <a:solidFill>
              <a:srgbClr val="2A2545"/>
            </a:solidFill>
            <a:prstDash val="solid"/>
          </a:ln>
        </p:spPr>
      </p:sp>
      <p:sp>
        <p:nvSpPr>
          <p:cNvPr id="40" name="Text 33"/>
          <p:cNvSpPr/>
          <p:nvPr/>
        </p:nvSpPr>
        <p:spPr>
          <a:xfrm>
            <a:off x="6601968" y="5239512"/>
            <a:ext cx="489204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ourier New" pitchFamily="34" charset="-122"/>
                <a:cs typeface="Arial" panose="020B0604020202020204" pitchFamily="34" charset="0"/>
              </a:rPr>
              <a:t>contact.html</a:t>
            </a:r>
            <a:endParaRPr lang="en-US" sz="1250" dirty="0">
              <a:solidFill>
                <a:schemeClr val="bg2"/>
              </a:solidFill>
              <a:latin typeface="Arial" panose="020B0604020202020204" pitchFamily="34" charset="0"/>
              <a:cs typeface="Arial" panose="020B0604020202020204" pitchFamily="34" charset="0"/>
            </a:endParaRPr>
          </a:p>
        </p:txBody>
      </p:sp>
      <p:sp>
        <p:nvSpPr>
          <p:cNvPr id="41" name="Text 34"/>
          <p:cNvSpPr/>
          <p:nvPr/>
        </p:nvSpPr>
        <p:spPr>
          <a:xfrm>
            <a:off x="6601968" y="5513832"/>
            <a:ext cx="4892040" cy="384048"/>
          </a:xfrm>
          <a:prstGeom prst="rect">
            <a:avLst/>
          </a:prstGeom>
          <a:noFill/>
          <a:ln/>
        </p:spPr>
        <p:txBody>
          <a:bodyPr wrap="square" lIns="0" tIns="0" rIns="0" bIns="0" rtlCol="0" anchor="ctr"/>
          <a:lstStyle/>
          <a:p>
            <a:pPr marL="0" indent="0">
              <a:lnSpc>
                <a:spcPct val="105000"/>
              </a:lnSpc>
              <a:buNone/>
            </a:pPr>
            <a:r>
              <a:rPr lang="en-US" sz="1050" dirty="0">
                <a:solidFill>
                  <a:schemeClr val="bg2"/>
                </a:solidFill>
                <a:latin typeface="Arial" panose="020B0604020202020204" pitchFamily="34" charset="0"/>
                <a:ea typeface="Calibri" pitchFamily="34" charset="-122"/>
                <a:cs typeface="Arial" panose="020B0604020202020204" pitchFamily="34" charset="0"/>
              </a:rPr>
              <a:t>Formulaire validé en JS + carte Google Maps intégrée</a:t>
            </a:r>
            <a:endParaRPr lang="en-US" sz="1050" dirty="0">
              <a:solidFill>
                <a:schemeClr val="bg2"/>
              </a:solidFill>
              <a:latin typeface="Arial" panose="020B0604020202020204" pitchFamily="34" charset="0"/>
              <a:cs typeface="Arial" panose="020B0604020202020204" pitchFamily="34" charset="0"/>
            </a:endParaRPr>
          </a:p>
        </p:txBody>
      </p:sp>
      <p:sp>
        <p:nvSpPr>
          <p:cNvPr id="42" name="Text 35"/>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06</a:t>
            </a:r>
            <a:endParaRPr lang="en-US" sz="1000" dirty="0">
              <a:solidFill>
                <a:schemeClr val="bg2"/>
              </a:solidFill>
              <a:latin typeface="Arial" panose="020B0604020202020204" pitchFamily="34" charset="0"/>
              <a:cs typeface="Arial" panose="020B0604020202020204" pitchFamily="34" charset="0"/>
            </a:endParaRPr>
          </a:p>
        </p:txBody>
      </p:sp>
      <p:sp>
        <p:nvSpPr>
          <p:cNvPr id="43" name="Text 36"/>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837635" y="336403"/>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ea typeface="Calibri" pitchFamily="34" charset="-122"/>
                <a:cs typeface="Calibri" pitchFamily="34" charset="-120"/>
              </a:rPr>
              <a:t>ARCHITECTURE</a:t>
            </a:r>
            <a:endParaRPr lang="en-US" sz="1200" dirty="0">
              <a:solidFill>
                <a:schemeClr val="bg2"/>
              </a:solidFill>
            </a:endParaRPr>
          </a:p>
        </p:txBody>
      </p:sp>
      <p:sp>
        <p:nvSpPr>
          <p:cNvPr id="3" name="Text 1"/>
          <p:cNvSpPr/>
          <p:nvPr/>
        </p:nvSpPr>
        <p:spPr>
          <a:xfrm>
            <a:off x="3774885" y="609520"/>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ea typeface="Cambria" pitchFamily="34" charset="-122"/>
                <a:cs typeface="Cambria" pitchFamily="34" charset="-120"/>
              </a:rPr>
              <a:t>Aperçu des pages du site</a:t>
            </a:r>
            <a:endParaRPr lang="en-US" sz="3200" dirty="0">
              <a:solidFill>
                <a:schemeClr val="bg2"/>
              </a:solidFill>
            </a:endParaRPr>
          </a:p>
        </p:txBody>
      </p:sp>
      <p:sp>
        <p:nvSpPr>
          <p:cNvPr id="4" name="Shape 2"/>
          <p:cNvSpPr/>
          <p:nvPr/>
        </p:nvSpPr>
        <p:spPr>
          <a:xfrm>
            <a:off x="435712" y="1554480"/>
            <a:ext cx="2103120" cy="3108960"/>
          </a:xfrm>
          <a:prstGeom prst="roundRect">
            <a:avLst>
              <a:gd name="adj" fmla="val 4348"/>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5" name="Shape 3"/>
          <p:cNvSpPr/>
          <p:nvPr/>
        </p:nvSpPr>
        <p:spPr>
          <a:xfrm>
            <a:off x="508864" y="1627632"/>
            <a:ext cx="1956816" cy="237744"/>
          </a:xfrm>
          <a:prstGeom prst="roundRect">
            <a:avLst>
              <a:gd name="adj" fmla="val 19231"/>
            </a:avLst>
          </a:prstGeom>
          <a:solidFill>
            <a:srgbClr val="1B1733"/>
          </a:solidFill>
          <a:ln/>
        </p:spPr>
      </p:sp>
      <p:sp>
        <p:nvSpPr>
          <p:cNvPr id="6" name="Shape 4"/>
          <p:cNvSpPr/>
          <p:nvPr/>
        </p:nvSpPr>
        <p:spPr>
          <a:xfrm>
            <a:off x="600304" y="1691640"/>
            <a:ext cx="91440" cy="91440"/>
          </a:xfrm>
          <a:prstGeom prst="ellipse">
            <a:avLst/>
          </a:prstGeom>
          <a:solidFill>
            <a:srgbClr val="FF5F56"/>
          </a:solidFill>
          <a:ln/>
        </p:spPr>
      </p:sp>
      <p:sp>
        <p:nvSpPr>
          <p:cNvPr id="7" name="Shape 5"/>
          <p:cNvSpPr/>
          <p:nvPr/>
        </p:nvSpPr>
        <p:spPr>
          <a:xfrm>
            <a:off x="746608" y="1691640"/>
            <a:ext cx="91440" cy="91440"/>
          </a:xfrm>
          <a:prstGeom prst="ellipse">
            <a:avLst/>
          </a:prstGeom>
          <a:solidFill>
            <a:srgbClr val="FFBD2E"/>
          </a:solidFill>
          <a:ln/>
        </p:spPr>
      </p:sp>
      <p:sp>
        <p:nvSpPr>
          <p:cNvPr id="8" name="Shape 6"/>
          <p:cNvSpPr/>
          <p:nvPr/>
        </p:nvSpPr>
        <p:spPr>
          <a:xfrm>
            <a:off x="892912" y="1691640"/>
            <a:ext cx="91440" cy="91440"/>
          </a:xfrm>
          <a:prstGeom prst="ellipse">
            <a:avLst/>
          </a:prstGeom>
          <a:solidFill>
            <a:srgbClr val="27C93F"/>
          </a:solidFill>
          <a:ln/>
        </p:spPr>
      </p:sp>
      <p:sp>
        <p:nvSpPr>
          <p:cNvPr id="9" name="Shape 7"/>
          <p:cNvSpPr/>
          <p:nvPr/>
        </p:nvSpPr>
        <p:spPr>
          <a:xfrm>
            <a:off x="508864" y="1938528"/>
            <a:ext cx="1956816" cy="2542032"/>
          </a:xfrm>
          <a:prstGeom prst="rect">
            <a:avLst/>
          </a:prstGeom>
          <a:solidFill>
            <a:srgbClr val="15122A"/>
          </a:solidFill>
          <a:ln/>
        </p:spPr>
      </p:sp>
      <p:sp>
        <p:nvSpPr>
          <p:cNvPr id="10" name="Shape 8"/>
          <p:cNvSpPr/>
          <p:nvPr/>
        </p:nvSpPr>
        <p:spPr>
          <a:xfrm>
            <a:off x="1258672" y="2971800"/>
            <a:ext cx="457200" cy="457200"/>
          </a:xfrm>
          <a:prstGeom prst="ellipse">
            <a:avLst/>
          </a:prstGeom>
          <a:solidFill>
            <a:srgbClr val="8F3DFF"/>
          </a:solidFill>
          <a:ln/>
        </p:spPr>
      </p:sp>
      <p:pic>
        <p:nvPicPr>
          <p:cNvPr id="11" name="Image 0" descr="/home/claude/afritalent-ppt/icons/mobile.png"/>
          <p:cNvPicPr>
            <a:picLocks noChangeAspect="1"/>
          </p:cNvPicPr>
          <p:nvPr/>
        </p:nvPicPr>
        <p:blipFill>
          <a:blip r:embed="rId3"/>
          <a:stretch>
            <a:fillRect/>
          </a:stretch>
        </p:blipFill>
        <p:spPr>
          <a:xfrm>
            <a:off x="1361542" y="3074670"/>
            <a:ext cx="251460" cy="251460"/>
          </a:xfrm>
          <a:prstGeom prst="rect">
            <a:avLst/>
          </a:prstGeom>
        </p:spPr>
      </p:pic>
      <p:sp>
        <p:nvSpPr>
          <p:cNvPr id="12" name="Text 9"/>
          <p:cNvSpPr/>
          <p:nvPr/>
        </p:nvSpPr>
        <p:spPr>
          <a:xfrm>
            <a:off x="572872" y="3566160"/>
            <a:ext cx="1828800" cy="274320"/>
          </a:xfrm>
          <a:prstGeom prst="rect">
            <a:avLst/>
          </a:prstGeom>
          <a:noFill/>
          <a:ln/>
        </p:spPr>
        <p:txBody>
          <a:bodyPr wrap="square" lIns="0" tIns="0" rIns="0" bIns="0" rtlCol="0" anchor="ctr"/>
          <a:lstStyle/>
          <a:p>
            <a:pPr marL="0" indent="0" algn="ctr">
              <a:buNone/>
            </a:pPr>
            <a:r>
              <a:rPr lang="en-US" sz="900" i="1" dirty="0">
                <a:solidFill>
                  <a:schemeClr val="bg2"/>
                </a:solidFill>
                <a:ea typeface="Calibri" pitchFamily="34" charset="-122"/>
                <a:cs typeface="Calibri" pitchFamily="34" charset="-120"/>
              </a:rPr>
              <a:t>Capture à insérer</a:t>
            </a:r>
            <a:endParaRPr lang="en-US" sz="900" dirty="0">
              <a:solidFill>
                <a:schemeClr val="bg2"/>
              </a:solidFill>
            </a:endParaRPr>
          </a:p>
        </p:txBody>
      </p:sp>
      <p:sp>
        <p:nvSpPr>
          <p:cNvPr id="13" name="Text 10"/>
          <p:cNvSpPr/>
          <p:nvPr/>
        </p:nvSpPr>
        <p:spPr>
          <a:xfrm>
            <a:off x="435712" y="4773168"/>
            <a:ext cx="2103120" cy="292608"/>
          </a:xfrm>
          <a:prstGeom prst="rect">
            <a:avLst/>
          </a:prstGeom>
          <a:noFill/>
          <a:ln/>
        </p:spPr>
        <p:txBody>
          <a:bodyPr wrap="square" lIns="0" tIns="0" rIns="0" bIns="0" rtlCol="0" anchor="ctr"/>
          <a:lstStyle/>
          <a:p>
            <a:pPr marL="0" indent="0" algn="ctr">
              <a:buNone/>
            </a:pPr>
            <a:r>
              <a:rPr lang="en-US" sz="1300" b="1" dirty="0">
                <a:solidFill>
                  <a:schemeClr val="bg2"/>
                </a:solidFill>
                <a:ea typeface="Calibri" pitchFamily="34" charset="-122"/>
                <a:cs typeface="Calibri" pitchFamily="34" charset="-120"/>
              </a:rPr>
              <a:t>Accueil</a:t>
            </a:r>
            <a:endParaRPr lang="en-US" sz="1300" dirty="0">
              <a:solidFill>
                <a:schemeClr val="bg2"/>
              </a:solidFill>
            </a:endParaRPr>
          </a:p>
        </p:txBody>
      </p:sp>
      <p:sp>
        <p:nvSpPr>
          <p:cNvPr id="14" name="Text 11"/>
          <p:cNvSpPr/>
          <p:nvPr/>
        </p:nvSpPr>
        <p:spPr>
          <a:xfrm>
            <a:off x="435712" y="5047488"/>
            <a:ext cx="2103120" cy="228600"/>
          </a:xfrm>
          <a:prstGeom prst="rect">
            <a:avLst/>
          </a:prstGeom>
          <a:noFill/>
          <a:ln/>
        </p:spPr>
        <p:txBody>
          <a:bodyPr wrap="square" lIns="0" tIns="0" rIns="0" bIns="0" rtlCol="0" anchor="ctr"/>
          <a:lstStyle/>
          <a:p>
            <a:pPr marL="0" indent="0" algn="ctr">
              <a:buNone/>
            </a:pPr>
            <a:r>
              <a:rPr lang="en-US" sz="950" dirty="0">
                <a:solidFill>
                  <a:schemeClr val="bg2"/>
                </a:solidFill>
                <a:ea typeface="Courier New" pitchFamily="34" charset="-122"/>
                <a:cs typeface="Courier New" pitchFamily="34" charset="-120"/>
              </a:rPr>
              <a:t>index.html</a:t>
            </a:r>
            <a:endParaRPr lang="en-US" sz="950" dirty="0">
              <a:solidFill>
                <a:schemeClr val="bg2"/>
              </a:solidFill>
            </a:endParaRPr>
          </a:p>
        </p:txBody>
      </p:sp>
      <p:sp>
        <p:nvSpPr>
          <p:cNvPr id="15" name="Shape 12"/>
          <p:cNvSpPr/>
          <p:nvPr/>
        </p:nvSpPr>
        <p:spPr>
          <a:xfrm>
            <a:off x="2740000" y="1554480"/>
            <a:ext cx="2103120" cy="3108960"/>
          </a:xfrm>
          <a:prstGeom prst="roundRect">
            <a:avLst>
              <a:gd name="adj" fmla="val 4348"/>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16" name="Shape 13"/>
          <p:cNvSpPr/>
          <p:nvPr/>
        </p:nvSpPr>
        <p:spPr>
          <a:xfrm>
            <a:off x="2813152" y="1627632"/>
            <a:ext cx="1956816" cy="237744"/>
          </a:xfrm>
          <a:prstGeom prst="roundRect">
            <a:avLst>
              <a:gd name="adj" fmla="val 19231"/>
            </a:avLst>
          </a:prstGeom>
          <a:solidFill>
            <a:srgbClr val="1B1733"/>
          </a:solidFill>
          <a:ln/>
        </p:spPr>
      </p:sp>
      <p:sp>
        <p:nvSpPr>
          <p:cNvPr id="17" name="Shape 14"/>
          <p:cNvSpPr/>
          <p:nvPr/>
        </p:nvSpPr>
        <p:spPr>
          <a:xfrm>
            <a:off x="2904592" y="1691640"/>
            <a:ext cx="91440" cy="91440"/>
          </a:xfrm>
          <a:prstGeom prst="ellipse">
            <a:avLst/>
          </a:prstGeom>
          <a:solidFill>
            <a:srgbClr val="FF5F56"/>
          </a:solidFill>
          <a:ln/>
        </p:spPr>
      </p:sp>
      <p:sp>
        <p:nvSpPr>
          <p:cNvPr id="18" name="Shape 15"/>
          <p:cNvSpPr/>
          <p:nvPr/>
        </p:nvSpPr>
        <p:spPr>
          <a:xfrm>
            <a:off x="3050896" y="1691640"/>
            <a:ext cx="91440" cy="91440"/>
          </a:xfrm>
          <a:prstGeom prst="ellipse">
            <a:avLst/>
          </a:prstGeom>
          <a:solidFill>
            <a:srgbClr val="FFBD2E"/>
          </a:solidFill>
          <a:ln/>
        </p:spPr>
      </p:sp>
      <p:sp>
        <p:nvSpPr>
          <p:cNvPr id="19" name="Shape 16"/>
          <p:cNvSpPr/>
          <p:nvPr/>
        </p:nvSpPr>
        <p:spPr>
          <a:xfrm>
            <a:off x="3197200" y="1691640"/>
            <a:ext cx="91440" cy="91440"/>
          </a:xfrm>
          <a:prstGeom prst="ellipse">
            <a:avLst/>
          </a:prstGeom>
          <a:solidFill>
            <a:srgbClr val="27C93F"/>
          </a:solidFill>
          <a:ln/>
        </p:spPr>
      </p:sp>
      <p:sp>
        <p:nvSpPr>
          <p:cNvPr id="20" name="Shape 17"/>
          <p:cNvSpPr/>
          <p:nvPr/>
        </p:nvSpPr>
        <p:spPr>
          <a:xfrm>
            <a:off x="2813152" y="1938528"/>
            <a:ext cx="1956816" cy="2542032"/>
          </a:xfrm>
          <a:prstGeom prst="rect">
            <a:avLst/>
          </a:prstGeom>
          <a:solidFill>
            <a:srgbClr val="15122A"/>
          </a:solidFill>
          <a:ln/>
        </p:spPr>
      </p:sp>
      <p:sp>
        <p:nvSpPr>
          <p:cNvPr id="21" name="Shape 18"/>
          <p:cNvSpPr/>
          <p:nvPr/>
        </p:nvSpPr>
        <p:spPr>
          <a:xfrm>
            <a:off x="3562960" y="2971800"/>
            <a:ext cx="457200" cy="457200"/>
          </a:xfrm>
          <a:prstGeom prst="ellipse">
            <a:avLst/>
          </a:prstGeom>
          <a:solidFill>
            <a:srgbClr val="2DD4BF"/>
          </a:solidFill>
          <a:ln/>
        </p:spPr>
      </p:sp>
      <p:pic>
        <p:nvPicPr>
          <p:cNvPr id="22" name="Image 1" descr="/home/claude/afritalent-ppt/icons/mobile.png"/>
          <p:cNvPicPr>
            <a:picLocks noChangeAspect="1"/>
          </p:cNvPicPr>
          <p:nvPr/>
        </p:nvPicPr>
        <p:blipFill>
          <a:blip r:embed="rId3"/>
          <a:stretch>
            <a:fillRect/>
          </a:stretch>
        </p:blipFill>
        <p:spPr>
          <a:xfrm>
            <a:off x="3665830" y="3074670"/>
            <a:ext cx="251460" cy="251460"/>
          </a:xfrm>
          <a:prstGeom prst="rect">
            <a:avLst/>
          </a:prstGeom>
        </p:spPr>
      </p:pic>
      <p:sp>
        <p:nvSpPr>
          <p:cNvPr id="23" name="Text 19"/>
          <p:cNvSpPr/>
          <p:nvPr/>
        </p:nvSpPr>
        <p:spPr>
          <a:xfrm>
            <a:off x="2877160" y="3566160"/>
            <a:ext cx="1828800" cy="274320"/>
          </a:xfrm>
          <a:prstGeom prst="rect">
            <a:avLst/>
          </a:prstGeom>
          <a:noFill/>
          <a:ln/>
        </p:spPr>
        <p:txBody>
          <a:bodyPr wrap="square" lIns="0" tIns="0" rIns="0" bIns="0" rtlCol="0" anchor="ctr"/>
          <a:lstStyle/>
          <a:p>
            <a:pPr marL="0" indent="0" algn="ctr">
              <a:buNone/>
            </a:pPr>
            <a:r>
              <a:rPr lang="en-US" sz="900" i="1" dirty="0">
                <a:solidFill>
                  <a:schemeClr val="bg2"/>
                </a:solidFill>
                <a:ea typeface="Calibri" pitchFamily="34" charset="-122"/>
                <a:cs typeface="Calibri" pitchFamily="34" charset="-120"/>
              </a:rPr>
              <a:t>Capture à insérer</a:t>
            </a:r>
            <a:endParaRPr lang="en-US" sz="900" dirty="0">
              <a:solidFill>
                <a:schemeClr val="bg2"/>
              </a:solidFill>
            </a:endParaRPr>
          </a:p>
        </p:txBody>
      </p:sp>
      <p:sp>
        <p:nvSpPr>
          <p:cNvPr id="24" name="Text 20"/>
          <p:cNvSpPr/>
          <p:nvPr/>
        </p:nvSpPr>
        <p:spPr>
          <a:xfrm>
            <a:off x="2740000" y="4773168"/>
            <a:ext cx="2103120" cy="292608"/>
          </a:xfrm>
          <a:prstGeom prst="rect">
            <a:avLst/>
          </a:prstGeom>
          <a:noFill/>
          <a:ln/>
        </p:spPr>
        <p:txBody>
          <a:bodyPr wrap="square" lIns="0" tIns="0" rIns="0" bIns="0" rtlCol="0" anchor="ctr"/>
          <a:lstStyle/>
          <a:p>
            <a:pPr marL="0" indent="0" algn="ctr">
              <a:buNone/>
            </a:pPr>
            <a:r>
              <a:rPr lang="en-US" sz="1300" b="1" dirty="0">
                <a:solidFill>
                  <a:schemeClr val="bg2"/>
                </a:solidFill>
                <a:ea typeface="Calibri" pitchFamily="34" charset="-122"/>
                <a:cs typeface="Calibri" pitchFamily="34" charset="-120"/>
              </a:rPr>
              <a:t>Freelances</a:t>
            </a:r>
            <a:endParaRPr lang="en-US" sz="1300" dirty="0">
              <a:solidFill>
                <a:schemeClr val="bg2"/>
              </a:solidFill>
            </a:endParaRPr>
          </a:p>
        </p:txBody>
      </p:sp>
      <p:sp>
        <p:nvSpPr>
          <p:cNvPr id="25" name="Text 21"/>
          <p:cNvSpPr/>
          <p:nvPr/>
        </p:nvSpPr>
        <p:spPr>
          <a:xfrm>
            <a:off x="2740000" y="5047488"/>
            <a:ext cx="2103120" cy="228600"/>
          </a:xfrm>
          <a:prstGeom prst="rect">
            <a:avLst/>
          </a:prstGeom>
          <a:noFill/>
          <a:ln/>
        </p:spPr>
        <p:txBody>
          <a:bodyPr wrap="square" lIns="0" tIns="0" rIns="0" bIns="0" rtlCol="0" anchor="ctr"/>
          <a:lstStyle/>
          <a:p>
            <a:pPr marL="0" indent="0" algn="ctr">
              <a:buNone/>
            </a:pPr>
            <a:r>
              <a:rPr lang="en-US" sz="950" dirty="0">
                <a:solidFill>
                  <a:schemeClr val="bg2"/>
                </a:solidFill>
                <a:ea typeface="Courier New" pitchFamily="34" charset="-122"/>
                <a:cs typeface="Courier New" pitchFamily="34" charset="-120"/>
              </a:rPr>
              <a:t>freelances.html</a:t>
            </a:r>
            <a:endParaRPr lang="en-US" sz="950" dirty="0">
              <a:solidFill>
                <a:schemeClr val="bg2"/>
              </a:solidFill>
            </a:endParaRPr>
          </a:p>
        </p:txBody>
      </p:sp>
      <p:sp>
        <p:nvSpPr>
          <p:cNvPr id="26" name="Shape 22"/>
          <p:cNvSpPr/>
          <p:nvPr/>
        </p:nvSpPr>
        <p:spPr>
          <a:xfrm>
            <a:off x="5044288" y="1554480"/>
            <a:ext cx="2103120" cy="3108960"/>
          </a:xfrm>
          <a:prstGeom prst="roundRect">
            <a:avLst>
              <a:gd name="adj" fmla="val 4348"/>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27" name="Shape 23"/>
          <p:cNvSpPr/>
          <p:nvPr/>
        </p:nvSpPr>
        <p:spPr>
          <a:xfrm>
            <a:off x="5117440" y="1627632"/>
            <a:ext cx="1956816" cy="237744"/>
          </a:xfrm>
          <a:prstGeom prst="roundRect">
            <a:avLst>
              <a:gd name="adj" fmla="val 19231"/>
            </a:avLst>
          </a:prstGeom>
          <a:solidFill>
            <a:srgbClr val="1B1733"/>
          </a:solidFill>
          <a:ln/>
        </p:spPr>
      </p:sp>
      <p:sp>
        <p:nvSpPr>
          <p:cNvPr id="28" name="Shape 24"/>
          <p:cNvSpPr/>
          <p:nvPr/>
        </p:nvSpPr>
        <p:spPr>
          <a:xfrm>
            <a:off x="5208880" y="1691640"/>
            <a:ext cx="91440" cy="91440"/>
          </a:xfrm>
          <a:prstGeom prst="ellipse">
            <a:avLst/>
          </a:prstGeom>
          <a:solidFill>
            <a:srgbClr val="FF5F56"/>
          </a:solidFill>
          <a:ln/>
        </p:spPr>
      </p:sp>
      <p:sp>
        <p:nvSpPr>
          <p:cNvPr id="29" name="Shape 25"/>
          <p:cNvSpPr/>
          <p:nvPr/>
        </p:nvSpPr>
        <p:spPr>
          <a:xfrm>
            <a:off x="5355184" y="1691640"/>
            <a:ext cx="91440" cy="91440"/>
          </a:xfrm>
          <a:prstGeom prst="ellipse">
            <a:avLst/>
          </a:prstGeom>
          <a:solidFill>
            <a:srgbClr val="FFBD2E"/>
          </a:solidFill>
          <a:ln/>
        </p:spPr>
      </p:sp>
      <p:sp>
        <p:nvSpPr>
          <p:cNvPr id="30" name="Shape 26"/>
          <p:cNvSpPr/>
          <p:nvPr/>
        </p:nvSpPr>
        <p:spPr>
          <a:xfrm>
            <a:off x="5501488" y="1691640"/>
            <a:ext cx="91440" cy="91440"/>
          </a:xfrm>
          <a:prstGeom prst="ellipse">
            <a:avLst/>
          </a:prstGeom>
          <a:solidFill>
            <a:srgbClr val="27C93F"/>
          </a:solidFill>
          <a:ln/>
        </p:spPr>
      </p:sp>
      <p:sp>
        <p:nvSpPr>
          <p:cNvPr id="31" name="Shape 27"/>
          <p:cNvSpPr/>
          <p:nvPr/>
        </p:nvSpPr>
        <p:spPr>
          <a:xfrm>
            <a:off x="5117440" y="1938528"/>
            <a:ext cx="1956816" cy="2542032"/>
          </a:xfrm>
          <a:prstGeom prst="rect">
            <a:avLst/>
          </a:prstGeom>
          <a:solidFill>
            <a:srgbClr val="15122A"/>
          </a:solidFill>
          <a:ln/>
        </p:spPr>
      </p:sp>
      <p:sp>
        <p:nvSpPr>
          <p:cNvPr id="32" name="Shape 28"/>
          <p:cNvSpPr/>
          <p:nvPr/>
        </p:nvSpPr>
        <p:spPr>
          <a:xfrm>
            <a:off x="5867248" y="2971800"/>
            <a:ext cx="457200" cy="457200"/>
          </a:xfrm>
          <a:prstGeom prst="ellipse">
            <a:avLst/>
          </a:prstGeom>
          <a:solidFill>
            <a:srgbClr val="F4C63D"/>
          </a:solidFill>
          <a:ln/>
        </p:spPr>
      </p:sp>
      <p:pic>
        <p:nvPicPr>
          <p:cNvPr id="33" name="Image 2" descr="/home/claude/afritalent-ppt/icons/mobile.png"/>
          <p:cNvPicPr>
            <a:picLocks noChangeAspect="1"/>
          </p:cNvPicPr>
          <p:nvPr/>
        </p:nvPicPr>
        <p:blipFill>
          <a:blip r:embed="rId3"/>
          <a:stretch>
            <a:fillRect/>
          </a:stretch>
        </p:blipFill>
        <p:spPr>
          <a:xfrm>
            <a:off x="5970118" y="3074670"/>
            <a:ext cx="251460" cy="251460"/>
          </a:xfrm>
          <a:prstGeom prst="rect">
            <a:avLst/>
          </a:prstGeom>
        </p:spPr>
      </p:pic>
      <p:sp>
        <p:nvSpPr>
          <p:cNvPr id="34" name="Text 29"/>
          <p:cNvSpPr/>
          <p:nvPr/>
        </p:nvSpPr>
        <p:spPr>
          <a:xfrm>
            <a:off x="5181448" y="3566160"/>
            <a:ext cx="1828800" cy="274320"/>
          </a:xfrm>
          <a:prstGeom prst="rect">
            <a:avLst/>
          </a:prstGeom>
          <a:noFill/>
          <a:ln/>
        </p:spPr>
        <p:txBody>
          <a:bodyPr wrap="square" lIns="0" tIns="0" rIns="0" bIns="0" rtlCol="0" anchor="ctr"/>
          <a:lstStyle/>
          <a:p>
            <a:pPr marL="0" indent="0" algn="ctr">
              <a:buNone/>
            </a:pPr>
            <a:r>
              <a:rPr lang="en-US" sz="900" i="1" dirty="0">
                <a:solidFill>
                  <a:schemeClr val="bg2"/>
                </a:solidFill>
                <a:ea typeface="Calibri" pitchFamily="34" charset="-122"/>
                <a:cs typeface="Calibri" pitchFamily="34" charset="-120"/>
              </a:rPr>
              <a:t>Capture à insérer</a:t>
            </a:r>
            <a:endParaRPr lang="en-US" sz="900" dirty="0">
              <a:solidFill>
                <a:schemeClr val="bg2"/>
              </a:solidFill>
            </a:endParaRPr>
          </a:p>
        </p:txBody>
      </p:sp>
      <p:sp>
        <p:nvSpPr>
          <p:cNvPr id="35" name="Text 30"/>
          <p:cNvSpPr/>
          <p:nvPr/>
        </p:nvSpPr>
        <p:spPr>
          <a:xfrm>
            <a:off x="5044288" y="4773168"/>
            <a:ext cx="2103120" cy="292608"/>
          </a:xfrm>
          <a:prstGeom prst="rect">
            <a:avLst/>
          </a:prstGeom>
          <a:noFill/>
          <a:ln/>
        </p:spPr>
        <p:txBody>
          <a:bodyPr wrap="square" lIns="0" tIns="0" rIns="0" bIns="0" rtlCol="0" anchor="ctr"/>
          <a:lstStyle/>
          <a:p>
            <a:pPr marL="0" indent="0" algn="ctr">
              <a:buNone/>
            </a:pPr>
            <a:r>
              <a:rPr lang="en-US" sz="1300" b="1" dirty="0">
                <a:solidFill>
                  <a:schemeClr val="bg2"/>
                </a:solidFill>
                <a:ea typeface="Calibri" pitchFamily="34" charset="-122"/>
                <a:cs typeface="Calibri" pitchFamily="34" charset="-120"/>
              </a:rPr>
              <a:t>Tarifs</a:t>
            </a:r>
            <a:endParaRPr lang="en-US" sz="1300" dirty="0">
              <a:solidFill>
                <a:schemeClr val="bg2"/>
              </a:solidFill>
            </a:endParaRPr>
          </a:p>
        </p:txBody>
      </p:sp>
      <p:sp>
        <p:nvSpPr>
          <p:cNvPr id="36" name="Text 31"/>
          <p:cNvSpPr/>
          <p:nvPr/>
        </p:nvSpPr>
        <p:spPr>
          <a:xfrm>
            <a:off x="5044288" y="5047488"/>
            <a:ext cx="2103120" cy="228600"/>
          </a:xfrm>
          <a:prstGeom prst="rect">
            <a:avLst/>
          </a:prstGeom>
          <a:noFill/>
          <a:ln/>
        </p:spPr>
        <p:txBody>
          <a:bodyPr wrap="square" lIns="0" tIns="0" rIns="0" bIns="0" rtlCol="0" anchor="ctr"/>
          <a:lstStyle/>
          <a:p>
            <a:pPr marL="0" indent="0" algn="ctr">
              <a:buNone/>
            </a:pPr>
            <a:r>
              <a:rPr lang="en-US" sz="950" dirty="0">
                <a:solidFill>
                  <a:schemeClr val="bg2"/>
                </a:solidFill>
                <a:ea typeface="Courier New" pitchFamily="34" charset="-122"/>
                <a:cs typeface="Courier New" pitchFamily="34" charset="-120"/>
              </a:rPr>
              <a:t>tarifs.html</a:t>
            </a:r>
            <a:endParaRPr lang="en-US" sz="950" dirty="0">
              <a:solidFill>
                <a:schemeClr val="bg2"/>
              </a:solidFill>
            </a:endParaRPr>
          </a:p>
        </p:txBody>
      </p:sp>
      <p:sp>
        <p:nvSpPr>
          <p:cNvPr id="37" name="Shape 32"/>
          <p:cNvSpPr/>
          <p:nvPr/>
        </p:nvSpPr>
        <p:spPr>
          <a:xfrm>
            <a:off x="7348576" y="1554480"/>
            <a:ext cx="2103120" cy="3108960"/>
          </a:xfrm>
          <a:prstGeom prst="roundRect">
            <a:avLst>
              <a:gd name="adj" fmla="val 4348"/>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39" name="Shape 34"/>
          <p:cNvSpPr/>
          <p:nvPr/>
        </p:nvSpPr>
        <p:spPr>
          <a:xfrm>
            <a:off x="7513168" y="1691640"/>
            <a:ext cx="91440" cy="91440"/>
          </a:xfrm>
          <a:prstGeom prst="ellipse">
            <a:avLst/>
          </a:prstGeom>
          <a:solidFill>
            <a:srgbClr val="FF5F56"/>
          </a:solidFill>
          <a:ln/>
        </p:spPr>
      </p:sp>
      <p:sp>
        <p:nvSpPr>
          <p:cNvPr id="41" name="Shape 36"/>
          <p:cNvSpPr/>
          <p:nvPr/>
        </p:nvSpPr>
        <p:spPr>
          <a:xfrm>
            <a:off x="7805776" y="1691640"/>
            <a:ext cx="91440" cy="91440"/>
          </a:xfrm>
          <a:prstGeom prst="ellipse">
            <a:avLst/>
          </a:prstGeom>
          <a:solidFill>
            <a:srgbClr val="27C93F"/>
          </a:solidFill>
          <a:ln/>
        </p:spPr>
      </p:sp>
      <p:sp>
        <p:nvSpPr>
          <p:cNvPr id="42" name="Shape 37"/>
          <p:cNvSpPr/>
          <p:nvPr/>
        </p:nvSpPr>
        <p:spPr>
          <a:xfrm>
            <a:off x="7421728" y="1938528"/>
            <a:ext cx="1956816" cy="2542032"/>
          </a:xfrm>
          <a:prstGeom prst="rect">
            <a:avLst/>
          </a:prstGeom>
          <a:solidFill>
            <a:srgbClr val="15122A"/>
          </a:solidFill>
          <a:ln/>
        </p:spPr>
      </p:sp>
      <p:sp>
        <p:nvSpPr>
          <p:cNvPr id="43" name="Shape 38"/>
          <p:cNvSpPr/>
          <p:nvPr/>
        </p:nvSpPr>
        <p:spPr>
          <a:xfrm>
            <a:off x="8171536" y="2971800"/>
            <a:ext cx="457200" cy="457200"/>
          </a:xfrm>
          <a:prstGeom prst="ellipse">
            <a:avLst/>
          </a:prstGeom>
          <a:solidFill>
            <a:srgbClr val="FF6B9D"/>
          </a:solidFill>
          <a:ln/>
        </p:spPr>
      </p:sp>
      <p:pic>
        <p:nvPicPr>
          <p:cNvPr id="44" name="Image 3" descr="/home/claude/afritalent-ppt/icons/mobile.png"/>
          <p:cNvPicPr>
            <a:picLocks noChangeAspect="1"/>
          </p:cNvPicPr>
          <p:nvPr/>
        </p:nvPicPr>
        <p:blipFill>
          <a:blip r:embed="rId3"/>
          <a:stretch>
            <a:fillRect/>
          </a:stretch>
        </p:blipFill>
        <p:spPr>
          <a:xfrm>
            <a:off x="8274406" y="3074670"/>
            <a:ext cx="251460" cy="251460"/>
          </a:xfrm>
          <a:prstGeom prst="rect">
            <a:avLst/>
          </a:prstGeom>
        </p:spPr>
      </p:pic>
      <p:sp>
        <p:nvSpPr>
          <p:cNvPr id="45" name="Text 39"/>
          <p:cNvSpPr/>
          <p:nvPr/>
        </p:nvSpPr>
        <p:spPr>
          <a:xfrm>
            <a:off x="7485736" y="3566160"/>
            <a:ext cx="1828800" cy="274320"/>
          </a:xfrm>
          <a:prstGeom prst="rect">
            <a:avLst/>
          </a:prstGeom>
          <a:noFill/>
          <a:ln/>
        </p:spPr>
        <p:txBody>
          <a:bodyPr wrap="square" lIns="0" tIns="0" rIns="0" bIns="0" rtlCol="0" anchor="ctr"/>
          <a:lstStyle/>
          <a:p>
            <a:pPr marL="0" indent="0" algn="ctr">
              <a:buNone/>
            </a:pPr>
            <a:r>
              <a:rPr lang="en-US" sz="900" i="1" dirty="0">
                <a:solidFill>
                  <a:schemeClr val="bg2"/>
                </a:solidFill>
                <a:ea typeface="Calibri" pitchFamily="34" charset="-122"/>
                <a:cs typeface="Calibri" pitchFamily="34" charset="-120"/>
              </a:rPr>
              <a:t>Capture à insérer</a:t>
            </a:r>
            <a:endParaRPr lang="en-US" sz="900" dirty="0">
              <a:solidFill>
                <a:schemeClr val="bg2"/>
              </a:solidFill>
            </a:endParaRPr>
          </a:p>
        </p:txBody>
      </p:sp>
      <p:sp>
        <p:nvSpPr>
          <p:cNvPr id="46" name="Text 40"/>
          <p:cNvSpPr/>
          <p:nvPr/>
        </p:nvSpPr>
        <p:spPr>
          <a:xfrm>
            <a:off x="7348576" y="4773168"/>
            <a:ext cx="2103120" cy="292608"/>
          </a:xfrm>
          <a:prstGeom prst="rect">
            <a:avLst/>
          </a:prstGeom>
          <a:noFill/>
          <a:ln/>
        </p:spPr>
        <p:txBody>
          <a:bodyPr wrap="square" lIns="0" tIns="0" rIns="0" bIns="0" rtlCol="0" anchor="ctr"/>
          <a:lstStyle/>
          <a:p>
            <a:pPr marL="0" indent="0" algn="ctr">
              <a:buNone/>
            </a:pPr>
            <a:r>
              <a:rPr lang="en-US" sz="1300" b="1" dirty="0">
                <a:solidFill>
                  <a:schemeClr val="bg2"/>
                </a:solidFill>
                <a:ea typeface="Calibri" pitchFamily="34" charset="-122"/>
                <a:cs typeface="Calibri" pitchFamily="34" charset="-120"/>
              </a:rPr>
              <a:t>Contact</a:t>
            </a:r>
            <a:endParaRPr lang="en-US" sz="1300" dirty="0">
              <a:solidFill>
                <a:schemeClr val="bg2"/>
              </a:solidFill>
            </a:endParaRPr>
          </a:p>
        </p:txBody>
      </p:sp>
      <p:sp>
        <p:nvSpPr>
          <p:cNvPr id="47" name="Text 41"/>
          <p:cNvSpPr/>
          <p:nvPr/>
        </p:nvSpPr>
        <p:spPr>
          <a:xfrm>
            <a:off x="7348576" y="5047488"/>
            <a:ext cx="2103120" cy="228600"/>
          </a:xfrm>
          <a:prstGeom prst="rect">
            <a:avLst/>
          </a:prstGeom>
          <a:noFill/>
          <a:ln/>
        </p:spPr>
        <p:txBody>
          <a:bodyPr wrap="square" lIns="0" tIns="0" rIns="0" bIns="0" rtlCol="0" anchor="ctr"/>
          <a:lstStyle/>
          <a:p>
            <a:pPr marL="0" indent="0" algn="ctr">
              <a:buNone/>
            </a:pPr>
            <a:r>
              <a:rPr lang="en-US" sz="950" dirty="0">
                <a:solidFill>
                  <a:schemeClr val="bg2"/>
                </a:solidFill>
                <a:ea typeface="Courier New" pitchFamily="34" charset="-122"/>
                <a:cs typeface="Courier New" pitchFamily="34" charset="-120"/>
              </a:rPr>
              <a:t>contact.html</a:t>
            </a:r>
            <a:endParaRPr lang="en-US" sz="950" dirty="0">
              <a:solidFill>
                <a:schemeClr val="bg2"/>
              </a:solidFill>
            </a:endParaRPr>
          </a:p>
        </p:txBody>
      </p:sp>
      <p:sp>
        <p:nvSpPr>
          <p:cNvPr id="48" name="Shape 42"/>
          <p:cNvSpPr/>
          <p:nvPr/>
        </p:nvSpPr>
        <p:spPr>
          <a:xfrm>
            <a:off x="9652864" y="1554480"/>
            <a:ext cx="2103120" cy="3108960"/>
          </a:xfrm>
          <a:prstGeom prst="roundRect">
            <a:avLst>
              <a:gd name="adj" fmla="val 4348"/>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49" name="Shape 43"/>
          <p:cNvSpPr/>
          <p:nvPr/>
        </p:nvSpPr>
        <p:spPr>
          <a:xfrm>
            <a:off x="9726016" y="1627632"/>
            <a:ext cx="1956816" cy="237744"/>
          </a:xfrm>
          <a:prstGeom prst="roundRect">
            <a:avLst>
              <a:gd name="adj" fmla="val 19231"/>
            </a:avLst>
          </a:prstGeom>
          <a:solidFill>
            <a:srgbClr val="1B1733"/>
          </a:solidFill>
          <a:ln/>
        </p:spPr>
      </p:sp>
      <p:sp>
        <p:nvSpPr>
          <p:cNvPr id="50" name="Shape 44"/>
          <p:cNvSpPr/>
          <p:nvPr/>
        </p:nvSpPr>
        <p:spPr>
          <a:xfrm>
            <a:off x="9817456" y="1691640"/>
            <a:ext cx="91440" cy="91440"/>
          </a:xfrm>
          <a:prstGeom prst="ellipse">
            <a:avLst/>
          </a:prstGeom>
          <a:solidFill>
            <a:srgbClr val="FF5F56"/>
          </a:solidFill>
          <a:ln/>
        </p:spPr>
      </p:sp>
      <p:sp>
        <p:nvSpPr>
          <p:cNvPr id="51" name="Shape 45"/>
          <p:cNvSpPr/>
          <p:nvPr/>
        </p:nvSpPr>
        <p:spPr>
          <a:xfrm>
            <a:off x="9963760" y="1691640"/>
            <a:ext cx="91440" cy="91440"/>
          </a:xfrm>
          <a:prstGeom prst="ellipse">
            <a:avLst/>
          </a:prstGeom>
          <a:solidFill>
            <a:srgbClr val="FFBD2E"/>
          </a:solidFill>
          <a:ln/>
        </p:spPr>
      </p:sp>
      <p:sp>
        <p:nvSpPr>
          <p:cNvPr id="52" name="Shape 46"/>
          <p:cNvSpPr/>
          <p:nvPr/>
        </p:nvSpPr>
        <p:spPr>
          <a:xfrm>
            <a:off x="10110064" y="1691640"/>
            <a:ext cx="91440" cy="91440"/>
          </a:xfrm>
          <a:prstGeom prst="ellipse">
            <a:avLst/>
          </a:prstGeom>
          <a:solidFill>
            <a:srgbClr val="27C93F"/>
          </a:solidFill>
          <a:ln/>
        </p:spPr>
      </p:sp>
      <p:sp>
        <p:nvSpPr>
          <p:cNvPr id="53" name="Shape 47"/>
          <p:cNvSpPr/>
          <p:nvPr/>
        </p:nvSpPr>
        <p:spPr>
          <a:xfrm>
            <a:off x="9726016" y="1938528"/>
            <a:ext cx="1956816" cy="2542032"/>
          </a:xfrm>
          <a:prstGeom prst="rect">
            <a:avLst/>
          </a:prstGeom>
          <a:solidFill>
            <a:srgbClr val="15122A"/>
          </a:solidFill>
          <a:ln/>
        </p:spPr>
      </p:sp>
      <p:sp>
        <p:nvSpPr>
          <p:cNvPr id="54" name="Shape 48"/>
          <p:cNvSpPr/>
          <p:nvPr/>
        </p:nvSpPr>
        <p:spPr>
          <a:xfrm>
            <a:off x="10475824" y="2971800"/>
            <a:ext cx="457200" cy="457200"/>
          </a:xfrm>
          <a:prstGeom prst="ellipse">
            <a:avLst/>
          </a:prstGeom>
          <a:solidFill>
            <a:srgbClr val="60A5FA"/>
          </a:solidFill>
          <a:ln/>
        </p:spPr>
      </p:sp>
      <p:pic>
        <p:nvPicPr>
          <p:cNvPr id="55" name="Image 4" descr="/home/claude/afritalent-ppt/icons/mobile.png"/>
          <p:cNvPicPr>
            <a:picLocks noChangeAspect="1"/>
          </p:cNvPicPr>
          <p:nvPr/>
        </p:nvPicPr>
        <p:blipFill>
          <a:blip r:embed="rId3"/>
          <a:stretch>
            <a:fillRect/>
          </a:stretch>
        </p:blipFill>
        <p:spPr>
          <a:xfrm>
            <a:off x="10578694" y="3074670"/>
            <a:ext cx="251460" cy="251460"/>
          </a:xfrm>
          <a:prstGeom prst="rect">
            <a:avLst/>
          </a:prstGeom>
        </p:spPr>
      </p:pic>
      <p:sp>
        <p:nvSpPr>
          <p:cNvPr id="56" name="Text 49"/>
          <p:cNvSpPr/>
          <p:nvPr/>
        </p:nvSpPr>
        <p:spPr>
          <a:xfrm>
            <a:off x="9790024" y="3566160"/>
            <a:ext cx="1828800" cy="274320"/>
          </a:xfrm>
          <a:prstGeom prst="rect">
            <a:avLst/>
          </a:prstGeom>
          <a:noFill/>
          <a:ln/>
        </p:spPr>
        <p:txBody>
          <a:bodyPr wrap="square" lIns="0" tIns="0" rIns="0" bIns="0" rtlCol="0" anchor="ctr"/>
          <a:lstStyle/>
          <a:p>
            <a:pPr marL="0" indent="0" algn="ctr">
              <a:buNone/>
            </a:pPr>
            <a:r>
              <a:rPr lang="en-US" sz="900" i="1" dirty="0">
                <a:solidFill>
                  <a:schemeClr val="bg2"/>
                </a:solidFill>
                <a:ea typeface="Calibri" pitchFamily="34" charset="-122"/>
                <a:cs typeface="Calibri" pitchFamily="34" charset="-120"/>
              </a:rPr>
              <a:t>Capture à insérer</a:t>
            </a:r>
            <a:endParaRPr lang="en-US" sz="900" dirty="0">
              <a:solidFill>
                <a:schemeClr val="bg2"/>
              </a:solidFill>
            </a:endParaRPr>
          </a:p>
        </p:txBody>
      </p:sp>
      <p:sp>
        <p:nvSpPr>
          <p:cNvPr id="57" name="Text 50"/>
          <p:cNvSpPr/>
          <p:nvPr/>
        </p:nvSpPr>
        <p:spPr>
          <a:xfrm>
            <a:off x="9652864" y="4773168"/>
            <a:ext cx="2103120" cy="292608"/>
          </a:xfrm>
          <a:prstGeom prst="rect">
            <a:avLst/>
          </a:prstGeom>
          <a:noFill/>
          <a:ln/>
        </p:spPr>
        <p:txBody>
          <a:bodyPr wrap="square" lIns="0" tIns="0" rIns="0" bIns="0" rtlCol="0" anchor="ctr"/>
          <a:lstStyle/>
          <a:p>
            <a:pPr marL="0" indent="0" algn="ctr">
              <a:buNone/>
            </a:pPr>
            <a:r>
              <a:rPr lang="en-US" sz="1300" b="1" dirty="0">
                <a:solidFill>
                  <a:schemeClr val="bg2"/>
                </a:solidFill>
                <a:ea typeface="Calibri" pitchFamily="34" charset="-122"/>
                <a:cs typeface="Calibri" pitchFamily="34" charset="-120"/>
              </a:rPr>
              <a:t>Notre histoire</a:t>
            </a:r>
            <a:endParaRPr lang="en-US" sz="1300" dirty="0">
              <a:solidFill>
                <a:schemeClr val="bg2"/>
              </a:solidFill>
            </a:endParaRPr>
          </a:p>
        </p:txBody>
      </p:sp>
      <p:sp>
        <p:nvSpPr>
          <p:cNvPr id="58" name="Text 51"/>
          <p:cNvSpPr/>
          <p:nvPr/>
        </p:nvSpPr>
        <p:spPr>
          <a:xfrm>
            <a:off x="9652864" y="5047488"/>
            <a:ext cx="2103120" cy="228600"/>
          </a:xfrm>
          <a:prstGeom prst="rect">
            <a:avLst/>
          </a:prstGeom>
          <a:noFill/>
          <a:ln/>
        </p:spPr>
        <p:txBody>
          <a:bodyPr wrap="square" lIns="0" tIns="0" rIns="0" bIns="0" rtlCol="0" anchor="ctr"/>
          <a:lstStyle/>
          <a:p>
            <a:pPr marL="0" indent="0" algn="ctr">
              <a:buNone/>
            </a:pPr>
            <a:r>
              <a:rPr lang="en-US" sz="950" dirty="0">
                <a:solidFill>
                  <a:schemeClr val="bg2"/>
                </a:solidFill>
                <a:ea typeface="Courier New" pitchFamily="34" charset="-122"/>
                <a:cs typeface="Courier New" pitchFamily="34" charset="-120"/>
              </a:rPr>
              <a:t>about.html</a:t>
            </a:r>
            <a:endParaRPr lang="en-US" sz="950" dirty="0">
              <a:solidFill>
                <a:schemeClr val="bg2"/>
              </a:solidFill>
            </a:endParaRPr>
          </a:p>
        </p:txBody>
      </p:sp>
      <p:sp>
        <p:nvSpPr>
          <p:cNvPr id="59" name="Text 52"/>
          <p:cNvSpPr/>
          <p:nvPr/>
        </p:nvSpPr>
        <p:spPr>
          <a:xfrm>
            <a:off x="548640" y="6263640"/>
            <a:ext cx="11064240" cy="274320"/>
          </a:xfrm>
          <a:prstGeom prst="rect">
            <a:avLst/>
          </a:prstGeom>
          <a:noFill/>
          <a:ln/>
        </p:spPr>
        <p:txBody>
          <a:bodyPr wrap="square" lIns="0" tIns="0" rIns="0" bIns="0" rtlCol="0" anchor="ctr"/>
          <a:lstStyle/>
          <a:p>
            <a:pPr marL="0" indent="0" algn="ctr">
              <a:buNone/>
            </a:pPr>
            <a:endParaRPr lang="en-US" sz="1100" dirty="0">
              <a:solidFill>
                <a:schemeClr val="bg2"/>
              </a:solidFill>
            </a:endParaRPr>
          </a:p>
        </p:txBody>
      </p:sp>
      <p:sp>
        <p:nvSpPr>
          <p:cNvPr id="60" name="Text 53"/>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ea typeface="Calibri" pitchFamily="34" charset="-122"/>
                <a:cs typeface="Calibri" pitchFamily="34" charset="-120"/>
              </a:rPr>
              <a:t>07</a:t>
            </a:r>
            <a:endParaRPr lang="en-US" sz="1000" dirty="0">
              <a:solidFill>
                <a:schemeClr val="bg2"/>
              </a:solidFill>
            </a:endParaRPr>
          </a:p>
        </p:txBody>
      </p:sp>
      <p:sp>
        <p:nvSpPr>
          <p:cNvPr id="61" name="Text 54"/>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endParaRPr>
          </a:p>
        </p:txBody>
      </p:sp>
      <p:pic>
        <p:nvPicPr>
          <p:cNvPr id="63" name="Image 62">
            <a:extLst>
              <a:ext uri="{FF2B5EF4-FFF2-40B4-BE49-F238E27FC236}">
                <a16:creationId xmlns:a16="http://schemas.microsoft.com/office/drawing/2014/main" id="{250FE23F-807A-6DC2-4261-0F2810E4AD7E}"/>
              </a:ext>
            </a:extLst>
          </p:cNvPr>
          <p:cNvPicPr>
            <a:picLocks noChangeAspect="1"/>
          </p:cNvPicPr>
          <p:nvPr/>
        </p:nvPicPr>
        <p:blipFill>
          <a:blip r:embed="rId4"/>
          <a:stretch>
            <a:fillRect/>
          </a:stretch>
        </p:blipFill>
        <p:spPr>
          <a:xfrm>
            <a:off x="87783" y="1591056"/>
            <a:ext cx="2377897" cy="3072384"/>
          </a:xfrm>
          <a:prstGeom prst="rect">
            <a:avLst/>
          </a:prstGeom>
        </p:spPr>
      </p:pic>
      <p:pic>
        <p:nvPicPr>
          <p:cNvPr id="65" name="Image 64">
            <a:extLst>
              <a:ext uri="{FF2B5EF4-FFF2-40B4-BE49-F238E27FC236}">
                <a16:creationId xmlns:a16="http://schemas.microsoft.com/office/drawing/2014/main" id="{D7DCDAE8-FD04-F4AC-4BB0-3C612D50EEBA}"/>
              </a:ext>
            </a:extLst>
          </p:cNvPr>
          <p:cNvPicPr>
            <a:picLocks noChangeAspect="1"/>
          </p:cNvPicPr>
          <p:nvPr/>
        </p:nvPicPr>
        <p:blipFill>
          <a:blip r:embed="rId5"/>
          <a:stretch>
            <a:fillRect/>
          </a:stretch>
        </p:blipFill>
        <p:spPr>
          <a:xfrm>
            <a:off x="2593697" y="1581912"/>
            <a:ext cx="2243938" cy="3108960"/>
          </a:xfrm>
          <a:prstGeom prst="rect">
            <a:avLst/>
          </a:prstGeom>
        </p:spPr>
      </p:pic>
      <p:pic>
        <p:nvPicPr>
          <p:cNvPr id="67" name="Image 66">
            <a:extLst>
              <a:ext uri="{FF2B5EF4-FFF2-40B4-BE49-F238E27FC236}">
                <a16:creationId xmlns:a16="http://schemas.microsoft.com/office/drawing/2014/main" id="{738DC2B9-72A8-5807-219C-6C773C1527DB}"/>
              </a:ext>
            </a:extLst>
          </p:cNvPr>
          <p:cNvPicPr>
            <a:picLocks noChangeAspect="1"/>
          </p:cNvPicPr>
          <p:nvPr/>
        </p:nvPicPr>
        <p:blipFill>
          <a:blip r:embed="rId6"/>
          <a:stretch>
            <a:fillRect/>
          </a:stretch>
        </p:blipFill>
        <p:spPr>
          <a:xfrm>
            <a:off x="4929074" y="1536192"/>
            <a:ext cx="2389783" cy="3236976"/>
          </a:xfrm>
          <a:prstGeom prst="rect">
            <a:avLst/>
          </a:prstGeom>
        </p:spPr>
      </p:pic>
      <p:pic>
        <p:nvPicPr>
          <p:cNvPr id="69" name="Image 68">
            <a:extLst>
              <a:ext uri="{FF2B5EF4-FFF2-40B4-BE49-F238E27FC236}">
                <a16:creationId xmlns:a16="http://schemas.microsoft.com/office/drawing/2014/main" id="{507888D1-EB3E-A1A7-7F11-F3E56AF4AC59}"/>
              </a:ext>
            </a:extLst>
          </p:cNvPr>
          <p:cNvPicPr>
            <a:picLocks noChangeAspect="1"/>
          </p:cNvPicPr>
          <p:nvPr/>
        </p:nvPicPr>
        <p:blipFill>
          <a:blip r:embed="rId7"/>
          <a:stretch>
            <a:fillRect/>
          </a:stretch>
        </p:blipFill>
        <p:spPr>
          <a:xfrm>
            <a:off x="9554565" y="1536192"/>
            <a:ext cx="2498597" cy="3099816"/>
          </a:xfrm>
          <a:prstGeom prst="rect">
            <a:avLst/>
          </a:prstGeom>
        </p:spPr>
      </p:pic>
      <p:pic>
        <p:nvPicPr>
          <p:cNvPr id="71" name="Image 70">
            <a:extLst>
              <a:ext uri="{FF2B5EF4-FFF2-40B4-BE49-F238E27FC236}">
                <a16:creationId xmlns:a16="http://schemas.microsoft.com/office/drawing/2014/main" id="{164E9116-EC85-AC45-1E87-9B8BFDC309F7}"/>
              </a:ext>
            </a:extLst>
          </p:cNvPr>
          <p:cNvPicPr>
            <a:picLocks noChangeAspect="1"/>
          </p:cNvPicPr>
          <p:nvPr/>
        </p:nvPicPr>
        <p:blipFill>
          <a:blip r:embed="rId8"/>
          <a:stretch>
            <a:fillRect/>
          </a:stretch>
        </p:blipFill>
        <p:spPr>
          <a:xfrm>
            <a:off x="7318858" y="1536192"/>
            <a:ext cx="2498598" cy="3154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706753" y="234135"/>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POINTS TECHNIQUES</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3003082" y="554175"/>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JavaScript — extraits &amp; logique</a:t>
            </a:r>
            <a:endParaRPr lang="en-US" sz="3200"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463040"/>
            <a:ext cx="5943600" cy="4617720"/>
          </a:xfrm>
          <a:prstGeom prst="roundRect">
            <a:avLst>
              <a:gd name="adj" fmla="val 1980"/>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9" name="Text 7"/>
          <p:cNvSpPr/>
          <p:nvPr/>
        </p:nvSpPr>
        <p:spPr>
          <a:xfrm>
            <a:off x="640080" y="1554480"/>
            <a:ext cx="5760720" cy="274320"/>
          </a:xfrm>
          <a:prstGeom prst="rect">
            <a:avLst/>
          </a:prstGeom>
          <a:noFill/>
          <a:ln/>
        </p:spPr>
        <p:txBody>
          <a:bodyPr wrap="square" lIns="0" tIns="0" rIns="0" bIns="0" rtlCol="0" anchor="ctr"/>
          <a:lstStyle/>
          <a:p>
            <a:pPr marL="0" indent="0" algn="ctr">
              <a:buNone/>
            </a:pPr>
            <a:r>
              <a:rPr lang="en-US" sz="1050" dirty="0">
                <a:solidFill>
                  <a:schemeClr val="bg2"/>
                </a:solidFill>
                <a:latin typeface="Arial" panose="020B0604020202020204" pitchFamily="34" charset="0"/>
                <a:ea typeface="Courier New" pitchFamily="34" charset="-122"/>
                <a:cs typeface="Arial" panose="020B0604020202020204" pitchFamily="34" charset="0"/>
              </a:rPr>
              <a:t>main.js</a:t>
            </a:r>
            <a:endParaRPr lang="en-US" sz="1050" dirty="0">
              <a:solidFill>
                <a:schemeClr val="bg2"/>
              </a:solidFill>
              <a:latin typeface="Arial" panose="020B0604020202020204" pitchFamily="34" charset="0"/>
              <a:cs typeface="Arial" panose="020B0604020202020204" pitchFamily="34" charset="0"/>
            </a:endParaRPr>
          </a:p>
        </p:txBody>
      </p:sp>
      <p:sp>
        <p:nvSpPr>
          <p:cNvPr id="10" name="Text 8"/>
          <p:cNvSpPr/>
          <p:nvPr/>
        </p:nvSpPr>
        <p:spPr>
          <a:xfrm>
            <a:off x="822960" y="2011680"/>
            <a:ext cx="5394960" cy="1737360"/>
          </a:xfrm>
          <a:prstGeom prst="rect">
            <a:avLst/>
          </a:prstGeom>
          <a:noFill/>
          <a:ln/>
        </p:spPr>
        <p:txBody>
          <a:bodyPr wrap="square" lIns="0" tIns="0" rIns="0" bIns="0" rtlCol="0" anchor="t"/>
          <a:lstStyle/>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function startCounter(id, max, speed) {</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let count = 0;</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let interval = setInterval(() =&gt; {</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count++;</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compteur.textContent = count;</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if (count &gt;= max) clearInterval(interval);</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 speed);</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a:t>
            </a:r>
            <a:endParaRPr lang="en-US" sz="1100" dirty="0">
              <a:solidFill>
                <a:schemeClr val="bg2"/>
              </a:solidFill>
              <a:latin typeface="Arial" panose="020B0604020202020204" pitchFamily="34" charset="0"/>
              <a:cs typeface="Arial" panose="020B0604020202020204" pitchFamily="34" charset="0"/>
            </a:endParaRPr>
          </a:p>
        </p:txBody>
      </p:sp>
      <p:sp>
        <p:nvSpPr>
          <p:cNvPr id="11" name="Text 9"/>
          <p:cNvSpPr/>
          <p:nvPr/>
        </p:nvSpPr>
        <p:spPr>
          <a:xfrm>
            <a:off x="822960" y="3977640"/>
            <a:ext cx="5394960" cy="1737360"/>
          </a:xfrm>
          <a:prstGeom prst="rect">
            <a:avLst/>
          </a:prstGeom>
          <a:noFill/>
          <a:ln/>
        </p:spPr>
        <p:txBody>
          <a:bodyPr wrap="square" lIns="0" tIns="0" rIns="0" bIns="0" rtlCol="0" anchor="t"/>
          <a:lstStyle/>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const observer = new IntersectionObserver((entries) =&gt; {</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entries.forEach(entry =&gt; {</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if (entry.isIntersecting)</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entry.target.classList.add('show');</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 threshold: 0.15 });</a:t>
            </a:r>
            <a:endParaRPr lang="en-US" sz="1100" dirty="0">
              <a:solidFill>
                <a:schemeClr val="bg2"/>
              </a:solidFill>
              <a:latin typeface="Arial" panose="020B0604020202020204" pitchFamily="34" charset="0"/>
              <a:cs typeface="Arial" panose="020B0604020202020204" pitchFamily="34" charset="0"/>
            </a:endParaRPr>
          </a:p>
        </p:txBody>
      </p:sp>
      <p:sp>
        <p:nvSpPr>
          <p:cNvPr id="12" name="Shape 10"/>
          <p:cNvSpPr/>
          <p:nvPr/>
        </p:nvSpPr>
        <p:spPr>
          <a:xfrm>
            <a:off x="6766560" y="1463040"/>
            <a:ext cx="4892040" cy="777240"/>
          </a:xfrm>
          <a:prstGeom prst="roundRect">
            <a:avLst>
              <a:gd name="adj" fmla="val 11765"/>
            </a:avLst>
          </a:prstGeom>
          <a:solidFill>
            <a:srgbClr val="161425"/>
          </a:solidFill>
          <a:ln w="12700">
            <a:solidFill>
              <a:srgbClr val="2A2545"/>
            </a:solidFill>
            <a:prstDash val="solid"/>
          </a:ln>
        </p:spPr>
      </p:sp>
      <p:sp>
        <p:nvSpPr>
          <p:cNvPr id="15" name="Text 12"/>
          <p:cNvSpPr/>
          <p:nvPr/>
        </p:nvSpPr>
        <p:spPr>
          <a:xfrm>
            <a:off x="7424928" y="1527048"/>
            <a:ext cx="406908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alibri" pitchFamily="34" charset="-122"/>
                <a:cs typeface="Arial" panose="020B0604020202020204" pitchFamily="34" charset="0"/>
              </a:rPr>
              <a:t>Compteurs animés</a:t>
            </a:r>
            <a:endParaRPr lang="en-US" sz="1250" dirty="0">
              <a:solidFill>
                <a:schemeClr val="bg2"/>
              </a:solidFill>
              <a:latin typeface="Arial" panose="020B0604020202020204" pitchFamily="34" charset="0"/>
              <a:cs typeface="Arial" panose="020B0604020202020204" pitchFamily="34" charset="0"/>
            </a:endParaRPr>
          </a:p>
        </p:txBody>
      </p:sp>
      <p:sp>
        <p:nvSpPr>
          <p:cNvPr id="16" name="Text 13"/>
          <p:cNvSpPr/>
          <p:nvPr/>
        </p:nvSpPr>
        <p:spPr>
          <a:xfrm>
            <a:off x="7424928" y="1801368"/>
            <a:ext cx="4069080" cy="411480"/>
          </a:xfrm>
          <a:prstGeom prst="rect">
            <a:avLst/>
          </a:prstGeom>
          <a:noFill/>
          <a:ln/>
        </p:spPr>
        <p:txBody>
          <a:bodyPr wrap="square" lIns="0" tIns="0" rIns="0" bIns="0" rtlCol="0" anchor="ctr"/>
          <a:lstStyle/>
          <a:p>
            <a:pPr marL="0" indent="0">
              <a:lnSpc>
                <a:spcPct val="105000"/>
              </a:lnSpc>
              <a:buNone/>
            </a:pPr>
            <a:r>
              <a:rPr lang="en-US" sz="980" dirty="0">
                <a:solidFill>
                  <a:schemeClr val="bg2"/>
                </a:solidFill>
                <a:latin typeface="Arial" panose="020B0604020202020204" pitchFamily="34" charset="0"/>
                <a:ea typeface="Calibri" pitchFamily="34" charset="-122"/>
                <a:cs typeface="Arial" panose="020B0604020202020204" pitchFamily="34" charset="0"/>
              </a:rPr>
              <a:t>incrémentation progressive via setInterval, déclenchée au chargement (window.onload)</a:t>
            </a:r>
            <a:endParaRPr lang="en-US" sz="980" dirty="0">
              <a:solidFill>
                <a:schemeClr val="bg2"/>
              </a:solidFill>
              <a:latin typeface="Arial" panose="020B0604020202020204" pitchFamily="34" charset="0"/>
              <a:cs typeface="Arial" panose="020B0604020202020204" pitchFamily="34" charset="0"/>
            </a:endParaRPr>
          </a:p>
        </p:txBody>
      </p:sp>
      <p:sp>
        <p:nvSpPr>
          <p:cNvPr id="17" name="Shape 14"/>
          <p:cNvSpPr/>
          <p:nvPr/>
        </p:nvSpPr>
        <p:spPr>
          <a:xfrm>
            <a:off x="6766560" y="2377440"/>
            <a:ext cx="4892040" cy="777240"/>
          </a:xfrm>
          <a:prstGeom prst="roundRect">
            <a:avLst>
              <a:gd name="adj" fmla="val 11765"/>
            </a:avLst>
          </a:prstGeom>
          <a:solidFill>
            <a:srgbClr val="161425"/>
          </a:solidFill>
          <a:ln w="12700">
            <a:solidFill>
              <a:srgbClr val="2A2545"/>
            </a:solidFill>
            <a:prstDash val="solid"/>
          </a:ln>
        </p:spPr>
      </p:sp>
      <p:sp>
        <p:nvSpPr>
          <p:cNvPr id="20" name="Text 16"/>
          <p:cNvSpPr/>
          <p:nvPr/>
        </p:nvSpPr>
        <p:spPr>
          <a:xfrm>
            <a:off x="7424928" y="2441448"/>
            <a:ext cx="406908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alibri" pitchFamily="34" charset="-122"/>
                <a:cs typeface="Arial" panose="020B0604020202020204" pitchFamily="34" charset="0"/>
              </a:rPr>
              <a:t>Apparition au scroll</a:t>
            </a:r>
            <a:endParaRPr lang="en-US" sz="1250" dirty="0">
              <a:solidFill>
                <a:schemeClr val="bg2"/>
              </a:solidFill>
              <a:latin typeface="Arial" panose="020B0604020202020204" pitchFamily="34" charset="0"/>
              <a:cs typeface="Arial" panose="020B0604020202020204" pitchFamily="34" charset="0"/>
            </a:endParaRPr>
          </a:p>
        </p:txBody>
      </p:sp>
      <p:sp>
        <p:nvSpPr>
          <p:cNvPr id="21" name="Text 17"/>
          <p:cNvSpPr/>
          <p:nvPr/>
        </p:nvSpPr>
        <p:spPr>
          <a:xfrm>
            <a:off x="7424928" y="2715768"/>
            <a:ext cx="4069080" cy="411480"/>
          </a:xfrm>
          <a:prstGeom prst="rect">
            <a:avLst/>
          </a:prstGeom>
          <a:noFill/>
          <a:ln/>
        </p:spPr>
        <p:txBody>
          <a:bodyPr wrap="square" lIns="0" tIns="0" rIns="0" bIns="0" rtlCol="0" anchor="ctr"/>
          <a:lstStyle/>
          <a:p>
            <a:pPr marL="0" indent="0">
              <a:lnSpc>
                <a:spcPct val="105000"/>
              </a:lnSpc>
              <a:buNone/>
            </a:pPr>
            <a:r>
              <a:rPr lang="en-US" sz="980" dirty="0">
                <a:solidFill>
                  <a:schemeClr val="bg2"/>
                </a:solidFill>
                <a:latin typeface="Arial" panose="020B0604020202020204" pitchFamily="34" charset="0"/>
                <a:ea typeface="Calibri" pitchFamily="34" charset="-122"/>
                <a:cs typeface="Arial" panose="020B0604020202020204" pitchFamily="34" charset="0"/>
              </a:rPr>
              <a:t>IntersectionObserver ajoute la classe .show dès qu'une section .fade-in entre dans le viewport</a:t>
            </a:r>
            <a:endParaRPr lang="en-US" sz="980" dirty="0">
              <a:solidFill>
                <a:schemeClr val="bg2"/>
              </a:solidFill>
              <a:latin typeface="Arial" panose="020B0604020202020204" pitchFamily="34" charset="0"/>
              <a:cs typeface="Arial" panose="020B0604020202020204" pitchFamily="34" charset="0"/>
            </a:endParaRPr>
          </a:p>
        </p:txBody>
      </p:sp>
      <p:sp>
        <p:nvSpPr>
          <p:cNvPr id="22" name="Shape 18"/>
          <p:cNvSpPr/>
          <p:nvPr/>
        </p:nvSpPr>
        <p:spPr>
          <a:xfrm>
            <a:off x="6766560" y="3291840"/>
            <a:ext cx="4892040" cy="777240"/>
          </a:xfrm>
          <a:prstGeom prst="roundRect">
            <a:avLst>
              <a:gd name="adj" fmla="val 11765"/>
            </a:avLst>
          </a:prstGeom>
          <a:solidFill>
            <a:srgbClr val="161425"/>
          </a:solidFill>
          <a:ln w="12700">
            <a:solidFill>
              <a:srgbClr val="2A2545"/>
            </a:solidFill>
            <a:prstDash val="solid"/>
          </a:ln>
        </p:spPr>
      </p:sp>
      <p:sp>
        <p:nvSpPr>
          <p:cNvPr id="25" name="Text 20"/>
          <p:cNvSpPr/>
          <p:nvPr/>
        </p:nvSpPr>
        <p:spPr>
          <a:xfrm>
            <a:off x="7424928" y="3355848"/>
            <a:ext cx="406908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alibri" pitchFamily="34" charset="-122"/>
                <a:cs typeface="Arial" panose="020B0604020202020204" pitchFamily="34" charset="0"/>
              </a:rPr>
              <a:t>Validation de formulaire</a:t>
            </a:r>
            <a:endParaRPr lang="en-US" sz="1250" dirty="0">
              <a:solidFill>
                <a:schemeClr val="bg2"/>
              </a:solidFill>
              <a:latin typeface="Arial" panose="020B0604020202020204" pitchFamily="34" charset="0"/>
              <a:cs typeface="Arial" panose="020B0604020202020204" pitchFamily="34" charset="0"/>
            </a:endParaRPr>
          </a:p>
        </p:txBody>
      </p:sp>
      <p:sp>
        <p:nvSpPr>
          <p:cNvPr id="26" name="Text 21"/>
          <p:cNvSpPr/>
          <p:nvPr/>
        </p:nvSpPr>
        <p:spPr>
          <a:xfrm>
            <a:off x="7424928" y="3630168"/>
            <a:ext cx="4069080" cy="411480"/>
          </a:xfrm>
          <a:prstGeom prst="rect">
            <a:avLst/>
          </a:prstGeom>
          <a:noFill/>
          <a:ln/>
        </p:spPr>
        <p:txBody>
          <a:bodyPr wrap="square" lIns="0" tIns="0" rIns="0" bIns="0" rtlCol="0" anchor="ctr"/>
          <a:lstStyle/>
          <a:p>
            <a:pPr marL="0" indent="0">
              <a:lnSpc>
                <a:spcPct val="105000"/>
              </a:lnSpc>
              <a:buNone/>
            </a:pPr>
            <a:r>
              <a:rPr lang="en-US" sz="980" dirty="0">
                <a:solidFill>
                  <a:schemeClr val="bg2"/>
                </a:solidFill>
                <a:latin typeface="Arial" panose="020B0604020202020204" pitchFamily="34" charset="0"/>
                <a:ea typeface="Calibri" pitchFamily="34" charset="-122"/>
                <a:cs typeface="Arial" panose="020B0604020202020204" pitchFamily="34" charset="0"/>
              </a:rPr>
              <a:t>regex email + contrôle longueur du message, messages d'erreur ciblés par champ</a:t>
            </a:r>
            <a:endParaRPr lang="en-US" sz="980" dirty="0">
              <a:solidFill>
                <a:schemeClr val="bg2"/>
              </a:solidFill>
              <a:latin typeface="Arial" panose="020B0604020202020204" pitchFamily="34" charset="0"/>
              <a:cs typeface="Arial" panose="020B0604020202020204" pitchFamily="34" charset="0"/>
            </a:endParaRPr>
          </a:p>
        </p:txBody>
      </p:sp>
      <p:sp>
        <p:nvSpPr>
          <p:cNvPr id="27" name="Shape 22"/>
          <p:cNvSpPr/>
          <p:nvPr/>
        </p:nvSpPr>
        <p:spPr>
          <a:xfrm>
            <a:off x="6766560" y="4206240"/>
            <a:ext cx="4892040" cy="777240"/>
          </a:xfrm>
          <a:prstGeom prst="roundRect">
            <a:avLst>
              <a:gd name="adj" fmla="val 11765"/>
            </a:avLst>
          </a:prstGeom>
          <a:solidFill>
            <a:srgbClr val="161425"/>
          </a:solidFill>
          <a:ln w="12700">
            <a:solidFill>
              <a:srgbClr val="2A2545"/>
            </a:solidFill>
            <a:prstDash val="solid"/>
          </a:ln>
        </p:spPr>
      </p:sp>
      <p:sp>
        <p:nvSpPr>
          <p:cNvPr id="30" name="Text 24"/>
          <p:cNvSpPr/>
          <p:nvPr/>
        </p:nvSpPr>
        <p:spPr>
          <a:xfrm>
            <a:off x="7424928" y="4270248"/>
            <a:ext cx="406908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alibri" pitchFamily="34" charset="-122"/>
                <a:cs typeface="Arial" panose="020B0604020202020204" pitchFamily="34" charset="0"/>
              </a:rPr>
              <a:t>Filtrage dynamique</a:t>
            </a:r>
            <a:endParaRPr lang="en-US" sz="1250" dirty="0">
              <a:solidFill>
                <a:schemeClr val="bg2"/>
              </a:solidFill>
              <a:latin typeface="Arial" panose="020B0604020202020204" pitchFamily="34" charset="0"/>
              <a:cs typeface="Arial" panose="020B0604020202020204" pitchFamily="34" charset="0"/>
            </a:endParaRPr>
          </a:p>
        </p:txBody>
      </p:sp>
      <p:sp>
        <p:nvSpPr>
          <p:cNvPr id="31" name="Text 25"/>
          <p:cNvSpPr/>
          <p:nvPr/>
        </p:nvSpPr>
        <p:spPr>
          <a:xfrm>
            <a:off x="7424928" y="4544568"/>
            <a:ext cx="4069080" cy="411480"/>
          </a:xfrm>
          <a:prstGeom prst="rect">
            <a:avLst/>
          </a:prstGeom>
          <a:noFill/>
          <a:ln/>
        </p:spPr>
        <p:txBody>
          <a:bodyPr wrap="square" lIns="0" tIns="0" rIns="0" bIns="0" rtlCol="0" anchor="ctr"/>
          <a:lstStyle/>
          <a:p>
            <a:pPr marL="0" indent="0">
              <a:lnSpc>
                <a:spcPct val="105000"/>
              </a:lnSpc>
              <a:buNone/>
            </a:pPr>
            <a:r>
              <a:rPr lang="en-US" sz="980" dirty="0">
                <a:solidFill>
                  <a:schemeClr val="bg2"/>
                </a:solidFill>
                <a:latin typeface="Arial" panose="020B0604020202020204" pitchFamily="34" charset="0"/>
                <a:ea typeface="Calibri" pitchFamily="34" charset="-122"/>
                <a:cs typeface="Arial" panose="020B0604020202020204" pitchFamily="34" charset="0"/>
              </a:rPr>
              <a:t>filterCards(category) bascule l'affichage des cartes freelances selon data-category</a:t>
            </a:r>
            <a:endParaRPr lang="en-US" sz="980" dirty="0">
              <a:solidFill>
                <a:schemeClr val="bg2"/>
              </a:solidFill>
              <a:latin typeface="Arial" panose="020B0604020202020204" pitchFamily="34" charset="0"/>
              <a:cs typeface="Arial" panose="020B0604020202020204" pitchFamily="34" charset="0"/>
            </a:endParaRPr>
          </a:p>
        </p:txBody>
      </p:sp>
      <p:sp>
        <p:nvSpPr>
          <p:cNvPr id="32" name="Shape 26"/>
          <p:cNvSpPr/>
          <p:nvPr/>
        </p:nvSpPr>
        <p:spPr>
          <a:xfrm>
            <a:off x="6766560" y="5120640"/>
            <a:ext cx="4892040" cy="777240"/>
          </a:xfrm>
          <a:prstGeom prst="roundRect">
            <a:avLst>
              <a:gd name="adj" fmla="val 11765"/>
            </a:avLst>
          </a:prstGeom>
          <a:solidFill>
            <a:srgbClr val="161425"/>
          </a:solidFill>
          <a:ln w="12700">
            <a:solidFill>
              <a:srgbClr val="2A2545"/>
            </a:solidFill>
            <a:prstDash val="solid"/>
          </a:ln>
        </p:spPr>
      </p:sp>
      <p:sp>
        <p:nvSpPr>
          <p:cNvPr id="35" name="Text 28"/>
          <p:cNvSpPr/>
          <p:nvPr/>
        </p:nvSpPr>
        <p:spPr>
          <a:xfrm>
            <a:off x="7424928" y="5184648"/>
            <a:ext cx="406908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alibri" pitchFamily="34" charset="-122"/>
                <a:cs typeface="Arial" panose="020B0604020202020204" pitchFamily="34" charset="0"/>
              </a:rPr>
              <a:t>Thème clair/sombre</a:t>
            </a:r>
            <a:endParaRPr lang="en-US" sz="1250" dirty="0">
              <a:solidFill>
                <a:schemeClr val="bg2"/>
              </a:solidFill>
              <a:latin typeface="Arial" panose="020B0604020202020204" pitchFamily="34" charset="0"/>
              <a:cs typeface="Arial" panose="020B0604020202020204" pitchFamily="34" charset="0"/>
            </a:endParaRPr>
          </a:p>
        </p:txBody>
      </p:sp>
      <p:sp>
        <p:nvSpPr>
          <p:cNvPr id="36" name="Text 29"/>
          <p:cNvSpPr/>
          <p:nvPr/>
        </p:nvSpPr>
        <p:spPr>
          <a:xfrm>
            <a:off x="7424928" y="5458968"/>
            <a:ext cx="4069080" cy="411480"/>
          </a:xfrm>
          <a:prstGeom prst="rect">
            <a:avLst/>
          </a:prstGeom>
          <a:noFill/>
          <a:ln/>
        </p:spPr>
        <p:txBody>
          <a:bodyPr wrap="square" lIns="0" tIns="0" rIns="0" bIns="0" rtlCol="0" anchor="ctr"/>
          <a:lstStyle/>
          <a:p>
            <a:pPr marL="0" indent="0">
              <a:lnSpc>
                <a:spcPct val="105000"/>
              </a:lnSpc>
              <a:buNone/>
            </a:pPr>
            <a:r>
              <a:rPr lang="en-US" sz="980" dirty="0">
                <a:solidFill>
                  <a:schemeClr val="bg2"/>
                </a:solidFill>
                <a:latin typeface="Arial" panose="020B0604020202020204" pitchFamily="34" charset="0"/>
                <a:ea typeface="Calibri" pitchFamily="34" charset="-122"/>
                <a:cs typeface="Arial" panose="020B0604020202020204" pitchFamily="34" charset="0"/>
              </a:rPr>
              <a:t>toggle de classe sur &lt;body&gt; + persistance via localStorage</a:t>
            </a:r>
            <a:endParaRPr lang="en-US" sz="980" dirty="0">
              <a:solidFill>
                <a:schemeClr val="bg2"/>
              </a:solidFill>
              <a:latin typeface="Arial" panose="020B0604020202020204" pitchFamily="34" charset="0"/>
              <a:cs typeface="Arial" panose="020B0604020202020204" pitchFamily="34" charset="0"/>
            </a:endParaRPr>
          </a:p>
        </p:txBody>
      </p:sp>
      <p:sp>
        <p:nvSpPr>
          <p:cNvPr id="37" name="Text 30"/>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08</a:t>
            </a:r>
            <a:endParaRPr lang="en-US" sz="1000" dirty="0">
              <a:solidFill>
                <a:schemeClr val="bg2"/>
              </a:solidFill>
              <a:latin typeface="Arial" panose="020B0604020202020204" pitchFamily="34" charset="0"/>
              <a:cs typeface="Arial" panose="020B0604020202020204" pitchFamily="34" charset="0"/>
            </a:endParaRPr>
          </a:p>
        </p:txBody>
      </p:sp>
      <p:sp>
        <p:nvSpPr>
          <p:cNvPr id="38" name="Text 31"/>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343400" y="241594"/>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POINTS TECHNIQUES</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3214838" y="520486"/>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Bootstrap &amp; CSS avancé</a:t>
            </a:r>
            <a:endParaRPr lang="en-US" sz="3200"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463040"/>
            <a:ext cx="5486400" cy="4617720"/>
          </a:xfrm>
          <a:prstGeom prst="roundRect">
            <a:avLst>
              <a:gd name="adj" fmla="val 237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chemeClr val="bg2"/>
              </a:solidFill>
              <a:latin typeface="Arial" panose="020B0604020202020204" pitchFamily="34" charset="0"/>
              <a:cs typeface="Arial" panose="020B0604020202020204" pitchFamily="34" charset="0"/>
            </a:endParaRPr>
          </a:p>
        </p:txBody>
      </p:sp>
      <p:sp>
        <p:nvSpPr>
          <p:cNvPr id="7" name="Text 4"/>
          <p:cNvSpPr/>
          <p:nvPr/>
        </p:nvSpPr>
        <p:spPr>
          <a:xfrm>
            <a:off x="1737360" y="1673352"/>
            <a:ext cx="4297680" cy="365760"/>
          </a:xfrm>
          <a:prstGeom prst="rect">
            <a:avLst/>
          </a:prstGeom>
          <a:noFill/>
          <a:ln/>
        </p:spPr>
        <p:txBody>
          <a:bodyPr wrap="square" lIns="0" tIns="0" rIns="0" bIns="0" rtlCol="0" anchor="ctr"/>
          <a:lstStyle/>
          <a:p>
            <a:pPr marL="0" indent="0">
              <a:buNone/>
            </a:pPr>
            <a:r>
              <a:rPr lang="en-US" sz="1600" b="1" dirty="0">
                <a:solidFill>
                  <a:schemeClr val="bg2"/>
                </a:solidFill>
                <a:latin typeface="Arial" panose="020B0604020202020204" pitchFamily="34" charset="0"/>
                <a:ea typeface="Cambria" pitchFamily="34" charset="-122"/>
                <a:cs typeface="Arial" panose="020B0604020202020204" pitchFamily="34" charset="0"/>
              </a:rPr>
              <a:t>Composants Bootstrap 5</a:t>
            </a:r>
            <a:endParaRPr lang="en-US" sz="1600" dirty="0">
              <a:solidFill>
                <a:schemeClr val="bg2"/>
              </a:solidFill>
              <a:latin typeface="Arial" panose="020B0604020202020204" pitchFamily="34" charset="0"/>
              <a:cs typeface="Arial" panose="020B0604020202020204" pitchFamily="34" charset="0"/>
            </a:endParaRPr>
          </a:p>
        </p:txBody>
      </p:sp>
      <p:sp>
        <p:nvSpPr>
          <p:cNvPr id="8" name="Shape 5"/>
          <p:cNvSpPr/>
          <p:nvPr/>
        </p:nvSpPr>
        <p:spPr>
          <a:xfrm>
            <a:off x="841248" y="2258568"/>
            <a:ext cx="91440" cy="91440"/>
          </a:xfrm>
          <a:prstGeom prst="ellipse">
            <a:avLst/>
          </a:prstGeom>
          <a:solidFill>
            <a:srgbClr val="2DD4BF"/>
          </a:solidFill>
          <a:ln/>
        </p:spPr>
      </p:sp>
      <p:sp>
        <p:nvSpPr>
          <p:cNvPr id="9" name="Text 6"/>
          <p:cNvSpPr/>
          <p:nvPr/>
        </p:nvSpPr>
        <p:spPr>
          <a:xfrm>
            <a:off x="1078992" y="2121408"/>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Navbar responsive  : </a:t>
            </a:r>
            <a:r>
              <a:rPr lang="en-US" sz="1150" dirty="0">
                <a:solidFill>
                  <a:schemeClr val="bg2"/>
                </a:solidFill>
                <a:latin typeface="Arial" panose="020B0604020202020204" pitchFamily="34" charset="0"/>
                <a:ea typeface="Calibri" pitchFamily="34" charset="-122"/>
                <a:cs typeface="Arial" panose="020B0604020202020204" pitchFamily="34" charset="0"/>
              </a:rPr>
              <a:t>navbar-expand-lg + collapse, fixed-top avec effet scroll personnalisé</a:t>
            </a:r>
            <a:endParaRPr lang="en-US" sz="1150" dirty="0">
              <a:solidFill>
                <a:schemeClr val="bg2"/>
              </a:solidFill>
              <a:latin typeface="Arial" panose="020B0604020202020204" pitchFamily="34" charset="0"/>
              <a:cs typeface="Arial" panose="020B0604020202020204" pitchFamily="34" charset="0"/>
            </a:endParaRPr>
          </a:p>
        </p:txBody>
      </p:sp>
      <p:sp>
        <p:nvSpPr>
          <p:cNvPr id="10" name="Shape 7"/>
          <p:cNvSpPr/>
          <p:nvPr/>
        </p:nvSpPr>
        <p:spPr>
          <a:xfrm>
            <a:off x="841248" y="2880360"/>
            <a:ext cx="91440" cy="91440"/>
          </a:xfrm>
          <a:prstGeom prst="ellipse">
            <a:avLst/>
          </a:prstGeom>
          <a:solidFill>
            <a:srgbClr val="2DD4BF"/>
          </a:solidFill>
          <a:ln/>
        </p:spPr>
      </p:sp>
      <p:sp>
        <p:nvSpPr>
          <p:cNvPr id="11" name="Text 8"/>
          <p:cNvSpPr/>
          <p:nvPr/>
        </p:nvSpPr>
        <p:spPr>
          <a:xfrm>
            <a:off x="1078992" y="2743200"/>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Grid system : </a:t>
            </a:r>
            <a:r>
              <a:rPr lang="en-US" sz="1150" dirty="0">
                <a:solidFill>
                  <a:schemeClr val="bg2"/>
                </a:solidFill>
                <a:latin typeface="Arial" panose="020B0604020202020204" pitchFamily="34" charset="0"/>
                <a:ea typeface="Calibri" pitchFamily="34" charset="-122"/>
                <a:cs typeface="Arial" panose="020B0604020202020204" pitchFamily="34" charset="0"/>
              </a:rPr>
              <a:t>row / col-12 col-md-6 col-lg-4 pour cartes freelances, tarifs, catégories</a:t>
            </a:r>
            <a:endParaRPr lang="en-US" sz="1150" dirty="0">
              <a:solidFill>
                <a:schemeClr val="bg2"/>
              </a:solidFill>
              <a:latin typeface="Arial" panose="020B0604020202020204" pitchFamily="34" charset="0"/>
              <a:cs typeface="Arial" panose="020B0604020202020204" pitchFamily="34" charset="0"/>
            </a:endParaRPr>
          </a:p>
        </p:txBody>
      </p:sp>
      <p:sp>
        <p:nvSpPr>
          <p:cNvPr id="12" name="Shape 9"/>
          <p:cNvSpPr/>
          <p:nvPr/>
        </p:nvSpPr>
        <p:spPr>
          <a:xfrm>
            <a:off x="841248" y="3502152"/>
            <a:ext cx="91440" cy="91440"/>
          </a:xfrm>
          <a:prstGeom prst="ellipse">
            <a:avLst/>
          </a:prstGeom>
          <a:solidFill>
            <a:srgbClr val="2DD4BF"/>
          </a:solidFill>
          <a:ln/>
        </p:spPr>
      </p:sp>
      <p:sp>
        <p:nvSpPr>
          <p:cNvPr id="13" name="Text 10"/>
          <p:cNvSpPr/>
          <p:nvPr/>
        </p:nvSpPr>
        <p:spPr>
          <a:xfrm>
            <a:off x="1078992" y="3364992"/>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Carousel  : </a:t>
            </a:r>
            <a:r>
              <a:rPr lang="en-US" sz="1150" dirty="0" err="1">
                <a:solidFill>
                  <a:schemeClr val="bg2"/>
                </a:solidFill>
                <a:latin typeface="Arial" panose="020B0604020202020204" pitchFamily="34" charset="0"/>
                <a:ea typeface="Calibri" pitchFamily="34" charset="-122"/>
                <a:cs typeface="Arial" panose="020B0604020202020204" pitchFamily="34" charset="0"/>
              </a:rPr>
              <a:t>témoignages</a:t>
            </a:r>
            <a:r>
              <a:rPr lang="en-US" sz="1150" dirty="0">
                <a:solidFill>
                  <a:schemeClr val="bg2"/>
                </a:solidFill>
                <a:latin typeface="Arial" panose="020B0604020202020204" pitchFamily="34" charset="0"/>
                <a:ea typeface="Calibri" pitchFamily="34" charset="-122"/>
                <a:cs typeface="Arial" panose="020B0604020202020204" pitchFamily="34" charset="0"/>
              </a:rPr>
              <a:t> clients avec contrôles prev/next</a:t>
            </a:r>
            <a:endParaRPr lang="en-US" sz="1150" dirty="0">
              <a:solidFill>
                <a:schemeClr val="bg2"/>
              </a:solidFill>
              <a:latin typeface="Arial" panose="020B0604020202020204" pitchFamily="34" charset="0"/>
              <a:cs typeface="Arial" panose="020B0604020202020204" pitchFamily="34" charset="0"/>
            </a:endParaRPr>
          </a:p>
        </p:txBody>
      </p:sp>
      <p:sp>
        <p:nvSpPr>
          <p:cNvPr id="14" name="Shape 11"/>
          <p:cNvSpPr/>
          <p:nvPr/>
        </p:nvSpPr>
        <p:spPr>
          <a:xfrm>
            <a:off x="841248" y="4123944"/>
            <a:ext cx="91440" cy="91440"/>
          </a:xfrm>
          <a:prstGeom prst="ellipse">
            <a:avLst/>
          </a:prstGeom>
          <a:solidFill>
            <a:srgbClr val="2DD4BF"/>
          </a:solidFill>
          <a:ln/>
        </p:spPr>
      </p:sp>
      <p:sp>
        <p:nvSpPr>
          <p:cNvPr id="15" name="Text 12"/>
          <p:cNvSpPr/>
          <p:nvPr/>
        </p:nvSpPr>
        <p:spPr>
          <a:xfrm>
            <a:off x="1078992" y="3986784"/>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Accordion : </a:t>
            </a:r>
            <a:r>
              <a:rPr lang="en-US" sz="1150" dirty="0">
                <a:solidFill>
                  <a:schemeClr val="bg2"/>
                </a:solidFill>
                <a:latin typeface="Arial" panose="020B0604020202020204" pitchFamily="34" charset="0"/>
                <a:ea typeface="Calibri" pitchFamily="34" charset="-122"/>
                <a:cs typeface="Arial" panose="020B0604020202020204" pitchFamily="34" charset="0"/>
              </a:rPr>
              <a:t>FAQ de la page Tarifs (5 questions)</a:t>
            </a:r>
            <a:endParaRPr lang="en-US" sz="1150" dirty="0">
              <a:solidFill>
                <a:schemeClr val="bg2"/>
              </a:solidFill>
              <a:latin typeface="Arial" panose="020B0604020202020204" pitchFamily="34" charset="0"/>
              <a:cs typeface="Arial" panose="020B0604020202020204" pitchFamily="34" charset="0"/>
            </a:endParaRPr>
          </a:p>
        </p:txBody>
      </p:sp>
      <p:sp>
        <p:nvSpPr>
          <p:cNvPr id="16" name="Shape 13"/>
          <p:cNvSpPr/>
          <p:nvPr/>
        </p:nvSpPr>
        <p:spPr>
          <a:xfrm>
            <a:off x="841248" y="4745736"/>
            <a:ext cx="91440" cy="91440"/>
          </a:xfrm>
          <a:prstGeom prst="ellipse">
            <a:avLst/>
          </a:prstGeom>
          <a:solidFill>
            <a:srgbClr val="2DD4BF"/>
          </a:solidFill>
          <a:ln/>
        </p:spPr>
      </p:sp>
      <p:sp>
        <p:nvSpPr>
          <p:cNvPr id="17" name="Text 14"/>
          <p:cNvSpPr/>
          <p:nvPr/>
        </p:nvSpPr>
        <p:spPr>
          <a:xfrm>
            <a:off x="1078992" y="4608576"/>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Bootstrap Icons : </a:t>
            </a:r>
            <a:r>
              <a:rPr lang="en-US" sz="1150" dirty="0" err="1">
                <a:solidFill>
                  <a:schemeClr val="bg2"/>
                </a:solidFill>
                <a:latin typeface="Arial" panose="020B0604020202020204" pitchFamily="34" charset="0"/>
                <a:ea typeface="Calibri" pitchFamily="34" charset="-122"/>
                <a:cs typeface="Arial" panose="020B0604020202020204" pitchFamily="34" charset="0"/>
              </a:rPr>
              <a:t>icônes</a:t>
            </a:r>
            <a:r>
              <a:rPr lang="en-US" sz="1150" dirty="0">
                <a:solidFill>
                  <a:schemeClr val="bg2"/>
                </a:solidFill>
                <a:latin typeface="Arial" panose="020B0604020202020204" pitchFamily="34" charset="0"/>
                <a:ea typeface="Calibri" pitchFamily="34" charset="-122"/>
                <a:cs typeface="Arial" panose="020B0604020202020204" pitchFamily="34" charset="0"/>
              </a:rPr>
              <a:t> </a:t>
            </a:r>
            <a:r>
              <a:rPr lang="en-US" sz="1150" dirty="0" err="1">
                <a:solidFill>
                  <a:schemeClr val="bg2"/>
                </a:solidFill>
                <a:latin typeface="Arial" panose="020B0604020202020204" pitchFamily="34" charset="0"/>
                <a:ea typeface="Calibri" pitchFamily="34" charset="-122"/>
                <a:cs typeface="Arial" panose="020B0604020202020204" pitchFamily="34" charset="0"/>
              </a:rPr>
              <a:t>cohérentes</a:t>
            </a:r>
            <a:r>
              <a:rPr lang="en-US" sz="1150" dirty="0">
                <a:solidFill>
                  <a:schemeClr val="bg2"/>
                </a:solidFill>
                <a:latin typeface="Arial" panose="020B0604020202020204" pitchFamily="34" charset="0"/>
                <a:ea typeface="Calibri" pitchFamily="34" charset="-122"/>
                <a:cs typeface="Arial" panose="020B0604020202020204" pitchFamily="34" charset="0"/>
              </a:rPr>
              <a:t> dans toute </a:t>
            </a:r>
            <a:r>
              <a:rPr lang="en-US" sz="1150" dirty="0" err="1">
                <a:solidFill>
                  <a:schemeClr val="bg2"/>
                </a:solidFill>
                <a:latin typeface="Arial" panose="020B0604020202020204" pitchFamily="34" charset="0"/>
                <a:ea typeface="Calibri" pitchFamily="34" charset="-122"/>
                <a:cs typeface="Arial" panose="020B0604020202020204" pitchFamily="34" charset="0"/>
              </a:rPr>
              <a:t>l'interface</a:t>
            </a:r>
            <a:r>
              <a:rPr lang="en-US" sz="1150" dirty="0">
                <a:solidFill>
                  <a:schemeClr val="bg2"/>
                </a:solidFill>
                <a:latin typeface="Arial" panose="020B0604020202020204" pitchFamily="34" charset="0"/>
                <a:ea typeface="Calibri" pitchFamily="34" charset="-122"/>
                <a:cs typeface="Arial" panose="020B0604020202020204" pitchFamily="34" charset="0"/>
              </a:rPr>
              <a:t> (bi-*)</a:t>
            </a:r>
            <a:endParaRPr lang="en-US" sz="1150" dirty="0">
              <a:solidFill>
                <a:schemeClr val="bg2"/>
              </a:solidFill>
              <a:latin typeface="Arial" panose="020B0604020202020204" pitchFamily="34" charset="0"/>
              <a:cs typeface="Arial" panose="020B0604020202020204" pitchFamily="34" charset="0"/>
            </a:endParaRPr>
          </a:p>
        </p:txBody>
      </p:sp>
      <p:sp>
        <p:nvSpPr>
          <p:cNvPr id="18" name="Shape 15"/>
          <p:cNvSpPr/>
          <p:nvPr/>
        </p:nvSpPr>
        <p:spPr>
          <a:xfrm>
            <a:off x="841248" y="5367528"/>
            <a:ext cx="91440" cy="91440"/>
          </a:xfrm>
          <a:prstGeom prst="ellipse">
            <a:avLst/>
          </a:prstGeom>
          <a:solidFill>
            <a:srgbClr val="2DD4BF"/>
          </a:solidFill>
          <a:ln/>
        </p:spPr>
      </p:sp>
      <p:sp>
        <p:nvSpPr>
          <p:cNvPr id="19" name="Text 16"/>
          <p:cNvSpPr/>
          <p:nvPr/>
        </p:nvSpPr>
        <p:spPr>
          <a:xfrm>
            <a:off x="1078992" y="5230368"/>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Buttons &amp; utilities : </a:t>
            </a:r>
            <a:r>
              <a:rPr lang="en-US" sz="1150" dirty="0">
                <a:solidFill>
                  <a:schemeClr val="bg2"/>
                </a:solidFill>
                <a:latin typeface="Arial" panose="020B0604020202020204" pitchFamily="34" charset="0"/>
                <a:ea typeface="Calibri" pitchFamily="34" charset="-122"/>
                <a:cs typeface="Arial" panose="020B0604020202020204" pitchFamily="34" charset="0"/>
              </a:rPr>
              <a:t>btn-outline-light, d-flex, gap-*, classes responsives</a:t>
            </a:r>
            <a:endParaRPr lang="en-US" sz="1150" dirty="0">
              <a:solidFill>
                <a:schemeClr val="bg2"/>
              </a:solidFill>
              <a:latin typeface="Arial" panose="020B0604020202020204" pitchFamily="34" charset="0"/>
              <a:cs typeface="Arial" panose="020B0604020202020204" pitchFamily="34" charset="0"/>
            </a:endParaRPr>
          </a:p>
        </p:txBody>
      </p:sp>
      <p:sp>
        <p:nvSpPr>
          <p:cNvPr id="20" name="Shape 17"/>
          <p:cNvSpPr/>
          <p:nvPr/>
        </p:nvSpPr>
        <p:spPr>
          <a:xfrm>
            <a:off x="6309360" y="1463040"/>
            <a:ext cx="5349240" cy="4617720"/>
          </a:xfrm>
          <a:prstGeom prst="roundRect">
            <a:avLst>
              <a:gd name="adj" fmla="val 2376"/>
            </a:avLst>
          </a:prstGeom>
          <a:solidFill>
            <a:srgbClr val="1B1733"/>
          </a:solidFill>
          <a:ln w="12700">
            <a:solidFill>
              <a:srgbClr val="2A2545"/>
            </a:solidFill>
            <a:prstDash val="solid"/>
          </a:ln>
          <a:effectLst>
            <a:outerShdw blurRad="101600" dist="38100" dir="2700000" algn="bl" rotWithShape="0">
              <a:srgbClr val="000000">
                <a:alpha val="35000"/>
              </a:srgbClr>
            </a:outerShdw>
          </a:effectLst>
        </p:spPr>
      </p:sp>
      <p:sp>
        <p:nvSpPr>
          <p:cNvPr id="23" name="Text 19"/>
          <p:cNvSpPr/>
          <p:nvPr/>
        </p:nvSpPr>
        <p:spPr>
          <a:xfrm>
            <a:off x="7223760" y="1673352"/>
            <a:ext cx="4160520" cy="365760"/>
          </a:xfrm>
          <a:prstGeom prst="rect">
            <a:avLst/>
          </a:prstGeom>
          <a:noFill/>
          <a:ln/>
        </p:spPr>
        <p:txBody>
          <a:bodyPr wrap="square" lIns="0" tIns="0" rIns="0" bIns="0" rtlCol="0" anchor="ctr"/>
          <a:lstStyle/>
          <a:p>
            <a:pPr marL="0" indent="0">
              <a:buNone/>
            </a:pPr>
            <a:r>
              <a:rPr lang="en-US" sz="1600" b="1" dirty="0">
                <a:solidFill>
                  <a:schemeClr val="bg2"/>
                </a:solidFill>
                <a:latin typeface="Arial" panose="020B0604020202020204" pitchFamily="34" charset="0"/>
                <a:ea typeface="Cambria" pitchFamily="34" charset="-122"/>
                <a:cs typeface="Arial" panose="020B0604020202020204" pitchFamily="34" charset="0"/>
              </a:rPr>
              <a:t>Techniques CSS avancées</a:t>
            </a:r>
            <a:endParaRPr lang="en-US" sz="1600" dirty="0">
              <a:solidFill>
                <a:schemeClr val="bg2"/>
              </a:solidFill>
              <a:latin typeface="Arial" panose="020B0604020202020204" pitchFamily="34" charset="0"/>
              <a:cs typeface="Arial" panose="020B0604020202020204" pitchFamily="34" charset="0"/>
            </a:endParaRPr>
          </a:p>
        </p:txBody>
      </p:sp>
      <p:sp>
        <p:nvSpPr>
          <p:cNvPr id="24" name="Shape 20"/>
          <p:cNvSpPr/>
          <p:nvPr/>
        </p:nvSpPr>
        <p:spPr>
          <a:xfrm>
            <a:off x="6601968" y="2258568"/>
            <a:ext cx="91440" cy="91440"/>
          </a:xfrm>
          <a:prstGeom prst="ellipse">
            <a:avLst/>
          </a:prstGeom>
          <a:solidFill>
            <a:srgbClr val="8F3DFF"/>
          </a:solidFill>
          <a:ln/>
        </p:spPr>
      </p:sp>
      <p:sp>
        <p:nvSpPr>
          <p:cNvPr id="25" name="Text 21"/>
          <p:cNvSpPr/>
          <p:nvPr/>
        </p:nvSpPr>
        <p:spPr>
          <a:xfrm>
            <a:off x="6839712" y="2121408"/>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Variables CSS (:root) : </a:t>
            </a:r>
            <a:r>
              <a:rPr lang="en-US" sz="1150" dirty="0">
                <a:solidFill>
                  <a:schemeClr val="bg2"/>
                </a:solidFill>
                <a:latin typeface="Arial" panose="020B0604020202020204" pitchFamily="34" charset="0"/>
                <a:ea typeface="Calibri" pitchFamily="34" charset="-122"/>
                <a:cs typeface="Arial" panose="020B0604020202020204" pitchFamily="34" charset="0"/>
              </a:rPr>
              <a:t>palette, polices et espacements centralisés en custom properties</a:t>
            </a:r>
            <a:endParaRPr lang="en-US" sz="1150" dirty="0">
              <a:solidFill>
                <a:schemeClr val="bg2"/>
              </a:solidFill>
              <a:latin typeface="Arial" panose="020B0604020202020204" pitchFamily="34" charset="0"/>
              <a:cs typeface="Arial" panose="020B0604020202020204" pitchFamily="34" charset="0"/>
            </a:endParaRPr>
          </a:p>
        </p:txBody>
      </p:sp>
      <p:sp>
        <p:nvSpPr>
          <p:cNvPr id="26" name="Shape 22"/>
          <p:cNvSpPr/>
          <p:nvPr/>
        </p:nvSpPr>
        <p:spPr>
          <a:xfrm>
            <a:off x="6601968" y="2880360"/>
            <a:ext cx="91440" cy="91440"/>
          </a:xfrm>
          <a:prstGeom prst="ellipse">
            <a:avLst/>
          </a:prstGeom>
          <a:solidFill>
            <a:srgbClr val="8F3DFF"/>
          </a:solidFill>
          <a:ln/>
        </p:spPr>
      </p:sp>
      <p:sp>
        <p:nvSpPr>
          <p:cNvPr id="27" name="Text 23"/>
          <p:cNvSpPr/>
          <p:nvPr/>
        </p:nvSpPr>
        <p:spPr>
          <a:xfrm>
            <a:off x="6839712" y="2743200"/>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Grid « Bento » : </a:t>
            </a:r>
            <a:r>
              <a:rPr lang="en-US" sz="1150" dirty="0">
                <a:solidFill>
                  <a:schemeClr val="bg2"/>
                </a:solidFill>
                <a:latin typeface="Arial" panose="020B0604020202020204" pitchFamily="34" charset="0"/>
                <a:ea typeface="Calibri" pitchFamily="34" charset="-122"/>
                <a:cs typeface="Arial" panose="020B0604020202020204" pitchFamily="34" charset="0"/>
              </a:rPr>
              <a:t>grid-template-columns + grid-row/column span pour cartes asymétriques</a:t>
            </a:r>
            <a:endParaRPr lang="en-US" sz="1150" dirty="0">
              <a:solidFill>
                <a:schemeClr val="bg2"/>
              </a:solidFill>
              <a:latin typeface="Arial" panose="020B0604020202020204" pitchFamily="34" charset="0"/>
              <a:cs typeface="Arial" panose="020B0604020202020204" pitchFamily="34" charset="0"/>
            </a:endParaRPr>
          </a:p>
        </p:txBody>
      </p:sp>
      <p:sp>
        <p:nvSpPr>
          <p:cNvPr id="28" name="Shape 24"/>
          <p:cNvSpPr/>
          <p:nvPr/>
        </p:nvSpPr>
        <p:spPr>
          <a:xfrm>
            <a:off x="6601968" y="3502152"/>
            <a:ext cx="91440" cy="91440"/>
          </a:xfrm>
          <a:prstGeom prst="ellipse">
            <a:avLst/>
          </a:prstGeom>
          <a:solidFill>
            <a:srgbClr val="8F3DFF"/>
          </a:solidFill>
          <a:ln/>
        </p:spPr>
      </p:sp>
      <p:sp>
        <p:nvSpPr>
          <p:cNvPr id="29" name="Text 25"/>
          <p:cNvSpPr/>
          <p:nvPr/>
        </p:nvSpPr>
        <p:spPr>
          <a:xfrm>
            <a:off x="6839712" y="3364992"/>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clamp() responsive : </a:t>
            </a:r>
            <a:r>
              <a:rPr lang="en-US" sz="1150" dirty="0">
                <a:solidFill>
                  <a:schemeClr val="bg2"/>
                </a:solidFill>
                <a:latin typeface="Arial" panose="020B0604020202020204" pitchFamily="34" charset="0"/>
                <a:ea typeface="Calibri" pitchFamily="34" charset="-122"/>
                <a:cs typeface="Arial" panose="020B0604020202020204" pitchFamily="34" charset="0"/>
              </a:rPr>
              <a:t>titres fluides : font-size: clamp(32px, 6vw, 80px)</a:t>
            </a:r>
            <a:endParaRPr lang="en-US" sz="1150" dirty="0">
              <a:solidFill>
                <a:schemeClr val="bg2"/>
              </a:solidFill>
              <a:latin typeface="Arial" panose="020B0604020202020204" pitchFamily="34" charset="0"/>
              <a:cs typeface="Arial" panose="020B0604020202020204" pitchFamily="34" charset="0"/>
            </a:endParaRPr>
          </a:p>
        </p:txBody>
      </p:sp>
      <p:sp>
        <p:nvSpPr>
          <p:cNvPr id="30" name="Shape 26"/>
          <p:cNvSpPr/>
          <p:nvPr/>
        </p:nvSpPr>
        <p:spPr>
          <a:xfrm>
            <a:off x="6601968" y="4123944"/>
            <a:ext cx="91440" cy="91440"/>
          </a:xfrm>
          <a:prstGeom prst="ellipse">
            <a:avLst/>
          </a:prstGeom>
          <a:solidFill>
            <a:srgbClr val="8F3DFF"/>
          </a:solidFill>
          <a:ln/>
        </p:spPr>
      </p:sp>
      <p:sp>
        <p:nvSpPr>
          <p:cNvPr id="31" name="Text 27"/>
          <p:cNvSpPr/>
          <p:nvPr/>
        </p:nvSpPr>
        <p:spPr>
          <a:xfrm>
            <a:off x="6839712" y="3986784"/>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Transitions &amp; hover  : </a:t>
            </a:r>
            <a:r>
              <a:rPr lang="en-US" sz="1150" dirty="0" err="1">
                <a:solidFill>
                  <a:schemeClr val="bg2"/>
                </a:solidFill>
                <a:latin typeface="Arial" panose="020B0604020202020204" pitchFamily="34" charset="0"/>
                <a:ea typeface="Calibri" pitchFamily="34" charset="-122"/>
                <a:cs typeface="Arial" panose="020B0604020202020204" pitchFamily="34" charset="0"/>
              </a:rPr>
              <a:t>translateY</a:t>
            </a:r>
            <a:r>
              <a:rPr lang="en-US" sz="1150" dirty="0">
                <a:solidFill>
                  <a:schemeClr val="bg2"/>
                </a:solidFill>
                <a:latin typeface="Arial" panose="020B0604020202020204" pitchFamily="34" charset="0"/>
                <a:ea typeface="Calibri" pitchFamily="34" charset="-122"/>
                <a:cs typeface="Arial" panose="020B0604020202020204" pitchFamily="34" charset="0"/>
              </a:rPr>
              <a:t> + box-shadow sur les cartes catégories et pricing</a:t>
            </a:r>
            <a:endParaRPr lang="en-US" sz="1150" dirty="0">
              <a:solidFill>
                <a:schemeClr val="bg2"/>
              </a:solidFill>
              <a:latin typeface="Arial" panose="020B0604020202020204" pitchFamily="34" charset="0"/>
              <a:cs typeface="Arial" panose="020B0604020202020204" pitchFamily="34" charset="0"/>
            </a:endParaRPr>
          </a:p>
        </p:txBody>
      </p:sp>
      <p:sp>
        <p:nvSpPr>
          <p:cNvPr id="32" name="Shape 28"/>
          <p:cNvSpPr/>
          <p:nvPr/>
        </p:nvSpPr>
        <p:spPr>
          <a:xfrm>
            <a:off x="6601968" y="4745736"/>
            <a:ext cx="91440" cy="91440"/>
          </a:xfrm>
          <a:prstGeom prst="ellipse">
            <a:avLst/>
          </a:prstGeom>
          <a:solidFill>
            <a:srgbClr val="8F3DFF"/>
          </a:solidFill>
          <a:ln/>
        </p:spPr>
      </p:sp>
      <p:sp>
        <p:nvSpPr>
          <p:cNvPr id="33" name="Text 29"/>
          <p:cNvSpPr/>
          <p:nvPr/>
        </p:nvSpPr>
        <p:spPr>
          <a:xfrm>
            <a:off x="6839712" y="4608576"/>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Media queries en cascade : </a:t>
            </a:r>
            <a:r>
              <a:rPr lang="en-US" sz="1150" dirty="0">
                <a:solidFill>
                  <a:schemeClr val="bg2"/>
                </a:solidFill>
                <a:latin typeface="Arial" panose="020B0604020202020204" pitchFamily="34" charset="0"/>
                <a:ea typeface="Calibri" pitchFamily="34" charset="-122"/>
                <a:cs typeface="Arial" panose="020B0604020202020204" pitchFamily="34" charset="0"/>
              </a:rPr>
              <a:t>breakpoints 375px / 576px / 768px / 992px / 1200px</a:t>
            </a:r>
            <a:endParaRPr lang="en-US" sz="1150" dirty="0">
              <a:solidFill>
                <a:schemeClr val="bg2"/>
              </a:solidFill>
              <a:latin typeface="Arial" panose="020B0604020202020204" pitchFamily="34" charset="0"/>
              <a:cs typeface="Arial" panose="020B0604020202020204" pitchFamily="34" charset="0"/>
            </a:endParaRPr>
          </a:p>
        </p:txBody>
      </p:sp>
      <p:sp>
        <p:nvSpPr>
          <p:cNvPr id="34" name="Shape 30"/>
          <p:cNvSpPr/>
          <p:nvPr/>
        </p:nvSpPr>
        <p:spPr>
          <a:xfrm>
            <a:off x="6601968" y="5367528"/>
            <a:ext cx="91440" cy="91440"/>
          </a:xfrm>
          <a:prstGeom prst="ellipse">
            <a:avLst/>
          </a:prstGeom>
          <a:solidFill>
            <a:srgbClr val="8F3DFF"/>
          </a:solidFill>
          <a:ln/>
        </p:spPr>
      </p:sp>
      <p:sp>
        <p:nvSpPr>
          <p:cNvPr id="35" name="Text 31"/>
          <p:cNvSpPr/>
          <p:nvPr/>
        </p:nvSpPr>
        <p:spPr>
          <a:xfrm>
            <a:off x="6839712" y="5230368"/>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text-shadow &amp; glow  : </a:t>
            </a:r>
            <a:r>
              <a:rPr lang="en-US" sz="1150" dirty="0" err="1">
                <a:solidFill>
                  <a:schemeClr val="bg2"/>
                </a:solidFill>
                <a:latin typeface="Arial" panose="020B0604020202020204" pitchFamily="34" charset="0"/>
                <a:ea typeface="Calibri" pitchFamily="34" charset="-122"/>
                <a:cs typeface="Arial" panose="020B0604020202020204" pitchFamily="34" charset="0"/>
              </a:rPr>
              <a:t>effet</a:t>
            </a:r>
            <a:r>
              <a:rPr lang="en-US" sz="1150" dirty="0">
                <a:solidFill>
                  <a:schemeClr val="bg2"/>
                </a:solidFill>
                <a:latin typeface="Arial" panose="020B0604020202020204" pitchFamily="34" charset="0"/>
                <a:ea typeface="Calibri" pitchFamily="34" charset="-122"/>
                <a:cs typeface="Arial" panose="020B0604020202020204" pitchFamily="34" charset="0"/>
              </a:rPr>
              <a:t> néon violet sur les titres héro (.shadow h1)</a:t>
            </a:r>
            <a:endParaRPr lang="en-US" sz="1150" dirty="0">
              <a:solidFill>
                <a:schemeClr val="bg2"/>
              </a:solidFill>
              <a:latin typeface="Arial" panose="020B0604020202020204" pitchFamily="34" charset="0"/>
              <a:cs typeface="Arial" panose="020B0604020202020204" pitchFamily="34" charset="0"/>
            </a:endParaRPr>
          </a:p>
        </p:txBody>
      </p:sp>
      <p:sp>
        <p:nvSpPr>
          <p:cNvPr id="36" name="Text 32"/>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09</a:t>
            </a:r>
            <a:endParaRPr lang="en-US" sz="1000" dirty="0">
              <a:solidFill>
                <a:schemeClr val="bg2"/>
              </a:solidFill>
              <a:latin typeface="Arial" panose="020B0604020202020204" pitchFamily="34" charset="0"/>
              <a:cs typeface="Arial" panose="020B0604020202020204" pitchFamily="34" charset="0"/>
            </a:endParaRPr>
          </a:p>
        </p:txBody>
      </p:sp>
      <p:sp>
        <p:nvSpPr>
          <p:cNvPr id="37" name="Text 33"/>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192024"/>
            <a:ext cx="7315200" cy="320040"/>
          </a:xfrm>
          <a:prstGeom prst="rect">
            <a:avLst/>
          </a:prstGeom>
          <a:noFill/>
          <a:ln/>
        </p:spPr>
        <p:txBody>
          <a:bodyPr wrap="square" lIns="0" tIns="0" rIns="0" bIns="0" rtlCol="0" anchor="ctr"/>
          <a:lstStyle/>
          <a:p>
            <a:pPr marL="0" indent="0" algn="l">
              <a:buNone/>
            </a:pPr>
            <a:r>
              <a:rPr lang="en-US" b="1" kern="0" spc="300" dirty="0">
                <a:solidFill>
                  <a:schemeClr val="bg1"/>
                </a:solidFill>
                <a:latin typeface="+mj-lt"/>
                <a:ea typeface="Calibri" pitchFamily="34" charset="-122"/>
                <a:cs typeface="Calibri" pitchFamily="34" charset="-120"/>
              </a:rPr>
              <a:t>GITHUB</a:t>
            </a:r>
            <a:endParaRPr lang="en-US" dirty="0">
              <a:solidFill>
                <a:schemeClr val="bg1"/>
              </a:solidFill>
              <a:latin typeface="+mj-lt"/>
            </a:endParaRPr>
          </a:p>
        </p:txBody>
      </p:sp>
      <p:sp>
        <p:nvSpPr>
          <p:cNvPr id="3" name="Text 1"/>
          <p:cNvSpPr/>
          <p:nvPr/>
        </p:nvSpPr>
        <p:spPr>
          <a:xfrm>
            <a:off x="3276776" y="264633"/>
            <a:ext cx="8640599" cy="504280"/>
          </a:xfrm>
          <a:prstGeom prst="rect">
            <a:avLst/>
          </a:prstGeom>
          <a:noFill/>
          <a:ln/>
        </p:spPr>
        <p:txBody>
          <a:bodyPr wrap="square" lIns="0" tIns="0" rIns="0" bIns="0" rtlCol="0" anchor="ctr"/>
          <a:lstStyle/>
          <a:p>
            <a:pPr marL="0" indent="0" algn="l">
              <a:buNone/>
            </a:pPr>
            <a:r>
              <a:rPr lang="en-US" sz="2800" b="1" dirty="0">
                <a:solidFill>
                  <a:schemeClr val="bg1"/>
                </a:solidFill>
                <a:latin typeface="+mj-lt"/>
                <a:ea typeface="Cambria" pitchFamily="34" charset="-122"/>
                <a:cs typeface="Cambria" pitchFamily="34" charset="-120"/>
              </a:rPr>
              <a:t>Historique des commits &amp; workflow Git</a:t>
            </a:r>
            <a:endParaRPr lang="en-US" sz="2800" dirty="0">
              <a:solidFill>
                <a:schemeClr val="bg1"/>
              </a:solidFill>
              <a:latin typeface="+mj-lt"/>
            </a:endParaRPr>
          </a:p>
        </p:txBody>
      </p:sp>
      <p:sp>
        <p:nvSpPr>
          <p:cNvPr id="4" name="Shape 2"/>
          <p:cNvSpPr/>
          <p:nvPr/>
        </p:nvSpPr>
        <p:spPr>
          <a:xfrm>
            <a:off x="479411" y="879980"/>
            <a:ext cx="5760720" cy="5542603"/>
          </a:xfrm>
          <a:prstGeom prst="roundRect">
            <a:avLst>
              <a:gd name="adj" fmla="val 2637"/>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chemeClr val="bg1"/>
              </a:solidFill>
            </a:endParaRPr>
          </a:p>
        </p:txBody>
      </p:sp>
      <p:sp>
        <p:nvSpPr>
          <p:cNvPr id="7" name="Text 4"/>
          <p:cNvSpPr/>
          <p:nvPr/>
        </p:nvSpPr>
        <p:spPr>
          <a:xfrm>
            <a:off x="2004461" y="947919"/>
            <a:ext cx="4663440" cy="365760"/>
          </a:xfrm>
          <a:prstGeom prst="rect">
            <a:avLst/>
          </a:prstGeom>
          <a:noFill/>
          <a:ln/>
        </p:spPr>
        <p:txBody>
          <a:bodyPr wrap="square" lIns="0" tIns="0" rIns="0" bIns="0" rtlCol="0" anchor="ctr"/>
          <a:lstStyle/>
          <a:p>
            <a:pPr marL="0" indent="0">
              <a:buNone/>
            </a:pPr>
            <a:r>
              <a:rPr lang="en-US" sz="2000" b="1" dirty="0">
                <a:solidFill>
                  <a:schemeClr val="bg1"/>
                </a:solidFill>
                <a:latin typeface="+mj-lt"/>
                <a:ea typeface="Cambria" pitchFamily="34" charset="-122"/>
                <a:cs typeface="Cambria" pitchFamily="34" charset="-120"/>
              </a:rPr>
              <a:t>Historique des commits</a:t>
            </a:r>
            <a:endParaRPr lang="en-US" sz="2000" dirty="0">
              <a:solidFill>
                <a:schemeClr val="bg1"/>
              </a:solidFill>
              <a:latin typeface="+mj-lt"/>
            </a:endParaRPr>
          </a:p>
        </p:txBody>
      </p:sp>
      <p:sp>
        <p:nvSpPr>
          <p:cNvPr id="8" name="Shape 5"/>
          <p:cNvSpPr/>
          <p:nvPr/>
        </p:nvSpPr>
        <p:spPr>
          <a:xfrm>
            <a:off x="838120" y="1417081"/>
            <a:ext cx="118872" cy="118872"/>
          </a:xfrm>
          <a:prstGeom prst="ellipse">
            <a:avLst/>
          </a:prstGeom>
          <a:solidFill>
            <a:srgbClr val="2DD4BF"/>
          </a:solidFill>
          <a:ln/>
        </p:spPr>
      </p:sp>
      <p:sp>
        <p:nvSpPr>
          <p:cNvPr id="10" name="Text 7"/>
          <p:cNvSpPr/>
          <p:nvPr/>
        </p:nvSpPr>
        <p:spPr>
          <a:xfrm>
            <a:off x="1148535" y="1390489"/>
            <a:ext cx="4297680" cy="365760"/>
          </a:xfrm>
          <a:prstGeom prst="rect">
            <a:avLst/>
          </a:prstGeom>
          <a:noFill/>
          <a:ln/>
        </p:spPr>
        <p:txBody>
          <a:bodyPr wrap="square" lIns="0" tIns="0" rIns="0" bIns="0" rtlCol="0" anchor="ctr"/>
          <a:lstStyle/>
          <a:p>
            <a:pPr marL="0" indent="0">
              <a:buNone/>
            </a:pPr>
            <a:r>
              <a:rPr lang="en-US" sz="1400" dirty="0">
                <a:solidFill>
                  <a:schemeClr val="bg1"/>
                </a:solidFill>
                <a:latin typeface="+mj-lt"/>
                <a:cs typeface="Courier New" pitchFamily="34" charset="-120"/>
              </a:rPr>
              <a:t>Init : creation du </a:t>
            </a:r>
            <a:r>
              <a:rPr lang="en-US" sz="1400" dirty="0" err="1">
                <a:solidFill>
                  <a:schemeClr val="bg1"/>
                </a:solidFill>
                <a:latin typeface="+mj-lt"/>
                <a:cs typeface="Courier New" pitchFamily="34" charset="-120"/>
              </a:rPr>
              <a:t>dépôt</a:t>
            </a:r>
            <a:r>
              <a:rPr lang="en-US" sz="1400" dirty="0">
                <a:solidFill>
                  <a:schemeClr val="bg1"/>
                </a:solidFill>
                <a:latin typeface="+mj-lt"/>
                <a:cs typeface="Courier New" pitchFamily="34" charset="-120"/>
              </a:rPr>
              <a:t>, arborescence des </a:t>
            </a:r>
            <a:r>
              <a:rPr lang="en-US" sz="1400" dirty="0" err="1">
                <a:solidFill>
                  <a:schemeClr val="bg1"/>
                </a:solidFill>
                <a:latin typeface="+mj-lt"/>
                <a:cs typeface="Courier New" pitchFamily="34" charset="-120"/>
              </a:rPr>
              <a:t>fichiers</a:t>
            </a:r>
            <a:r>
              <a:rPr lang="en-US" sz="1400" dirty="0">
                <a:solidFill>
                  <a:schemeClr val="bg1"/>
                </a:solidFill>
                <a:latin typeface="+mj-lt"/>
                <a:cs typeface="Courier New" pitchFamily="34" charset="-120"/>
              </a:rPr>
              <a:t> et structures HTML de base.</a:t>
            </a:r>
            <a:endParaRPr lang="en-US" sz="1400" dirty="0">
              <a:solidFill>
                <a:schemeClr val="bg1"/>
              </a:solidFill>
              <a:latin typeface="+mj-lt"/>
            </a:endParaRPr>
          </a:p>
        </p:txBody>
      </p:sp>
      <p:sp>
        <p:nvSpPr>
          <p:cNvPr id="11" name="Text 8"/>
          <p:cNvSpPr/>
          <p:nvPr/>
        </p:nvSpPr>
        <p:spPr>
          <a:xfrm>
            <a:off x="5440680" y="1294844"/>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12" name="Shape 9"/>
          <p:cNvSpPr/>
          <p:nvPr/>
        </p:nvSpPr>
        <p:spPr>
          <a:xfrm>
            <a:off x="850392" y="1999438"/>
            <a:ext cx="118872" cy="118872"/>
          </a:xfrm>
          <a:prstGeom prst="ellipse">
            <a:avLst/>
          </a:prstGeom>
          <a:solidFill>
            <a:srgbClr val="2DD4BF"/>
          </a:solidFill>
          <a:ln/>
        </p:spPr>
      </p:sp>
      <p:sp>
        <p:nvSpPr>
          <p:cNvPr id="14" name="Text 11"/>
          <p:cNvSpPr/>
          <p:nvPr/>
        </p:nvSpPr>
        <p:spPr>
          <a:xfrm>
            <a:off x="1143000" y="1948874"/>
            <a:ext cx="4297680" cy="365760"/>
          </a:xfrm>
          <a:prstGeom prst="rect">
            <a:avLst/>
          </a:prstGeom>
          <a:noFill/>
          <a:ln/>
        </p:spPr>
        <p:txBody>
          <a:bodyPr wrap="square" lIns="0" tIns="0" rIns="0" bIns="0" rtlCol="0" anchor="ctr"/>
          <a:lstStyle/>
          <a:p>
            <a:pPr marL="0" indent="0">
              <a:buNone/>
            </a:pPr>
            <a:r>
              <a:rPr lang="en-US" sz="1400" dirty="0">
                <a:solidFill>
                  <a:schemeClr val="bg1"/>
                </a:solidFill>
                <a:latin typeface="+mj-lt"/>
                <a:cs typeface="Courier New" pitchFamily="34" charset="-120"/>
              </a:rPr>
              <a:t>HTML: structure complete des 5 pages avec sections et </a:t>
            </a:r>
            <a:r>
              <a:rPr lang="en-US" sz="1400" dirty="0" err="1">
                <a:solidFill>
                  <a:schemeClr val="bg1"/>
                </a:solidFill>
                <a:latin typeface="+mj-lt"/>
                <a:cs typeface="Courier New" pitchFamily="34" charset="-120"/>
              </a:rPr>
              <a:t>contenu</a:t>
            </a:r>
            <a:r>
              <a:rPr lang="en-US" sz="1400" dirty="0">
                <a:solidFill>
                  <a:schemeClr val="bg1"/>
                </a:solidFill>
                <a:latin typeface="+mj-lt"/>
                <a:cs typeface="Courier New" pitchFamily="34" charset="-120"/>
              </a:rPr>
              <a:t> </a:t>
            </a:r>
            <a:r>
              <a:rPr lang="en-US" sz="1400" dirty="0" err="1">
                <a:solidFill>
                  <a:schemeClr val="bg1"/>
                </a:solidFill>
                <a:latin typeface="+mj-lt"/>
                <a:cs typeface="Courier New" pitchFamily="34" charset="-120"/>
              </a:rPr>
              <a:t>texte</a:t>
            </a:r>
            <a:r>
              <a:rPr lang="en-US" sz="1400" dirty="0">
                <a:solidFill>
                  <a:schemeClr val="bg1"/>
                </a:solidFill>
                <a:latin typeface="+mj-lt"/>
                <a:cs typeface="Courier New" pitchFamily="34" charset="-120"/>
              </a:rPr>
              <a:t>.</a:t>
            </a:r>
            <a:endParaRPr lang="en-US" sz="1400" dirty="0">
              <a:solidFill>
                <a:schemeClr val="bg1"/>
              </a:solidFill>
              <a:latin typeface="+mj-lt"/>
            </a:endParaRPr>
          </a:p>
        </p:txBody>
      </p:sp>
      <p:sp>
        <p:nvSpPr>
          <p:cNvPr id="15" name="Text 12"/>
          <p:cNvSpPr/>
          <p:nvPr/>
        </p:nvSpPr>
        <p:spPr>
          <a:xfrm>
            <a:off x="5440680" y="1831958"/>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16" name="Shape 13"/>
          <p:cNvSpPr/>
          <p:nvPr/>
        </p:nvSpPr>
        <p:spPr>
          <a:xfrm>
            <a:off x="850392" y="2661727"/>
            <a:ext cx="118872" cy="118872"/>
          </a:xfrm>
          <a:prstGeom prst="ellipse">
            <a:avLst/>
          </a:prstGeom>
          <a:solidFill>
            <a:srgbClr val="2DD4BF"/>
          </a:solidFill>
          <a:ln/>
        </p:spPr>
      </p:sp>
      <p:sp>
        <p:nvSpPr>
          <p:cNvPr id="18" name="Text 15"/>
          <p:cNvSpPr/>
          <p:nvPr/>
        </p:nvSpPr>
        <p:spPr>
          <a:xfrm>
            <a:off x="1143000" y="2532841"/>
            <a:ext cx="4297680" cy="365760"/>
          </a:xfrm>
          <a:prstGeom prst="rect">
            <a:avLst/>
          </a:prstGeom>
          <a:noFill/>
          <a:ln/>
        </p:spPr>
        <p:txBody>
          <a:bodyPr wrap="square" lIns="0" tIns="0" rIns="0" bIns="0" rtlCol="0" anchor="ctr"/>
          <a:lstStyle/>
          <a:p>
            <a:pPr marL="0" indent="0">
              <a:buNone/>
            </a:pPr>
            <a:r>
              <a:rPr lang="en-US" sz="1400" dirty="0">
                <a:solidFill>
                  <a:schemeClr val="bg1"/>
                </a:solidFill>
                <a:latin typeface="+mj-lt"/>
                <a:cs typeface="Courier New" pitchFamily="34" charset="-120"/>
              </a:rPr>
              <a:t>CSS : Variables, </a:t>
            </a:r>
            <a:r>
              <a:rPr lang="en-US" sz="1400" dirty="0" err="1">
                <a:solidFill>
                  <a:schemeClr val="bg1"/>
                </a:solidFill>
                <a:latin typeface="+mj-lt"/>
                <a:cs typeface="Courier New" pitchFamily="34" charset="-120"/>
              </a:rPr>
              <a:t>typographie</a:t>
            </a:r>
            <a:r>
              <a:rPr lang="en-US" sz="1400" dirty="0">
                <a:solidFill>
                  <a:schemeClr val="bg1"/>
                </a:solidFill>
                <a:latin typeface="+mj-lt"/>
                <a:cs typeface="Courier New" pitchFamily="34" charset="-120"/>
              </a:rPr>
              <a:t>, layout general et style de base </a:t>
            </a:r>
            <a:endParaRPr lang="en-US" sz="1400" dirty="0">
              <a:solidFill>
                <a:schemeClr val="bg1"/>
              </a:solidFill>
              <a:latin typeface="+mj-lt"/>
            </a:endParaRPr>
          </a:p>
        </p:txBody>
      </p:sp>
      <p:sp>
        <p:nvSpPr>
          <p:cNvPr id="19" name="Text 16"/>
          <p:cNvSpPr/>
          <p:nvPr/>
        </p:nvSpPr>
        <p:spPr>
          <a:xfrm>
            <a:off x="5463539" y="2551144"/>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20" name="Shape 17"/>
          <p:cNvSpPr/>
          <p:nvPr/>
        </p:nvSpPr>
        <p:spPr>
          <a:xfrm>
            <a:off x="834992" y="3154680"/>
            <a:ext cx="118872" cy="118872"/>
          </a:xfrm>
          <a:prstGeom prst="ellipse">
            <a:avLst/>
          </a:prstGeom>
          <a:solidFill>
            <a:srgbClr val="2DD4BF"/>
          </a:solidFill>
          <a:ln/>
        </p:spPr>
      </p:sp>
      <p:sp>
        <p:nvSpPr>
          <p:cNvPr id="22" name="Text 19"/>
          <p:cNvSpPr/>
          <p:nvPr/>
        </p:nvSpPr>
        <p:spPr>
          <a:xfrm>
            <a:off x="1143000" y="3004598"/>
            <a:ext cx="4297680" cy="365760"/>
          </a:xfrm>
          <a:prstGeom prst="rect">
            <a:avLst/>
          </a:prstGeom>
          <a:noFill/>
          <a:ln/>
        </p:spPr>
        <p:txBody>
          <a:bodyPr wrap="square" lIns="0" tIns="0" rIns="0" bIns="0" rtlCol="0" anchor="ctr"/>
          <a:lstStyle/>
          <a:p>
            <a:pPr marL="0" indent="0">
              <a:buNone/>
            </a:pPr>
            <a:r>
              <a:rPr lang="en-US" sz="1400" dirty="0">
                <a:solidFill>
                  <a:schemeClr val="bg1"/>
                </a:solidFill>
                <a:latin typeface="+mj-lt"/>
                <a:cs typeface="Courier New" pitchFamily="34" charset="-120"/>
              </a:rPr>
              <a:t>CSS : Bento Grid, sections hero et categories, </a:t>
            </a:r>
            <a:r>
              <a:rPr lang="en-US" sz="1400" dirty="0" err="1">
                <a:solidFill>
                  <a:schemeClr val="bg1"/>
                </a:solidFill>
                <a:latin typeface="+mj-lt"/>
                <a:cs typeface="Courier New" pitchFamily="34" charset="-120"/>
              </a:rPr>
              <a:t>effets</a:t>
            </a:r>
            <a:r>
              <a:rPr lang="en-US" sz="1400" dirty="0">
                <a:solidFill>
                  <a:schemeClr val="bg1"/>
                </a:solidFill>
                <a:latin typeface="+mj-lt"/>
                <a:cs typeface="Courier New" pitchFamily="34" charset="-120"/>
              </a:rPr>
              <a:t> hover </a:t>
            </a:r>
            <a:endParaRPr lang="en-US" sz="1400" dirty="0">
              <a:solidFill>
                <a:schemeClr val="bg1"/>
              </a:solidFill>
              <a:latin typeface="+mj-lt"/>
            </a:endParaRPr>
          </a:p>
        </p:txBody>
      </p:sp>
      <p:sp>
        <p:nvSpPr>
          <p:cNvPr id="23" name="Text 20"/>
          <p:cNvSpPr/>
          <p:nvPr/>
        </p:nvSpPr>
        <p:spPr>
          <a:xfrm>
            <a:off x="5469436" y="3021579"/>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24" name="Shape 21"/>
          <p:cNvSpPr/>
          <p:nvPr/>
        </p:nvSpPr>
        <p:spPr>
          <a:xfrm>
            <a:off x="850392" y="3584449"/>
            <a:ext cx="118872" cy="118872"/>
          </a:xfrm>
          <a:prstGeom prst="ellipse">
            <a:avLst/>
          </a:prstGeom>
          <a:solidFill>
            <a:srgbClr val="2DD4BF"/>
          </a:solidFill>
          <a:ln/>
        </p:spPr>
      </p:sp>
      <p:sp>
        <p:nvSpPr>
          <p:cNvPr id="26" name="Text 23"/>
          <p:cNvSpPr/>
          <p:nvPr/>
        </p:nvSpPr>
        <p:spPr>
          <a:xfrm>
            <a:off x="1165860" y="3542861"/>
            <a:ext cx="4297680" cy="365760"/>
          </a:xfrm>
          <a:prstGeom prst="rect">
            <a:avLst/>
          </a:prstGeom>
          <a:noFill/>
          <a:ln/>
        </p:spPr>
        <p:txBody>
          <a:bodyPr wrap="square" lIns="0" tIns="0" rIns="0" bIns="0" rtlCol="0" anchor="ctr"/>
          <a:lstStyle/>
          <a:p>
            <a:pPr marL="0" indent="0">
              <a:buNone/>
            </a:pPr>
            <a:r>
              <a:rPr lang="en-US" sz="1400" dirty="0">
                <a:solidFill>
                  <a:schemeClr val="bg1"/>
                </a:solidFill>
                <a:latin typeface="+mj-lt"/>
                <a:cs typeface="Courier New" pitchFamily="34" charset="-120"/>
              </a:rPr>
              <a:t>CSS : Responsive design mobile, </a:t>
            </a:r>
            <a:r>
              <a:rPr lang="en-US" sz="1400" dirty="0" err="1">
                <a:solidFill>
                  <a:schemeClr val="bg1"/>
                </a:solidFill>
                <a:latin typeface="+mj-lt"/>
                <a:cs typeface="Courier New" pitchFamily="34" charset="-120"/>
              </a:rPr>
              <a:t>tablette</a:t>
            </a:r>
            <a:r>
              <a:rPr lang="en-US" sz="1400" dirty="0">
                <a:solidFill>
                  <a:schemeClr val="bg1"/>
                </a:solidFill>
                <a:latin typeface="+mj-lt"/>
                <a:cs typeface="Courier New" pitchFamily="34" charset="-120"/>
              </a:rPr>
              <a:t> et desktop, media queries </a:t>
            </a:r>
            <a:endParaRPr lang="en-US" sz="1400" dirty="0">
              <a:solidFill>
                <a:schemeClr val="bg1"/>
              </a:solidFill>
              <a:latin typeface="+mj-lt"/>
            </a:endParaRPr>
          </a:p>
        </p:txBody>
      </p:sp>
      <p:sp>
        <p:nvSpPr>
          <p:cNvPr id="27" name="Text 24"/>
          <p:cNvSpPr/>
          <p:nvPr/>
        </p:nvSpPr>
        <p:spPr>
          <a:xfrm>
            <a:off x="5463540" y="3484314"/>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28" name="Shape 25"/>
          <p:cNvSpPr/>
          <p:nvPr/>
        </p:nvSpPr>
        <p:spPr>
          <a:xfrm>
            <a:off x="850392" y="4148351"/>
            <a:ext cx="118872" cy="118872"/>
          </a:xfrm>
          <a:prstGeom prst="ellipse">
            <a:avLst/>
          </a:prstGeom>
          <a:solidFill>
            <a:srgbClr val="2DD4BF"/>
          </a:solidFill>
          <a:ln/>
        </p:spPr>
      </p:sp>
      <p:sp>
        <p:nvSpPr>
          <p:cNvPr id="29" name="Text 26"/>
          <p:cNvSpPr/>
          <p:nvPr/>
        </p:nvSpPr>
        <p:spPr>
          <a:xfrm>
            <a:off x="1143000" y="4124184"/>
            <a:ext cx="4297680" cy="365760"/>
          </a:xfrm>
          <a:prstGeom prst="rect">
            <a:avLst/>
          </a:prstGeom>
          <a:noFill/>
          <a:ln/>
        </p:spPr>
        <p:txBody>
          <a:bodyPr wrap="square" lIns="0" tIns="0" rIns="0" bIns="0" rtlCol="0" anchor="ctr"/>
          <a:lstStyle/>
          <a:p>
            <a:r>
              <a:rPr lang="en-US" sz="1400" dirty="0">
                <a:solidFill>
                  <a:schemeClr val="bg1"/>
                </a:solidFill>
                <a:latin typeface="+mj-lt"/>
              </a:rPr>
              <a:t>JS : dark mode avec </a:t>
            </a:r>
            <a:r>
              <a:rPr lang="en-US" sz="1400" dirty="0" err="1">
                <a:solidFill>
                  <a:schemeClr val="bg1"/>
                </a:solidFill>
                <a:latin typeface="+mj-lt"/>
              </a:rPr>
              <a:t>localStorage</a:t>
            </a:r>
            <a:r>
              <a:rPr lang="en-US" sz="1400" dirty="0">
                <a:solidFill>
                  <a:schemeClr val="bg1"/>
                </a:solidFill>
                <a:latin typeface="+mj-lt"/>
              </a:rPr>
              <a:t>, navbar </a:t>
            </a:r>
            <a:r>
              <a:rPr lang="en-US" sz="1400" dirty="0" err="1">
                <a:solidFill>
                  <a:schemeClr val="bg1"/>
                </a:solidFill>
                <a:latin typeface="+mj-lt"/>
              </a:rPr>
              <a:t>dynamique</a:t>
            </a:r>
            <a:r>
              <a:rPr lang="en-US" sz="1400" dirty="0">
                <a:solidFill>
                  <a:schemeClr val="bg1"/>
                </a:solidFill>
                <a:latin typeface="+mj-lt"/>
              </a:rPr>
              <a:t> au scroll </a:t>
            </a:r>
          </a:p>
        </p:txBody>
      </p:sp>
      <p:sp>
        <p:nvSpPr>
          <p:cNvPr id="30" name="Text 27"/>
          <p:cNvSpPr/>
          <p:nvPr/>
        </p:nvSpPr>
        <p:spPr>
          <a:xfrm>
            <a:off x="5446215" y="4069244"/>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31" name="Text 28"/>
          <p:cNvSpPr/>
          <p:nvPr/>
        </p:nvSpPr>
        <p:spPr>
          <a:xfrm>
            <a:off x="822960" y="5641848"/>
            <a:ext cx="5212080" cy="320040"/>
          </a:xfrm>
          <a:prstGeom prst="rect">
            <a:avLst/>
          </a:prstGeom>
          <a:noFill/>
          <a:ln/>
        </p:spPr>
        <p:txBody>
          <a:bodyPr wrap="square" lIns="0" tIns="0" rIns="0" bIns="0" rtlCol="0" anchor="ctr"/>
          <a:lstStyle/>
          <a:p>
            <a:pPr marL="0" indent="0">
              <a:buNone/>
            </a:pPr>
            <a:endParaRPr lang="en-US" sz="1100" dirty="0">
              <a:solidFill>
                <a:schemeClr val="bg1"/>
              </a:solidFill>
              <a:latin typeface="+mj-lt"/>
            </a:endParaRPr>
          </a:p>
        </p:txBody>
      </p:sp>
      <p:sp>
        <p:nvSpPr>
          <p:cNvPr id="32" name="Shape 29"/>
          <p:cNvSpPr/>
          <p:nvPr/>
        </p:nvSpPr>
        <p:spPr>
          <a:xfrm>
            <a:off x="6583680" y="1463040"/>
            <a:ext cx="5074920" cy="1920240"/>
          </a:xfrm>
          <a:prstGeom prst="roundRect">
            <a:avLst>
              <a:gd name="adj" fmla="val 571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35" name="Text 31"/>
          <p:cNvSpPr/>
          <p:nvPr/>
        </p:nvSpPr>
        <p:spPr>
          <a:xfrm>
            <a:off x="7452360" y="1645920"/>
            <a:ext cx="3977640" cy="365760"/>
          </a:xfrm>
          <a:prstGeom prst="rect">
            <a:avLst/>
          </a:prstGeom>
          <a:noFill/>
          <a:ln/>
        </p:spPr>
        <p:txBody>
          <a:bodyPr wrap="square" lIns="0" tIns="0" rIns="0" bIns="0" rtlCol="0" anchor="ctr"/>
          <a:lstStyle/>
          <a:p>
            <a:pPr marL="0" indent="0">
              <a:buNone/>
            </a:pPr>
            <a:r>
              <a:rPr lang="en-US" sz="2000" b="1" dirty="0">
                <a:solidFill>
                  <a:schemeClr val="bg1"/>
                </a:solidFill>
                <a:latin typeface="+mj-lt"/>
                <a:ea typeface="Cambria" pitchFamily="34" charset="-122"/>
                <a:cs typeface="Cambria" pitchFamily="34" charset="-120"/>
              </a:rPr>
              <a:t>Workflow Git</a:t>
            </a:r>
            <a:endParaRPr lang="en-US" sz="2000" dirty="0">
              <a:solidFill>
                <a:schemeClr val="bg1"/>
              </a:solidFill>
              <a:latin typeface="+mj-lt"/>
            </a:endParaRPr>
          </a:p>
        </p:txBody>
      </p:sp>
      <p:sp>
        <p:nvSpPr>
          <p:cNvPr id="36" name="Shape 32"/>
          <p:cNvSpPr/>
          <p:nvPr/>
        </p:nvSpPr>
        <p:spPr>
          <a:xfrm>
            <a:off x="6858000" y="2331720"/>
            <a:ext cx="1078992" cy="822960"/>
          </a:xfrm>
          <a:prstGeom prst="roundRect">
            <a:avLst>
              <a:gd name="adj" fmla="val 8889"/>
            </a:avLst>
          </a:prstGeom>
          <a:solidFill>
            <a:srgbClr val="1B1733"/>
          </a:solidFill>
          <a:ln/>
        </p:spPr>
      </p:sp>
      <p:sp>
        <p:nvSpPr>
          <p:cNvPr id="37" name="Text 33"/>
          <p:cNvSpPr/>
          <p:nvPr/>
        </p:nvSpPr>
        <p:spPr>
          <a:xfrm>
            <a:off x="6903720" y="2377440"/>
            <a:ext cx="987552" cy="731520"/>
          </a:xfrm>
          <a:prstGeom prst="rect">
            <a:avLst/>
          </a:prstGeom>
          <a:noFill/>
          <a:ln/>
        </p:spPr>
        <p:txBody>
          <a:bodyPr wrap="square" lIns="0" tIns="0" rIns="0" bIns="0" rtlCol="0" anchor="ctr"/>
          <a:lstStyle/>
          <a:p>
            <a:pPr marL="0" indent="0" algn="ctr">
              <a:lnSpc>
                <a:spcPct val="100000"/>
              </a:lnSpc>
              <a:buNone/>
            </a:pPr>
            <a:r>
              <a:rPr lang="en-US" sz="1050" dirty="0">
                <a:solidFill>
                  <a:schemeClr val="bg1"/>
                </a:solidFill>
                <a:latin typeface="+mj-lt"/>
                <a:ea typeface="Courier New" pitchFamily="34" charset="-122"/>
                <a:cs typeface="Courier New" pitchFamily="34" charset="-120"/>
              </a:rPr>
              <a:t>git init / clone</a:t>
            </a:r>
            <a:endParaRPr lang="en-US" sz="1050" dirty="0">
              <a:solidFill>
                <a:schemeClr val="bg1"/>
              </a:solidFill>
              <a:latin typeface="+mj-lt"/>
            </a:endParaRPr>
          </a:p>
        </p:txBody>
      </p:sp>
      <p:sp>
        <p:nvSpPr>
          <p:cNvPr id="39" name="Shape 34"/>
          <p:cNvSpPr/>
          <p:nvPr/>
        </p:nvSpPr>
        <p:spPr>
          <a:xfrm>
            <a:off x="8065008" y="2331720"/>
            <a:ext cx="1078992" cy="822960"/>
          </a:xfrm>
          <a:prstGeom prst="roundRect">
            <a:avLst>
              <a:gd name="adj" fmla="val 8889"/>
            </a:avLst>
          </a:prstGeom>
          <a:solidFill>
            <a:srgbClr val="1B1733"/>
          </a:solidFill>
          <a:ln/>
        </p:spPr>
      </p:sp>
      <p:sp>
        <p:nvSpPr>
          <p:cNvPr id="40" name="Text 35"/>
          <p:cNvSpPr/>
          <p:nvPr/>
        </p:nvSpPr>
        <p:spPr>
          <a:xfrm>
            <a:off x="8110728" y="2377440"/>
            <a:ext cx="987552" cy="731520"/>
          </a:xfrm>
          <a:prstGeom prst="rect">
            <a:avLst/>
          </a:prstGeom>
          <a:noFill/>
          <a:ln/>
        </p:spPr>
        <p:txBody>
          <a:bodyPr wrap="square" lIns="0" tIns="0" rIns="0" bIns="0" rtlCol="0" anchor="ctr"/>
          <a:lstStyle/>
          <a:p>
            <a:pPr marL="0" indent="0" algn="ctr">
              <a:lnSpc>
                <a:spcPct val="100000"/>
              </a:lnSpc>
              <a:buNone/>
            </a:pPr>
            <a:r>
              <a:rPr lang="en-US" sz="1050" dirty="0">
                <a:solidFill>
                  <a:schemeClr val="bg1"/>
                </a:solidFill>
                <a:latin typeface="+mj-lt"/>
                <a:ea typeface="Courier New" pitchFamily="34" charset="-122"/>
                <a:cs typeface="Courier New" pitchFamily="34" charset="-120"/>
              </a:rPr>
              <a:t>git add .</a:t>
            </a:r>
            <a:endParaRPr lang="en-US" sz="1050" dirty="0">
              <a:solidFill>
                <a:schemeClr val="bg1"/>
              </a:solidFill>
              <a:latin typeface="+mj-lt"/>
            </a:endParaRPr>
          </a:p>
        </p:txBody>
      </p:sp>
      <p:sp>
        <p:nvSpPr>
          <p:cNvPr id="42" name="Shape 36"/>
          <p:cNvSpPr/>
          <p:nvPr/>
        </p:nvSpPr>
        <p:spPr>
          <a:xfrm>
            <a:off x="9272016" y="2331720"/>
            <a:ext cx="1078992" cy="822960"/>
          </a:xfrm>
          <a:prstGeom prst="roundRect">
            <a:avLst>
              <a:gd name="adj" fmla="val 8889"/>
            </a:avLst>
          </a:prstGeom>
          <a:solidFill>
            <a:srgbClr val="1B1733"/>
          </a:solidFill>
          <a:ln/>
        </p:spPr>
      </p:sp>
      <p:sp>
        <p:nvSpPr>
          <p:cNvPr id="43" name="Text 37"/>
          <p:cNvSpPr/>
          <p:nvPr/>
        </p:nvSpPr>
        <p:spPr>
          <a:xfrm>
            <a:off x="9317736" y="2377440"/>
            <a:ext cx="987552" cy="731520"/>
          </a:xfrm>
          <a:prstGeom prst="rect">
            <a:avLst/>
          </a:prstGeom>
          <a:noFill/>
          <a:ln/>
        </p:spPr>
        <p:txBody>
          <a:bodyPr wrap="square" lIns="0" tIns="0" rIns="0" bIns="0" rtlCol="0" anchor="ctr"/>
          <a:lstStyle/>
          <a:p>
            <a:pPr marL="0" indent="0" algn="ctr">
              <a:lnSpc>
                <a:spcPct val="100000"/>
              </a:lnSpc>
              <a:buNone/>
            </a:pPr>
            <a:r>
              <a:rPr lang="en-US" sz="1050" dirty="0">
                <a:solidFill>
                  <a:schemeClr val="bg1"/>
                </a:solidFill>
                <a:latin typeface="+mj-lt"/>
                <a:ea typeface="Courier New" pitchFamily="34" charset="-122"/>
                <a:cs typeface="Courier New" pitchFamily="34" charset="-120"/>
              </a:rPr>
              <a:t>git commit -m "…"</a:t>
            </a:r>
            <a:endParaRPr lang="en-US" sz="1050" dirty="0">
              <a:solidFill>
                <a:schemeClr val="bg1"/>
              </a:solidFill>
              <a:latin typeface="+mj-lt"/>
            </a:endParaRPr>
          </a:p>
        </p:txBody>
      </p:sp>
      <p:sp>
        <p:nvSpPr>
          <p:cNvPr id="45" name="Shape 38"/>
          <p:cNvSpPr/>
          <p:nvPr/>
        </p:nvSpPr>
        <p:spPr>
          <a:xfrm>
            <a:off x="10479024" y="2331720"/>
            <a:ext cx="1078992" cy="822960"/>
          </a:xfrm>
          <a:prstGeom prst="roundRect">
            <a:avLst>
              <a:gd name="adj" fmla="val 8889"/>
            </a:avLst>
          </a:prstGeom>
          <a:solidFill>
            <a:srgbClr val="1B1733"/>
          </a:solidFill>
          <a:ln/>
        </p:spPr>
      </p:sp>
      <p:sp>
        <p:nvSpPr>
          <p:cNvPr id="46" name="Text 39"/>
          <p:cNvSpPr/>
          <p:nvPr/>
        </p:nvSpPr>
        <p:spPr>
          <a:xfrm>
            <a:off x="10524744" y="2377440"/>
            <a:ext cx="987552" cy="731520"/>
          </a:xfrm>
          <a:prstGeom prst="rect">
            <a:avLst/>
          </a:prstGeom>
          <a:noFill/>
          <a:ln/>
        </p:spPr>
        <p:txBody>
          <a:bodyPr wrap="square" lIns="0" tIns="0" rIns="0" bIns="0" rtlCol="0" anchor="ctr"/>
          <a:lstStyle/>
          <a:p>
            <a:pPr marL="0" indent="0" algn="ctr">
              <a:lnSpc>
                <a:spcPct val="100000"/>
              </a:lnSpc>
              <a:buNone/>
            </a:pPr>
            <a:r>
              <a:rPr lang="en-US" sz="1050" dirty="0">
                <a:solidFill>
                  <a:schemeClr val="bg1"/>
                </a:solidFill>
                <a:latin typeface="+mj-lt"/>
                <a:ea typeface="Courier New" pitchFamily="34" charset="-122"/>
                <a:cs typeface="Courier New" pitchFamily="34" charset="-120"/>
              </a:rPr>
              <a:t>git push </a:t>
            </a:r>
            <a:endParaRPr lang="en-US" sz="1050" dirty="0">
              <a:solidFill>
                <a:schemeClr val="bg1"/>
              </a:solidFill>
              <a:latin typeface="+mj-lt"/>
            </a:endParaRPr>
          </a:p>
        </p:txBody>
      </p:sp>
      <p:sp>
        <p:nvSpPr>
          <p:cNvPr id="47" name="Shape 40"/>
          <p:cNvSpPr/>
          <p:nvPr/>
        </p:nvSpPr>
        <p:spPr>
          <a:xfrm>
            <a:off x="6583680" y="3611880"/>
            <a:ext cx="5074920" cy="1704756"/>
          </a:xfrm>
          <a:prstGeom prst="roundRect">
            <a:avLst>
              <a:gd name="adj" fmla="val 5455"/>
            </a:avLst>
          </a:prstGeom>
          <a:solidFill>
            <a:srgbClr val="1B1733"/>
          </a:solidFill>
          <a:ln w="12700">
            <a:solidFill>
              <a:srgbClr val="2A2545"/>
            </a:solidFill>
            <a:prstDash val="solid"/>
          </a:ln>
          <a:effectLst>
            <a:outerShdw blurRad="101600" dist="38100" dir="2700000" algn="bl" rotWithShape="0">
              <a:srgbClr val="000000">
                <a:alpha val="35000"/>
              </a:srgbClr>
            </a:outerShdw>
          </a:effectLst>
        </p:spPr>
      </p:sp>
      <p:sp>
        <p:nvSpPr>
          <p:cNvPr id="52" name="Text 43"/>
          <p:cNvSpPr/>
          <p:nvPr/>
        </p:nvSpPr>
        <p:spPr>
          <a:xfrm>
            <a:off x="8110728" y="3803904"/>
            <a:ext cx="3977640" cy="365760"/>
          </a:xfrm>
          <a:prstGeom prst="rect">
            <a:avLst/>
          </a:prstGeom>
          <a:noFill/>
          <a:ln/>
        </p:spPr>
        <p:txBody>
          <a:bodyPr wrap="square" lIns="0" tIns="0" rIns="0" bIns="0" rtlCol="0" anchor="ctr"/>
          <a:lstStyle/>
          <a:p>
            <a:pPr marL="0" indent="0">
              <a:buNone/>
            </a:pPr>
            <a:r>
              <a:rPr lang="en-US" sz="2000" b="1" dirty="0">
                <a:solidFill>
                  <a:schemeClr val="bg1"/>
                </a:solidFill>
                <a:latin typeface="+mj-lt"/>
                <a:ea typeface="Cambria" pitchFamily="34" charset="-122"/>
                <a:cs typeface="Cambria" pitchFamily="34" charset="-120"/>
              </a:rPr>
              <a:t>Dépôt GitHub</a:t>
            </a:r>
            <a:endParaRPr lang="en-US" sz="2000" dirty="0">
              <a:solidFill>
                <a:schemeClr val="bg1"/>
              </a:solidFill>
              <a:latin typeface="+mj-lt"/>
            </a:endParaRPr>
          </a:p>
        </p:txBody>
      </p:sp>
      <p:sp>
        <p:nvSpPr>
          <p:cNvPr id="53" name="Text 44"/>
          <p:cNvSpPr/>
          <p:nvPr/>
        </p:nvSpPr>
        <p:spPr>
          <a:xfrm>
            <a:off x="6858000" y="4370832"/>
            <a:ext cx="4526280" cy="274320"/>
          </a:xfrm>
          <a:prstGeom prst="rect">
            <a:avLst/>
          </a:prstGeom>
          <a:noFill/>
          <a:ln/>
        </p:spPr>
        <p:txBody>
          <a:bodyPr wrap="square" lIns="0" tIns="0" rIns="0" bIns="0" rtlCol="0" anchor="ctr"/>
          <a:lstStyle/>
          <a:p>
            <a:pPr marL="0" indent="0">
              <a:buNone/>
            </a:pPr>
            <a:r>
              <a:rPr lang="en-US" sz="1600" dirty="0">
                <a:solidFill>
                  <a:schemeClr val="bg1"/>
                </a:solidFill>
                <a:latin typeface="+mj-lt"/>
                <a:ea typeface="Calibri" pitchFamily="34" charset="-122"/>
                <a:cs typeface="Calibri" pitchFamily="34" charset="-120"/>
              </a:rPr>
              <a:t>Lien  :</a:t>
            </a:r>
            <a:endParaRPr lang="en-US" sz="1600" dirty="0">
              <a:solidFill>
                <a:schemeClr val="bg1"/>
              </a:solidFill>
              <a:latin typeface="+mj-lt"/>
            </a:endParaRPr>
          </a:p>
        </p:txBody>
      </p:sp>
      <p:sp>
        <p:nvSpPr>
          <p:cNvPr id="54" name="Text 45">
            <a:hlinkClick r:id="rId3"/>
          </p:cNvPr>
          <p:cNvSpPr/>
          <p:nvPr/>
        </p:nvSpPr>
        <p:spPr>
          <a:xfrm>
            <a:off x="7475869" y="4357479"/>
            <a:ext cx="4526280" cy="320040"/>
          </a:xfrm>
          <a:prstGeom prst="rect">
            <a:avLst/>
          </a:prstGeom>
          <a:noFill/>
          <a:ln/>
        </p:spPr>
        <p:txBody>
          <a:bodyPr wrap="square" lIns="0" tIns="0" rIns="0" bIns="0" rtlCol="0" anchor="ctr"/>
          <a:lstStyle/>
          <a:p>
            <a:r>
              <a:rPr lang="en-US" b="1" dirty="0">
                <a:solidFill>
                  <a:schemeClr val="bg1"/>
                </a:solidFill>
                <a:latin typeface="+mj-lt"/>
                <a:hlinkClick r:id="rId4">
                  <a:extLst>
                    <a:ext uri="{A12FA001-AC4F-418D-AE19-62706E023703}">
                      <ahyp:hlinkClr xmlns:ahyp="http://schemas.microsoft.com/office/drawing/2018/hyperlinkcolor" val="tx"/>
                    </a:ext>
                  </a:extLst>
                </a:hlinkClick>
              </a:rPr>
              <a:t>mailto:https://azarelketa147.github.io/KETA-WAPOUTOU-Azarel-AfriTalent/</a:t>
            </a:r>
            <a:endParaRPr lang="en-US" b="1" dirty="0">
              <a:solidFill>
                <a:schemeClr val="bg1"/>
              </a:solidFill>
              <a:latin typeface="+mj-lt"/>
            </a:endParaRPr>
          </a:p>
        </p:txBody>
      </p:sp>
      <p:sp>
        <p:nvSpPr>
          <p:cNvPr id="55" name="Text 46"/>
          <p:cNvSpPr/>
          <p:nvPr/>
        </p:nvSpPr>
        <p:spPr>
          <a:xfrm>
            <a:off x="6858000" y="5029200"/>
            <a:ext cx="4526280" cy="320040"/>
          </a:xfrm>
          <a:prstGeom prst="rect">
            <a:avLst/>
          </a:prstGeom>
          <a:noFill/>
          <a:ln/>
        </p:spPr>
        <p:txBody>
          <a:bodyPr wrap="square" lIns="0" tIns="0" rIns="0" bIns="0" rtlCol="0" anchor="ctr"/>
          <a:lstStyle/>
          <a:p>
            <a:pPr marL="0" indent="0">
              <a:buNone/>
            </a:pPr>
            <a:r>
              <a:rPr lang="en-US" sz="1400" i="1" dirty="0">
                <a:solidFill>
                  <a:schemeClr val="bg1"/>
                </a:solidFill>
                <a:latin typeface="+mj-lt"/>
                <a:ea typeface="Calibri" pitchFamily="34" charset="-122"/>
                <a:cs typeface="Calibri" pitchFamily="34" charset="-120"/>
              </a:rPr>
              <a:t> </a:t>
            </a:r>
            <a:endParaRPr lang="en-US" sz="1400" dirty="0">
              <a:solidFill>
                <a:schemeClr val="bg1"/>
              </a:solidFill>
              <a:latin typeface="+mj-lt"/>
            </a:endParaRPr>
          </a:p>
        </p:txBody>
      </p:sp>
      <p:sp>
        <p:nvSpPr>
          <p:cNvPr id="56" name="Text 47"/>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chemeClr val="bg1"/>
                </a:solidFill>
                <a:latin typeface="+mj-lt"/>
                <a:ea typeface="Calibri" pitchFamily="34" charset="-122"/>
                <a:cs typeface="Calibri" pitchFamily="34" charset="-120"/>
              </a:rPr>
              <a:t>10</a:t>
            </a:r>
            <a:endParaRPr lang="en-US" sz="1200" dirty="0">
              <a:solidFill>
                <a:schemeClr val="bg1"/>
              </a:solidFill>
              <a:latin typeface="+mj-lt"/>
            </a:endParaRPr>
          </a:p>
        </p:txBody>
      </p:sp>
      <p:sp>
        <p:nvSpPr>
          <p:cNvPr id="57" name="Text 48"/>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200" dirty="0">
              <a:solidFill>
                <a:schemeClr val="bg1"/>
              </a:solidFill>
              <a:latin typeface="+mj-lt"/>
            </a:endParaRPr>
          </a:p>
        </p:txBody>
      </p:sp>
      <p:sp>
        <p:nvSpPr>
          <p:cNvPr id="6" name="ZoneTexte 5">
            <a:extLst>
              <a:ext uri="{FF2B5EF4-FFF2-40B4-BE49-F238E27FC236}">
                <a16:creationId xmlns:a16="http://schemas.microsoft.com/office/drawing/2014/main" id="{EDBEC040-2CCC-41EE-2171-0C4E3D2625E1}"/>
              </a:ext>
            </a:extLst>
          </p:cNvPr>
          <p:cNvSpPr txBox="1"/>
          <p:nvPr/>
        </p:nvSpPr>
        <p:spPr>
          <a:xfrm>
            <a:off x="1068644" y="4537787"/>
            <a:ext cx="4420402" cy="523220"/>
          </a:xfrm>
          <a:prstGeom prst="rect">
            <a:avLst/>
          </a:prstGeom>
          <a:noFill/>
        </p:spPr>
        <p:txBody>
          <a:bodyPr wrap="square" rtlCol="0">
            <a:spAutoFit/>
          </a:bodyPr>
          <a:lstStyle/>
          <a:p>
            <a:r>
              <a:rPr lang="fr-FR" sz="1400" dirty="0">
                <a:solidFill>
                  <a:schemeClr val="bg1"/>
                </a:solidFill>
              </a:rPr>
              <a:t>JS : compteurs animés au scroll et animations fade-in des sections.</a:t>
            </a:r>
          </a:p>
        </p:txBody>
      </p:sp>
      <p:sp>
        <p:nvSpPr>
          <p:cNvPr id="33" name="ZoneTexte 32">
            <a:extLst>
              <a:ext uri="{FF2B5EF4-FFF2-40B4-BE49-F238E27FC236}">
                <a16:creationId xmlns:a16="http://schemas.microsoft.com/office/drawing/2014/main" id="{6B729C55-8A92-2058-232A-CB627377911C}"/>
              </a:ext>
            </a:extLst>
          </p:cNvPr>
          <p:cNvSpPr txBox="1"/>
          <p:nvPr/>
        </p:nvSpPr>
        <p:spPr>
          <a:xfrm>
            <a:off x="1084045" y="5105679"/>
            <a:ext cx="4420402" cy="523220"/>
          </a:xfrm>
          <a:prstGeom prst="rect">
            <a:avLst/>
          </a:prstGeom>
          <a:noFill/>
        </p:spPr>
        <p:txBody>
          <a:bodyPr wrap="square" rtlCol="0">
            <a:spAutoFit/>
          </a:bodyPr>
          <a:lstStyle/>
          <a:p>
            <a:r>
              <a:rPr lang="fr-FR" sz="1400" dirty="0">
                <a:solidFill>
                  <a:schemeClr val="bg1"/>
                </a:solidFill>
              </a:rPr>
              <a:t>JS : Filtrage dynamique des freelances et validation du formulaire de contact</a:t>
            </a:r>
          </a:p>
        </p:txBody>
      </p:sp>
      <p:sp>
        <p:nvSpPr>
          <p:cNvPr id="34" name="ZoneTexte 33">
            <a:extLst>
              <a:ext uri="{FF2B5EF4-FFF2-40B4-BE49-F238E27FC236}">
                <a16:creationId xmlns:a16="http://schemas.microsoft.com/office/drawing/2014/main" id="{090ED67E-81F2-1A3B-E4BC-5078A6AC10D8}"/>
              </a:ext>
            </a:extLst>
          </p:cNvPr>
          <p:cNvSpPr txBox="1"/>
          <p:nvPr/>
        </p:nvSpPr>
        <p:spPr>
          <a:xfrm>
            <a:off x="1081639" y="5720290"/>
            <a:ext cx="4420402" cy="523220"/>
          </a:xfrm>
          <a:prstGeom prst="rect">
            <a:avLst/>
          </a:prstGeom>
          <a:noFill/>
        </p:spPr>
        <p:txBody>
          <a:bodyPr wrap="square" rtlCol="0">
            <a:spAutoFit/>
          </a:bodyPr>
          <a:lstStyle/>
          <a:p>
            <a:r>
              <a:rPr lang="fr-FR" sz="1400" dirty="0">
                <a:solidFill>
                  <a:schemeClr val="bg1"/>
                </a:solidFill>
              </a:rPr>
              <a:t>Finalisation : correction responsive, optimisation du code et  commentaires.</a:t>
            </a:r>
          </a:p>
        </p:txBody>
      </p:sp>
      <p:sp>
        <p:nvSpPr>
          <p:cNvPr id="38" name="Shape 25">
            <a:extLst>
              <a:ext uri="{FF2B5EF4-FFF2-40B4-BE49-F238E27FC236}">
                <a16:creationId xmlns:a16="http://schemas.microsoft.com/office/drawing/2014/main" id="{6F92EF75-017F-EE4C-B41A-34684C8CA9B7}"/>
              </a:ext>
            </a:extLst>
          </p:cNvPr>
          <p:cNvSpPr/>
          <p:nvPr/>
        </p:nvSpPr>
        <p:spPr>
          <a:xfrm>
            <a:off x="852157" y="5819309"/>
            <a:ext cx="118872" cy="118872"/>
          </a:xfrm>
          <a:prstGeom prst="ellipse">
            <a:avLst/>
          </a:prstGeom>
          <a:solidFill>
            <a:srgbClr val="2DD4BF"/>
          </a:solidFill>
          <a:ln/>
        </p:spPr>
      </p:sp>
      <p:sp>
        <p:nvSpPr>
          <p:cNvPr id="41" name="Shape 25">
            <a:extLst>
              <a:ext uri="{FF2B5EF4-FFF2-40B4-BE49-F238E27FC236}">
                <a16:creationId xmlns:a16="http://schemas.microsoft.com/office/drawing/2014/main" id="{4E37D949-637F-D15C-AC6E-00CC59D08013}"/>
              </a:ext>
            </a:extLst>
          </p:cNvPr>
          <p:cNvSpPr/>
          <p:nvPr/>
        </p:nvSpPr>
        <p:spPr>
          <a:xfrm>
            <a:off x="822960" y="5197764"/>
            <a:ext cx="118872" cy="118872"/>
          </a:xfrm>
          <a:prstGeom prst="ellipse">
            <a:avLst/>
          </a:prstGeom>
          <a:solidFill>
            <a:srgbClr val="2DD4BF"/>
          </a:solidFill>
          <a:ln/>
        </p:spPr>
      </p:sp>
      <p:sp>
        <p:nvSpPr>
          <p:cNvPr id="44" name="Shape 25">
            <a:extLst>
              <a:ext uri="{FF2B5EF4-FFF2-40B4-BE49-F238E27FC236}">
                <a16:creationId xmlns:a16="http://schemas.microsoft.com/office/drawing/2014/main" id="{03F9A247-0097-0E04-0F60-CE2B5B4347BB}"/>
              </a:ext>
            </a:extLst>
          </p:cNvPr>
          <p:cNvSpPr/>
          <p:nvPr/>
        </p:nvSpPr>
        <p:spPr>
          <a:xfrm>
            <a:off x="850392" y="4671985"/>
            <a:ext cx="118872" cy="118872"/>
          </a:xfrm>
          <a:prstGeom prst="ellipse">
            <a:avLst/>
          </a:prstGeom>
          <a:solidFill>
            <a:srgbClr val="2DD4BF"/>
          </a:solidFill>
          <a:ln/>
        </p:spPr>
      </p:sp>
      <p:sp>
        <p:nvSpPr>
          <p:cNvPr id="48" name="Text 27">
            <a:extLst>
              <a:ext uri="{FF2B5EF4-FFF2-40B4-BE49-F238E27FC236}">
                <a16:creationId xmlns:a16="http://schemas.microsoft.com/office/drawing/2014/main" id="{E3DB0DB6-F18A-7C82-CEEA-9C1ED2A3C04E}"/>
              </a:ext>
            </a:extLst>
          </p:cNvPr>
          <p:cNvSpPr/>
          <p:nvPr/>
        </p:nvSpPr>
        <p:spPr>
          <a:xfrm>
            <a:off x="5472644" y="4530734"/>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49" name="Text 27">
            <a:extLst>
              <a:ext uri="{FF2B5EF4-FFF2-40B4-BE49-F238E27FC236}">
                <a16:creationId xmlns:a16="http://schemas.microsoft.com/office/drawing/2014/main" id="{91DF9FC7-2955-454A-E016-719B9C1E24AA}"/>
              </a:ext>
            </a:extLst>
          </p:cNvPr>
          <p:cNvSpPr/>
          <p:nvPr/>
        </p:nvSpPr>
        <p:spPr>
          <a:xfrm>
            <a:off x="5463540" y="5116791"/>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50" name="Text 27">
            <a:extLst>
              <a:ext uri="{FF2B5EF4-FFF2-40B4-BE49-F238E27FC236}">
                <a16:creationId xmlns:a16="http://schemas.microsoft.com/office/drawing/2014/main" id="{6314D435-EE00-DB31-39A8-5A529BC30D54}"/>
              </a:ext>
            </a:extLst>
          </p:cNvPr>
          <p:cNvSpPr/>
          <p:nvPr/>
        </p:nvSpPr>
        <p:spPr>
          <a:xfrm>
            <a:off x="5463540" y="5712038"/>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876800" y="320200"/>
            <a:ext cx="7315200" cy="320040"/>
          </a:xfrm>
          <a:prstGeom prst="rect">
            <a:avLst/>
          </a:prstGeom>
          <a:noFill/>
          <a:ln/>
        </p:spPr>
        <p:txBody>
          <a:bodyPr wrap="square" lIns="0" tIns="0" rIns="0" bIns="0" rtlCol="0" anchor="ctr"/>
          <a:lstStyle/>
          <a:p>
            <a:pPr marL="0" indent="0" algn="l">
              <a:buNone/>
            </a:pPr>
            <a:r>
              <a:rPr lang="en-US" sz="1200" b="1" kern="0" spc="300" dirty="0">
                <a:solidFill>
                  <a:schemeClr val="bg1"/>
                </a:solidFill>
                <a:latin typeface="Arial" panose="020B0604020202020204" pitchFamily="34" charset="0"/>
                <a:ea typeface="Calibri" pitchFamily="34" charset="-122"/>
                <a:cs typeface="Arial" panose="020B0604020202020204" pitchFamily="34" charset="0"/>
              </a:rPr>
              <a:t>BILAN TECHNIQUE</a:t>
            </a:r>
            <a:endParaRPr lang="en-US" sz="1200"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2606040" y="767080"/>
            <a:ext cx="10515600" cy="640080"/>
          </a:xfrm>
          <a:prstGeom prst="rect">
            <a:avLst/>
          </a:prstGeom>
          <a:noFill/>
          <a:ln/>
        </p:spPr>
        <p:txBody>
          <a:bodyPr wrap="square" lIns="0" tIns="0" rIns="0" bIns="0" rtlCol="0" anchor="ctr"/>
          <a:lstStyle/>
          <a:p>
            <a:pPr marL="0" indent="0" algn="l">
              <a:buNone/>
            </a:pPr>
            <a:r>
              <a:rPr lang="en-US" sz="3200" b="1" dirty="0">
                <a:solidFill>
                  <a:schemeClr val="bg1"/>
                </a:solidFill>
                <a:latin typeface="Arial" panose="020B0604020202020204" pitchFamily="34" charset="0"/>
                <a:ea typeface="Cambria" pitchFamily="34" charset="-122"/>
                <a:cs typeface="Arial" panose="020B0604020202020204" pitchFamily="34" charset="0"/>
              </a:rPr>
              <a:t>Difficultés rencontrées &amp; solutions</a:t>
            </a:r>
            <a:endParaRPr lang="en-US" sz="3200" dirty="0">
              <a:solidFill>
                <a:schemeClr val="bg1"/>
              </a:solidFill>
              <a:latin typeface="Arial" panose="020B0604020202020204" pitchFamily="34" charset="0"/>
              <a:cs typeface="Arial" panose="020B0604020202020204" pitchFamily="34" charset="0"/>
            </a:endParaRPr>
          </a:p>
        </p:txBody>
      </p:sp>
      <p:sp>
        <p:nvSpPr>
          <p:cNvPr id="4" name="Shape 2"/>
          <p:cNvSpPr/>
          <p:nvPr/>
        </p:nvSpPr>
        <p:spPr>
          <a:xfrm>
            <a:off x="548640" y="146304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7" name="Text 4"/>
          <p:cNvSpPr/>
          <p:nvPr/>
        </p:nvSpPr>
        <p:spPr>
          <a:xfrm>
            <a:off x="1325880" y="1645920"/>
            <a:ext cx="4434840" cy="457200"/>
          </a:xfrm>
          <a:prstGeom prst="rect">
            <a:avLst/>
          </a:prstGeom>
          <a:noFill/>
          <a:ln/>
        </p:spPr>
        <p:txBody>
          <a:bodyPr wrap="square" lIns="0" tIns="0" rIns="0" bIns="0" rtlCol="0" anchor="t"/>
          <a:lstStyle/>
          <a:p>
            <a:pPr marL="0" indent="0">
              <a:buNone/>
            </a:pPr>
            <a:r>
              <a:rPr lang="en-US" sz="1350" b="1" dirty="0">
                <a:solidFill>
                  <a:schemeClr val="bg1"/>
                </a:solidFill>
                <a:latin typeface="Arial" panose="020B0604020202020204" pitchFamily="34" charset="0"/>
                <a:ea typeface="Cambria" pitchFamily="34" charset="-122"/>
                <a:cs typeface="Arial" panose="020B0604020202020204" pitchFamily="34" charset="0"/>
              </a:rPr>
              <a:t>Persistance du thème clair/sombre</a:t>
            </a:r>
            <a:endParaRPr lang="en-US" sz="1350" dirty="0">
              <a:solidFill>
                <a:schemeClr val="bg1"/>
              </a:solidFill>
              <a:latin typeface="Arial" panose="020B0604020202020204" pitchFamily="34" charset="0"/>
              <a:cs typeface="Arial" panose="020B0604020202020204" pitchFamily="34" charset="0"/>
            </a:endParaRPr>
          </a:p>
        </p:txBody>
      </p:sp>
      <p:sp>
        <p:nvSpPr>
          <p:cNvPr id="8" name="Text 5"/>
          <p:cNvSpPr/>
          <p:nvPr/>
        </p:nvSpPr>
        <p:spPr>
          <a:xfrm>
            <a:off x="777240" y="2240280"/>
            <a:ext cx="4983480" cy="594360"/>
          </a:xfrm>
          <a:prstGeom prst="rect">
            <a:avLst/>
          </a:prstGeom>
          <a:noFill/>
          <a:ln/>
        </p:spPr>
        <p:txBody>
          <a:bodyPr wrap="square" lIns="0" tIns="0" rIns="0" bIns="0" rtlCol="0" anchor="t"/>
          <a:lstStyle/>
          <a:p>
            <a:pPr marL="0" indent="0">
              <a:lnSpc>
                <a:spcPct val="110000"/>
              </a:lnSpc>
              <a:buNone/>
            </a:pPr>
            <a:r>
              <a:rPr lang="en-US" sz="1020" b="1" dirty="0">
                <a:solidFill>
                  <a:schemeClr val="bg1"/>
                </a:solidFill>
                <a:latin typeface="Arial" panose="020B0604020202020204" pitchFamily="34" charset="0"/>
                <a:ea typeface="Calibri" pitchFamily="34" charset="-122"/>
                <a:cs typeface="Arial" panose="020B0604020202020204" pitchFamily="34" charset="0"/>
              </a:rPr>
              <a:t>Problème : </a:t>
            </a:r>
            <a:r>
              <a:rPr lang="en-US" sz="1020" dirty="0">
                <a:solidFill>
                  <a:schemeClr val="bg1"/>
                </a:solidFill>
                <a:latin typeface="Arial" panose="020B0604020202020204" pitchFamily="34" charset="0"/>
                <a:ea typeface="Calibri" pitchFamily="34" charset="-122"/>
                <a:cs typeface="Arial" panose="020B0604020202020204" pitchFamily="34" charset="0"/>
              </a:rPr>
              <a:t>Le thème choisi par l'utilisateur se réinitialisait à chaque rechargement de page.</a:t>
            </a:r>
            <a:endParaRPr lang="en-US" sz="1020" dirty="0">
              <a:solidFill>
                <a:schemeClr val="bg1"/>
              </a:solidFill>
              <a:latin typeface="Arial" panose="020B0604020202020204" pitchFamily="34" charset="0"/>
              <a:cs typeface="Arial" panose="020B0604020202020204" pitchFamily="34" charset="0"/>
            </a:endParaRPr>
          </a:p>
        </p:txBody>
      </p:sp>
      <p:sp>
        <p:nvSpPr>
          <p:cNvPr id="9" name="Text 6"/>
          <p:cNvSpPr/>
          <p:nvPr/>
        </p:nvSpPr>
        <p:spPr>
          <a:xfrm>
            <a:off x="777240" y="2834640"/>
            <a:ext cx="4983480" cy="713232"/>
          </a:xfrm>
          <a:prstGeom prst="rect">
            <a:avLst/>
          </a:prstGeom>
          <a:noFill/>
          <a:ln/>
        </p:spPr>
        <p:txBody>
          <a:bodyPr wrap="square" lIns="0" tIns="0" rIns="0" bIns="0" rtlCol="0" anchor="t"/>
          <a:lstStyle/>
          <a:p>
            <a:pPr marL="0" indent="0">
              <a:lnSpc>
                <a:spcPct val="110000"/>
              </a:lnSpc>
              <a:buNone/>
            </a:pPr>
            <a:r>
              <a:rPr lang="en-US" sz="1020" b="1" dirty="0">
                <a:solidFill>
                  <a:schemeClr val="bg1"/>
                </a:solidFill>
                <a:latin typeface="Arial" panose="020B0604020202020204" pitchFamily="34" charset="0"/>
                <a:ea typeface="Calibri" pitchFamily="34" charset="-122"/>
                <a:cs typeface="Arial" panose="020B0604020202020204" pitchFamily="34" charset="0"/>
              </a:rPr>
              <a:t>Solution : </a:t>
            </a:r>
            <a:r>
              <a:rPr lang="en-US" sz="1020" dirty="0">
                <a:solidFill>
                  <a:schemeClr val="bg1"/>
                </a:solidFill>
                <a:latin typeface="Arial" panose="020B0604020202020204" pitchFamily="34" charset="0"/>
                <a:ea typeface="Calibri" pitchFamily="34" charset="-122"/>
                <a:cs typeface="Arial" panose="020B0604020202020204" pitchFamily="34" charset="0"/>
              </a:rPr>
              <a:t>Sauvegarde du choix dans localStorage ("theme") et application au chargement via </a:t>
            </a:r>
            <a:r>
              <a:rPr lang="en-US" sz="1020" dirty="0" err="1">
                <a:solidFill>
                  <a:schemeClr val="bg1"/>
                </a:solidFill>
                <a:latin typeface="Arial" panose="020B0604020202020204" pitchFamily="34" charset="0"/>
                <a:ea typeface="Calibri" pitchFamily="34" charset="-122"/>
                <a:cs typeface="Arial" panose="020B0604020202020204" pitchFamily="34" charset="0"/>
              </a:rPr>
              <a:t>loadTheme</a:t>
            </a:r>
            <a:r>
              <a:rPr lang="en-US" sz="1020" dirty="0">
                <a:solidFill>
                  <a:schemeClr val="bg1"/>
                </a:solidFill>
                <a:latin typeface="Arial" panose="020B0604020202020204" pitchFamily="34" charset="0"/>
                <a:ea typeface="Calibri" pitchFamily="34" charset="-122"/>
                <a:cs typeface="Arial" panose="020B0604020202020204" pitchFamily="34" charset="0"/>
              </a:rPr>
              <a:t>().</a:t>
            </a:r>
            <a:endParaRPr lang="en-US" sz="1020" dirty="0">
              <a:solidFill>
                <a:schemeClr val="bg1"/>
              </a:solidFill>
              <a:latin typeface="Arial" panose="020B0604020202020204" pitchFamily="34" charset="0"/>
              <a:cs typeface="Arial" panose="020B0604020202020204" pitchFamily="34" charset="0"/>
            </a:endParaRPr>
          </a:p>
        </p:txBody>
      </p:sp>
      <p:sp>
        <p:nvSpPr>
          <p:cNvPr id="10" name="Shape 7"/>
          <p:cNvSpPr/>
          <p:nvPr/>
        </p:nvSpPr>
        <p:spPr>
          <a:xfrm>
            <a:off x="6355080" y="146304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3" name="Text 9"/>
          <p:cNvSpPr/>
          <p:nvPr/>
        </p:nvSpPr>
        <p:spPr>
          <a:xfrm>
            <a:off x="7132320" y="1645920"/>
            <a:ext cx="4434840" cy="457200"/>
          </a:xfrm>
          <a:prstGeom prst="rect">
            <a:avLst/>
          </a:prstGeom>
          <a:noFill/>
          <a:ln/>
        </p:spPr>
        <p:txBody>
          <a:bodyPr wrap="square" lIns="0" tIns="0" rIns="0" bIns="0" rtlCol="0" anchor="t"/>
          <a:lstStyle/>
          <a:p>
            <a:pPr marL="0" indent="0">
              <a:buNone/>
            </a:pPr>
            <a:r>
              <a:rPr lang="en-US" sz="1350" b="1" dirty="0">
                <a:solidFill>
                  <a:schemeClr val="bg1"/>
                </a:solidFill>
                <a:latin typeface="Arial" panose="020B0604020202020204" pitchFamily="34" charset="0"/>
                <a:ea typeface="Cambria" pitchFamily="34" charset="-122"/>
                <a:cs typeface="Arial" panose="020B0604020202020204" pitchFamily="34" charset="0"/>
              </a:rPr>
              <a:t>Mise en page « bento grid » non responsive</a:t>
            </a:r>
            <a:endParaRPr lang="en-US" sz="1350" dirty="0">
              <a:solidFill>
                <a:schemeClr val="bg1"/>
              </a:solidFill>
              <a:latin typeface="Arial" panose="020B0604020202020204" pitchFamily="34" charset="0"/>
              <a:cs typeface="Arial" panose="020B0604020202020204" pitchFamily="34" charset="0"/>
            </a:endParaRPr>
          </a:p>
        </p:txBody>
      </p:sp>
      <p:sp>
        <p:nvSpPr>
          <p:cNvPr id="14" name="Text 10"/>
          <p:cNvSpPr/>
          <p:nvPr/>
        </p:nvSpPr>
        <p:spPr>
          <a:xfrm>
            <a:off x="6583680" y="2240280"/>
            <a:ext cx="4983480" cy="594360"/>
          </a:xfrm>
          <a:prstGeom prst="rect">
            <a:avLst/>
          </a:prstGeom>
          <a:noFill/>
          <a:ln/>
        </p:spPr>
        <p:txBody>
          <a:bodyPr wrap="square" lIns="0" tIns="0" rIns="0" bIns="0" rtlCol="0" anchor="t"/>
          <a:lstStyle/>
          <a:p>
            <a:pPr marL="0" indent="0">
              <a:lnSpc>
                <a:spcPct val="110000"/>
              </a:lnSpc>
              <a:buNone/>
            </a:pPr>
            <a:r>
              <a:rPr lang="en-US" sz="1020" b="1" dirty="0">
                <a:solidFill>
                  <a:schemeClr val="bg1"/>
                </a:solidFill>
                <a:latin typeface="Arial" panose="020B0604020202020204" pitchFamily="34" charset="0"/>
                <a:ea typeface="Calibri" pitchFamily="34" charset="-122"/>
                <a:cs typeface="Arial" panose="020B0604020202020204" pitchFamily="34" charset="0"/>
              </a:rPr>
              <a:t>Problème : </a:t>
            </a:r>
            <a:r>
              <a:rPr lang="en-US" sz="1020" dirty="0">
                <a:solidFill>
                  <a:schemeClr val="bg1"/>
                </a:solidFill>
                <a:latin typeface="Arial" panose="020B0604020202020204" pitchFamily="34" charset="0"/>
                <a:ea typeface="Calibri" pitchFamily="34" charset="-122"/>
                <a:cs typeface="Arial" panose="020B0604020202020204" pitchFamily="34" charset="0"/>
              </a:rPr>
              <a:t>Les cartes large/wide (grid-row/column span) cassaient l'affichage sur mobile et tablette.</a:t>
            </a:r>
            <a:endParaRPr lang="en-US" sz="1020" dirty="0">
              <a:solidFill>
                <a:schemeClr val="bg1"/>
              </a:solidFill>
              <a:latin typeface="Arial" panose="020B0604020202020204" pitchFamily="34" charset="0"/>
              <a:cs typeface="Arial" panose="020B0604020202020204" pitchFamily="34" charset="0"/>
            </a:endParaRPr>
          </a:p>
        </p:txBody>
      </p:sp>
      <p:sp>
        <p:nvSpPr>
          <p:cNvPr id="15" name="Text 11"/>
          <p:cNvSpPr/>
          <p:nvPr/>
        </p:nvSpPr>
        <p:spPr>
          <a:xfrm>
            <a:off x="6583680" y="2834640"/>
            <a:ext cx="4983480" cy="713232"/>
          </a:xfrm>
          <a:prstGeom prst="rect">
            <a:avLst/>
          </a:prstGeom>
          <a:noFill/>
          <a:ln/>
        </p:spPr>
        <p:txBody>
          <a:bodyPr wrap="square" lIns="0" tIns="0" rIns="0" bIns="0" rtlCol="0" anchor="t"/>
          <a:lstStyle/>
          <a:p>
            <a:pPr>
              <a:lnSpc>
                <a:spcPct val="110000"/>
              </a:lnSpc>
            </a:pPr>
            <a:r>
              <a:rPr lang="fr-FR" sz="1050" b="1" dirty="0">
                <a:solidFill>
                  <a:schemeClr val="bg1"/>
                </a:solidFill>
                <a:latin typeface="Arial" panose="020B0604020202020204" pitchFamily="34" charset="0"/>
                <a:cs typeface="Arial" panose="020B0604020202020204" pitchFamily="34" charset="0"/>
              </a:rPr>
              <a:t>Solution : utilisation de media </a:t>
            </a:r>
            <a:r>
              <a:rPr lang="fr-FR" sz="1050" b="1" dirty="0" err="1">
                <a:solidFill>
                  <a:schemeClr val="bg1"/>
                </a:solidFill>
                <a:latin typeface="Arial" panose="020B0604020202020204" pitchFamily="34" charset="0"/>
                <a:cs typeface="Arial" panose="020B0604020202020204" pitchFamily="34" charset="0"/>
              </a:rPr>
              <a:t>queries</a:t>
            </a:r>
            <a:r>
              <a:rPr lang="fr-FR" sz="1050" b="1" dirty="0">
                <a:solidFill>
                  <a:schemeClr val="bg1"/>
                </a:solidFill>
                <a:latin typeface="Arial" panose="020B0604020202020204" pitchFamily="34" charset="0"/>
                <a:cs typeface="Arial" panose="020B0604020202020204" pitchFamily="34" charset="0"/>
              </a:rPr>
              <a:t> pour adapter la mise en page sur mobile. Sous 768px, les éléments reviennent automatiquement à une disposition normale, et sous 375px, le contenu passe en une seule colonne</a:t>
            </a:r>
            <a:endParaRPr lang="en-US" sz="1020" b="1" dirty="0">
              <a:solidFill>
                <a:schemeClr val="bg1"/>
              </a:solidFill>
              <a:latin typeface="Arial" panose="020B0604020202020204" pitchFamily="34" charset="0"/>
              <a:cs typeface="Arial" panose="020B0604020202020204" pitchFamily="34" charset="0"/>
            </a:endParaRPr>
          </a:p>
        </p:txBody>
      </p:sp>
      <p:sp>
        <p:nvSpPr>
          <p:cNvPr id="16" name="Shape 12"/>
          <p:cNvSpPr/>
          <p:nvPr/>
        </p:nvSpPr>
        <p:spPr>
          <a:xfrm>
            <a:off x="548640" y="388620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9" name="Text 14"/>
          <p:cNvSpPr/>
          <p:nvPr/>
        </p:nvSpPr>
        <p:spPr>
          <a:xfrm>
            <a:off x="1325880" y="4069080"/>
            <a:ext cx="4434840" cy="457200"/>
          </a:xfrm>
          <a:prstGeom prst="rect">
            <a:avLst/>
          </a:prstGeom>
          <a:noFill/>
          <a:ln/>
        </p:spPr>
        <p:txBody>
          <a:bodyPr wrap="square" lIns="0" tIns="0" rIns="0" bIns="0" rtlCol="0" anchor="t"/>
          <a:lstStyle/>
          <a:p>
            <a:pPr marL="0" indent="0">
              <a:buNone/>
            </a:pPr>
            <a:r>
              <a:rPr lang="en-US" sz="1350" b="1" dirty="0">
                <a:solidFill>
                  <a:schemeClr val="bg1"/>
                </a:solidFill>
                <a:latin typeface="Arial" panose="020B0604020202020204" pitchFamily="34" charset="0"/>
                <a:ea typeface="Cambria" pitchFamily="34" charset="-122"/>
                <a:cs typeface="Arial" panose="020B0604020202020204" pitchFamily="34" charset="0"/>
              </a:rPr>
              <a:t>Validation de formulaire peu fiable</a:t>
            </a:r>
            <a:endParaRPr lang="en-US" sz="1350" dirty="0">
              <a:solidFill>
                <a:schemeClr val="bg1"/>
              </a:solidFill>
              <a:latin typeface="Arial" panose="020B0604020202020204" pitchFamily="34" charset="0"/>
              <a:cs typeface="Arial" panose="020B0604020202020204" pitchFamily="34" charset="0"/>
            </a:endParaRPr>
          </a:p>
        </p:txBody>
      </p:sp>
      <p:sp>
        <p:nvSpPr>
          <p:cNvPr id="20" name="Text 15"/>
          <p:cNvSpPr/>
          <p:nvPr/>
        </p:nvSpPr>
        <p:spPr>
          <a:xfrm>
            <a:off x="777240" y="4551680"/>
            <a:ext cx="4983480" cy="594360"/>
          </a:xfrm>
          <a:prstGeom prst="rect">
            <a:avLst/>
          </a:prstGeom>
          <a:noFill/>
          <a:ln/>
        </p:spPr>
        <p:txBody>
          <a:bodyPr wrap="square" lIns="0" tIns="0" rIns="0" bIns="0" rtlCol="0" anchor="t"/>
          <a:lstStyle/>
          <a:p>
            <a:pPr>
              <a:lnSpc>
                <a:spcPct val="110000"/>
              </a:lnSpc>
            </a:pPr>
            <a:r>
              <a:rPr lang="fr-FR" sz="1050" b="1" dirty="0">
                <a:solidFill>
                  <a:schemeClr val="bg1"/>
                </a:solidFill>
                <a:latin typeface="Arial" panose="020B0604020202020204" pitchFamily="34" charset="0"/>
                <a:cs typeface="Arial" panose="020B0604020202020204" pitchFamily="34" charset="0"/>
              </a:rPr>
              <a:t>Problème : les utilisateurs pouvaient envoyer le formulaire même si certains champs étaient vides ou si l’adresse email était incorrecte, sans recevoir de message d’erreur clair.</a:t>
            </a:r>
            <a:endParaRPr lang="en-US" sz="1020" b="1" dirty="0">
              <a:solidFill>
                <a:schemeClr val="bg1"/>
              </a:solidFill>
              <a:latin typeface="Arial" panose="020B0604020202020204" pitchFamily="34" charset="0"/>
              <a:cs typeface="Arial" panose="020B0604020202020204" pitchFamily="34" charset="0"/>
            </a:endParaRPr>
          </a:p>
        </p:txBody>
      </p:sp>
      <p:sp>
        <p:nvSpPr>
          <p:cNvPr id="21" name="Text 16"/>
          <p:cNvSpPr/>
          <p:nvPr/>
        </p:nvSpPr>
        <p:spPr>
          <a:xfrm>
            <a:off x="777240" y="5257800"/>
            <a:ext cx="4983480" cy="713232"/>
          </a:xfrm>
          <a:prstGeom prst="rect">
            <a:avLst/>
          </a:prstGeom>
          <a:noFill/>
          <a:ln/>
        </p:spPr>
        <p:txBody>
          <a:bodyPr wrap="square" lIns="0" tIns="0" rIns="0" bIns="0" rtlCol="0" anchor="t"/>
          <a:lstStyle/>
          <a:p>
            <a:pPr marL="0" indent="0">
              <a:lnSpc>
                <a:spcPct val="110000"/>
              </a:lnSpc>
              <a:buNone/>
            </a:pPr>
            <a:r>
              <a:rPr lang="en-US" sz="1020" b="1" dirty="0">
                <a:solidFill>
                  <a:schemeClr val="bg1"/>
                </a:solidFill>
                <a:latin typeface="Arial" panose="020B0604020202020204" pitchFamily="34" charset="0"/>
                <a:ea typeface="Calibri" pitchFamily="34" charset="-122"/>
                <a:cs typeface="Arial" panose="020B0604020202020204" pitchFamily="34" charset="0"/>
              </a:rPr>
              <a:t>Solution : </a:t>
            </a:r>
            <a:r>
              <a:rPr lang="en-US" sz="1020" dirty="0">
                <a:solidFill>
                  <a:schemeClr val="bg1"/>
                </a:solidFill>
                <a:latin typeface="Arial" panose="020B0604020202020204" pitchFamily="34" charset="0"/>
                <a:ea typeface="Calibri" pitchFamily="34" charset="-122"/>
                <a:cs typeface="Arial" panose="020B0604020202020204" pitchFamily="34" charset="0"/>
              </a:rPr>
              <a:t>Écriture d'une fonction de validation JS avec regex pour l'email, contrôle de longueur du message et affichage d'erreurs ciblées par champ avant le message de succès.</a:t>
            </a:r>
            <a:endParaRPr lang="en-US" sz="1020" dirty="0">
              <a:solidFill>
                <a:schemeClr val="bg1"/>
              </a:solidFill>
              <a:latin typeface="Arial" panose="020B0604020202020204" pitchFamily="34" charset="0"/>
              <a:cs typeface="Arial" panose="020B0604020202020204" pitchFamily="34" charset="0"/>
            </a:endParaRPr>
          </a:p>
        </p:txBody>
      </p:sp>
      <p:sp>
        <p:nvSpPr>
          <p:cNvPr id="25" name="Text 19"/>
          <p:cNvSpPr/>
          <p:nvPr/>
        </p:nvSpPr>
        <p:spPr>
          <a:xfrm>
            <a:off x="7132320" y="4069080"/>
            <a:ext cx="4434840" cy="457200"/>
          </a:xfrm>
          <a:prstGeom prst="rect">
            <a:avLst/>
          </a:prstGeom>
          <a:noFill/>
          <a:ln/>
        </p:spPr>
        <p:txBody>
          <a:bodyPr wrap="square" lIns="0" tIns="0" rIns="0" bIns="0" rtlCol="0" anchor="t"/>
          <a:lstStyle/>
          <a:p>
            <a:pPr marL="0" indent="0">
              <a:buNone/>
            </a:pPr>
            <a:r>
              <a:rPr lang="en-US" sz="1350" b="1" dirty="0">
                <a:solidFill>
                  <a:schemeClr val="bg1"/>
                </a:solidFill>
                <a:latin typeface="Arial" panose="020B0604020202020204" pitchFamily="34" charset="0"/>
                <a:ea typeface="Cambria" pitchFamily="34" charset="-122"/>
                <a:cs typeface="Arial" panose="020B0604020202020204" pitchFamily="34" charset="0"/>
              </a:rPr>
              <a:t>Incohérences de classes CSS dupliquées</a:t>
            </a:r>
            <a:endParaRPr lang="en-US" sz="1350" dirty="0">
              <a:solidFill>
                <a:schemeClr val="bg1"/>
              </a:solidFill>
              <a:latin typeface="Arial" panose="020B0604020202020204" pitchFamily="34" charset="0"/>
              <a:cs typeface="Arial" panose="020B0604020202020204" pitchFamily="34" charset="0"/>
            </a:endParaRPr>
          </a:p>
        </p:txBody>
      </p:sp>
      <p:sp>
        <p:nvSpPr>
          <p:cNvPr id="26" name="Text 20"/>
          <p:cNvSpPr/>
          <p:nvPr/>
        </p:nvSpPr>
        <p:spPr>
          <a:xfrm>
            <a:off x="6583680" y="4663440"/>
            <a:ext cx="4983480" cy="594360"/>
          </a:xfrm>
          <a:prstGeom prst="rect">
            <a:avLst/>
          </a:prstGeom>
          <a:noFill/>
          <a:ln/>
        </p:spPr>
        <p:txBody>
          <a:bodyPr wrap="square" lIns="0" tIns="0" rIns="0" bIns="0" rtlCol="0" anchor="t"/>
          <a:lstStyle/>
          <a:p>
            <a:pPr>
              <a:lnSpc>
                <a:spcPct val="110000"/>
              </a:lnSpc>
            </a:pPr>
            <a:r>
              <a:rPr lang="fr-FR" sz="1050" b="1" dirty="0">
                <a:solidFill>
                  <a:schemeClr val="bg1"/>
                </a:solidFill>
                <a:latin typeface="Arial" panose="020B0604020202020204" pitchFamily="34" charset="0"/>
                <a:cs typeface="Arial" panose="020B0604020202020204" pitchFamily="34" charset="0"/>
              </a:rPr>
              <a:t>Problème : des styles répétés dans le CSS causaient des conflits d’affichage</a:t>
            </a:r>
            <a:endParaRPr lang="en-US" sz="1020" b="1" dirty="0">
              <a:solidFill>
                <a:schemeClr val="bg1"/>
              </a:solidFill>
              <a:latin typeface="Arial" panose="020B0604020202020204" pitchFamily="34" charset="0"/>
              <a:cs typeface="Arial" panose="020B0604020202020204" pitchFamily="34" charset="0"/>
            </a:endParaRPr>
          </a:p>
        </p:txBody>
      </p:sp>
      <p:sp>
        <p:nvSpPr>
          <p:cNvPr id="27" name="Text 21"/>
          <p:cNvSpPr/>
          <p:nvPr/>
        </p:nvSpPr>
        <p:spPr>
          <a:xfrm>
            <a:off x="6583680" y="5033772"/>
            <a:ext cx="4983480" cy="713232"/>
          </a:xfrm>
          <a:prstGeom prst="rect">
            <a:avLst/>
          </a:prstGeom>
          <a:noFill/>
          <a:ln/>
        </p:spPr>
        <p:txBody>
          <a:bodyPr wrap="square" lIns="0" tIns="0" rIns="0" bIns="0" rtlCol="0" anchor="t"/>
          <a:lstStyle/>
          <a:p>
            <a:pPr marL="0" indent="0">
              <a:lnSpc>
                <a:spcPct val="110000"/>
              </a:lnSpc>
              <a:buNone/>
            </a:pPr>
            <a:r>
              <a:rPr lang="en-US" sz="1020" b="1" dirty="0">
                <a:solidFill>
                  <a:schemeClr val="bg1"/>
                </a:solidFill>
                <a:latin typeface="Arial" panose="020B0604020202020204" pitchFamily="34" charset="0"/>
                <a:ea typeface="Calibri" pitchFamily="34" charset="-122"/>
                <a:cs typeface="Arial" panose="020B0604020202020204" pitchFamily="34" charset="0"/>
              </a:rPr>
              <a:t>Solution : </a:t>
            </a:r>
            <a:r>
              <a:rPr lang="en-US" sz="1020" dirty="0">
                <a:solidFill>
                  <a:schemeClr val="bg1"/>
                </a:solidFill>
                <a:latin typeface="Arial" panose="020B0604020202020204" pitchFamily="34" charset="0"/>
                <a:ea typeface="Calibri" pitchFamily="34" charset="-122"/>
                <a:cs typeface="Arial" panose="020B0604020202020204" pitchFamily="34" charset="0"/>
              </a:rPr>
              <a:t>Réorganisation progressive des sections CSS par bloc fonctionnel (navbar, hero, pricing, formulaire) et suppression des </a:t>
            </a:r>
            <a:r>
              <a:rPr lang="en-US" sz="1020" dirty="0" err="1">
                <a:solidFill>
                  <a:schemeClr val="bg1"/>
                </a:solidFill>
                <a:latin typeface="Arial" panose="020B0604020202020204" pitchFamily="34" charset="0"/>
                <a:ea typeface="Calibri" pitchFamily="34" charset="-122"/>
                <a:cs typeface="Arial" panose="020B0604020202020204" pitchFamily="34" charset="0"/>
              </a:rPr>
              <a:t>règles</a:t>
            </a:r>
            <a:r>
              <a:rPr lang="en-US" sz="1020" dirty="0">
                <a:solidFill>
                  <a:schemeClr val="bg1"/>
                </a:solidFill>
                <a:latin typeface="Arial" panose="020B0604020202020204" pitchFamily="34" charset="0"/>
                <a:ea typeface="Calibri" pitchFamily="34" charset="-122"/>
                <a:cs typeface="Arial" panose="020B0604020202020204" pitchFamily="34" charset="0"/>
              </a:rPr>
              <a:t> </a:t>
            </a:r>
            <a:r>
              <a:rPr lang="en-US" sz="1020" dirty="0" err="1">
                <a:solidFill>
                  <a:schemeClr val="bg1"/>
                </a:solidFill>
                <a:latin typeface="Arial" panose="020B0604020202020204" pitchFamily="34" charset="0"/>
                <a:ea typeface="Calibri" pitchFamily="34" charset="-122"/>
                <a:cs typeface="Arial" panose="020B0604020202020204" pitchFamily="34" charset="0"/>
              </a:rPr>
              <a:t>dupliquées</a:t>
            </a:r>
            <a:r>
              <a:rPr lang="en-US" sz="1020" dirty="0">
                <a:solidFill>
                  <a:schemeClr val="bg1"/>
                </a:solidFill>
                <a:latin typeface="Arial" panose="020B0604020202020204" pitchFamily="34" charset="0"/>
                <a:ea typeface="Calibri" pitchFamily="34" charset="-122"/>
                <a:cs typeface="Arial" panose="020B0604020202020204" pitchFamily="34" charset="0"/>
              </a:rPr>
              <a:t>.</a:t>
            </a:r>
            <a:endParaRPr lang="en-US" sz="1020" dirty="0">
              <a:solidFill>
                <a:schemeClr val="bg1"/>
              </a:solidFill>
              <a:latin typeface="Arial" panose="020B0604020202020204" pitchFamily="34" charset="0"/>
              <a:cs typeface="Arial" panose="020B0604020202020204" pitchFamily="34" charset="0"/>
            </a:endParaRPr>
          </a:p>
        </p:txBody>
      </p:sp>
      <p:sp>
        <p:nvSpPr>
          <p:cNvPr id="28" name="Text 22"/>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1"/>
                </a:solidFill>
                <a:latin typeface="Arial" panose="020B0604020202020204" pitchFamily="34" charset="0"/>
                <a:ea typeface="Calibri" pitchFamily="34" charset="-122"/>
                <a:cs typeface="Arial" panose="020B0604020202020204" pitchFamily="34" charset="0"/>
              </a:rPr>
              <a:t>11</a:t>
            </a:r>
            <a:endParaRPr lang="en-US" sz="1000" dirty="0">
              <a:solidFill>
                <a:schemeClr val="bg1"/>
              </a:solidFill>
              <a:latin typeface="Arial" panose="020B0604020202020204" pitchFamily="34" charset="0"/>
              <a:cs typeface="Arial" panose="020B0604020202020204" pitchFamily="34" charset="0"/>
            </a:endParaRPr>
          </a:p>
        </p:txBody>
      </p:sp>
      <p:sp>
        <p:nvSpPr>
          <p:cNvPr id="29" name="Text 23"/>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602175" y="444206"/>
            <a:ext cx="7315200" cy="320040"/>
          </a:xfrm>
          <a:prstGeom prst="rect">
            <a:avLst/>
          </a:prstGeom>
          <a:noFill/>
          <a:ln/>
        </p:spPr>
        <p:txBody>
          <a:bodyPr wrap="square" lIns="0" tIns="0" rIns="0" bIns="0" rtlCol="0" anchor="ctr"/>
          <a:lstStyle/>
          <a:p>
            <a:pPr marL="0" indent="0" algn="l">
              <a:buNone/>
            </a:pPr>
            <a:r>
              <a:rPr lang="en-US" sz="1400" b="1" kern="0" spc="300" dirty="0">
                <a:solidFill>
                  <a:schemeClr val="bg1"/>
                </a:solidFill>
                <a:latin typeface="Arial" panose="020B0604020202020204" pitchFamily="34" charset="0"/>
                <a:ea typeface="Calibri" pitchFamily="34" charset="-122"/>
                <a:cs typeface="Arial" panose="020B0604020202020204" pitchFamily="34" charset="0"/>
              </a:rPr>
              <a:t>RESSOURCES</a:t>
            </a:r>
            <a:endParaRPr lang="en-US" sz="1400" b="1"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1771049" y="764727"/>
            <a:ext cx="10515600" cy="640080"/>
          </a:xfrm>
          <a:prstGeom prst="rect">
            <a:avLst/>
          </a:prstGeom>
          <a:noFill/>
          <a:ln/>
        </p:spPr>
        <p:txBody>
          <a:bodyPr wrap="square" lIns="0" tIns="0" rIns="0" bIns="0" rtlCol="0" anchor="ctr"/>
          <a:lstStyle/>
          <a:p>
            <a:pPr marL="0" indent="0" algn="l">
              <a:buNone/>
            </a:pPr>
            <a:r>
              <a:rPr lang="en-US" sz="3200" b="1" dirty="0">
                <a:solidFill>
                  <a:schemeClr val="bg1"/>
                </a:solidFill>
                <a:latin typeface="Arial" panose="020B0604020202020204" pitchFamily="34" charset="0"/>
                <a:ea typeface="Cambria" pitchFamily="34" charset="-122"/>
                <a:cs typeface="Arial" panose="020B0604020202020204" pitchFamily="34" charset="0"/>
              </a:rPr>
              <a:t>Ressources &amp; documentation utilisées</a:t>
            </a:r>
            <a:endParaRPr lang="en-US" sz="3200" b="1" dirty="0">
              <a:solidFill>
                <a:schemeClr val="bg1"/>
              </a:solidFill>
              <a:latin typeface="Arial" panose="020B0604020202020204" pitchFamily="34" charset="0"/>
              <a:cs typeface="Arial" panose="020B0604020202020204" pitchFamily="34" charset="0"/>
            </a:endParaRPr>
          </a:p>
        </p:txBody>
      </p:sp>
      <p:sp>
        <p:nvSpPr>
          <p:cNvPr id="4" name="Shape 2"/>
          <p:cNvSpPr/>
          <p:nvPr/>
        </p:nvSpPr>
        <p:spPr>
          <a:xfrm>
            <a:off x="548640" y="146304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7" name="Text 4"/>
          <p:cNvSpPr/>
          <p:nvPr/>
        </p:nvSpPr>
        <p:spPr>
          <a:xfrm>
            <a:off x="1417320" y="1664208"/>
            <a:ext cx="4343400" cy="411480"/>
          </a:xfrm>
          <a:prstGeom prst="rect">
            <a:avLst/>
          </a:prstGeom>
          <a:noFill/>
          <a:ln/>
        </p:spPr>
        <p:txBody>
          <a:bodyPr wrap="square" lIns="0" tIns="0" rIns="0" bIns="0" rtlCol="0" anchor="ctr"/>
          <a:lstStyle/>
          <a:p>
            <a:pPr marL="0" indent="0">
              <a:buNone/>
            </a:pPr>
            <a:r>
              <a:rPr lang="en-US" sz="1500" b="1" dirty="0">
                <a:solidFill>
                  <a:schemeClr val="bg1"/>
                </a:solidFill>
                <a:latin typeface="Arial" panose="020B0604020202020204" pitchFamily="34" charset="0"/>
                <a:ea typeface="Cambria" pitchFamily="34" charset="-122"/>
                <a:cs typeface="Arial" panose="020B0604020202020204" pitchFamily="34" charset="0"/>
              </a:rPr>
              <a:t>Documentation officielle</a:t>
            </a:r>
            <a:endParaRPr lang="en-US" sz="1500" b="1" dirty="0">
              <a:solidFill>
                <a:schemeClr val="bg1"/>
              </a:solidFill>
              <a:latin typeface="Arial" panose="020B0604020202020204" pitchFamily="34" charset="0"/>
              <a:cs typeface="Arial" panose="020B0604020202020204" pitchFamily="34" charset="0"/>
            </a:endParaRPr>
          </a:p>
        </p:txBody>
      </p:sp>
      <p:sp>
        <p:nvSpPr>
          <p:cNvPr id="8" name="Shape 5"/>
          <p:cNvSpPr/>
          <p:nvPr/>
        </p:nvSpPr>
        <p:spPr>
          <a:xfrm>
            <a:off x="822960" y="2386584"/>
            <a:ext cx="73152" cy="73152"/>
          </a:xfrm>
          <a:prstGeom prst="ellipse">
            <a:avLst/>
          </a:prstGeom>
          <a:solidFill>
            <a:srgbClr val="8F3DFF"/>
          </a:solidFill>
          <a:ln/>
        </p:spPr>
      </p:sp>
      <p:sp>
        <p:nvSpPr>
          <p:cNvPr id="9" name="Text 6"/>
          <p:cNvSpPr/>
          <p:nvPr/>
        </p:nvSpPr>
        <p:spPr>
          <a:xfrm>
            <a:off x="1005840" y="227685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Bootstrap 5.3 : getbootstrap.com</a:t>
            </a:r>
            <a:endParaRPr lang="en-US" sz="1150" b="1" dirty="0">
              <a:solidFill>
                <a:schemeClr val="bg1"/>
              </a:solidFill>
              <a:latin typeface="Arial" panose="020B0604020202020204" pitchFamily="34" charset="0"/>
              <a:cs typeface="Arial" panose="020B0604020202020204" pitchFamily="34" charset="0"/>
            </a:endParaRPr>
          </a:p>
        </p:txBody>
      </p:sp>
      <p:sp>
        <p:nvSpPr>
          <p:cNvPr id="10" name="Shape 7"/>
          <p:cNvSpPr/>
          <p:nvPr/>
        </p:nvSpPr>
        <p:spPr>
          <a:xfrm>
            <a:off x="822960" y="2798064"/>
            <a:ext cx="73152" cy="73152"/>
          </a:xfrm>
          <a:prstGeom prst="ellipse">
            <a:avLst/>
          </a:prstGeom>
          <a:solidFill>
            <a:srgbClr val="8F3DFF"/>
          </a:solidFill>
          <a:ln/>
        </p:spPr>
      </p:sp>
      <p:sp>
        <p:nvSpPr>
          <p:cNvPr id="11" name="Text 8"/>
          <p:cNvSpPr/>
          <p:nvPr/>
        </p:nvSpPr>
        <p:spPr>
          <a:xfrm>
            <a:off x="1005840" y="268833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Bootstrap Icons : icons.getbootstrap.com</a:t>
            </a:r>
            <a:endParaRPr lang="en-US" sz="1150" b="1" dirty="0">
              <a:solidFill>
                <a:schemeClr val="bg1"/>
              </a:solidFill>
              <a:latin typeface="Arial" panose="020B0604020202020204" pitchFamily="34" charset="0"/>
              <a:cs typeface="Arial" panose="020B0604020202020204" pitchFamily="34" charset="0"/>
            </a:endParaRPr>
          </a:p>
        </p:txBody>
      </p:sp>
      <p:sp>
        <p:nvSpPr>
          <p:cNvPr id="12" name="Shape 9"/>
          <p:cNvSpPr/>
          <p:nvPr/>
        </p:nvSpPr>
        <p:spPr>
          <a:xfrm>
            <a:off x="822960" y="3209544"/>
            <a:ext cx="73152" cy="73152"/>
          </a:xfrm>
          <a:prstGeom prst="ellipse">
            <a:avLst/>
          </a:prstGeom>
          <a:solidFill>
            <a:srgbClr val="8F3DFF"/>
          </a:solidFill>
          <a:ln/>
        </p:spPr>
      </p:sp>
      <p:sp>
        <p:nvSpPr>
          <p:cNvPr id="13" name="Text 10"/>
          <p:cNvSpPr/>
          <p:nvPr/>
        </p:nvSpPr>
        <p:spPr>
          <a:xfrm>
            <a:off x="1005840" y="309981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MDN Web Docs (HTML/CSS/JS)</a:t>
            </a:r>
            <a:endParaRPr lang="en-US" sz="1150" b="1" dirty="0">
              <a:solidFill>
                <a:schemeClr val="bg1"/>
              </a:solidFill>
              <a:latin typeface="Arial" panose="020B0604020202020204" pitchFamily="34" charset="0"/>
              <a:cs typeface="Arial" panose="020B0604020202020204" pitchFamily="34" charset="0"/>
            </a:endParaRPr>
          </a:p>
        </p:txBody>
      </p:sp>
      <p:sp>
        <p:nvSpPr>
          <p:cNvPr id="14" name="Shape 11"/>
          <p:cNvSpPr/>
          <p:nvPr/>
        </p:nvSpPr>
        <p:spPr>
          <a:xfrm>
            <a:off x="6355080" y="146304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7" name="Text 13"/>
          <p:cNvSpPr/>
          <p:nvPr/>
        </p:nvSpPr>
        <p:spPr>
          <a:xfrm>
            <a:off x="7223760" y="1664208"/>
            <a:ext cx="4343400" cy="411480"/>
          </a:xfrm>
          <a:prstGeom prst="rect">
            <a:avLst/>
          </a:prstGeom>
          <a:noFill/>
          <a:ln/>
        </p:spPr>
        <p:txBody>
          <a:bodyPr wrap="square" lIns="0" tIns="0" rIns="0" bIns="0" rtlCol="0" anchor="ctr"/>
          <a:lstStyle/>
          <a:p>
            <a:pPr marL="0" indent="0">
              <a:buNone/>
            </a:pPr>
            <a:r>
              <a:rPr lang="en-US" sz="1500" b="1" dirty="0">
                <a:solidFill>
                  <a:schemeClr val="bg1"/>
                </a:solidFill>
                <a:latin typeface="Arial" panose="020B0604020202020204" pitchFamily="34" charset="0"/>
                <a:ea typeface="Cambria" pitchFamily="34" charset="-122"/>
                <a:cs typeface="Arial" panose="020B0604020202020204" pitchFamily="34" charset="0"/>
              </a:rPr>
              <a:t>Design &amp; assets</a:t>
            </a:r>
            <a:endParaRPr lang="en-US" sz="1500" b="1" dirty="0">
              <a:solidFill>
                <a:schemeClr val="bg1"/>
              </a:solidFill>
              <a:latin typeface="Arial" panose="020B0604020202020204" pitchFamily="34" charset="0"/>
              <a:cs typeface="Arial" panose="020B0604020202020204" pitchFamily="34" charset="0"/>
            </a:endParaRPr>
          </a:p>
        </p:txBody>
      </p:sp>
      <p:sp>
        <p:nvSpPr>
          <p:cNvPr id="18" name="Shape 14"/>
          <p:cNvSpPr/>
          <p:nvPr/>
        </p:nvSpPr>
        <p:spPr>
          <a:xfrm>
            <a:off x="6629400" y="2386584"/>
            <a:ext cx="73152" cy="73152"/>
          </a:xfrm>
          <a:prstGeom prst="ellipse">
            <a:avLst/>
          </a:prstGeom>
          <a:solidFill>
            <a:srgbClr val="F4C63D"/>
          </a:solidFill>
          <a:ln/>
        </p:spPr>
      </p:sp>
      <p:sp>
        <p:nvSpPr>
          <p:cNvPr id="19" name="Text 15"/>
          <p:cNvSpPr/>
          <p:nvPr/>
        </p:nvSpPr>
        <p:spPr>
          <a:xfrm>
            <a:off x="6812280" y="227685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Google Fonts : Poppins, Orbitron</a:t>
            </a:r>
            <a:endParaRPr lang="en-US" sz="1150" b="1" dirty="0">
              <a:solidFill>
                <a:schemeClr val="bg1"/>
              </a:solidFill>
              <a:latin typeface="Arial" panose="020B0604020202020204" pitchFamily="34" charset="0"/>
              <a:cs typeface="Arial" panose="020B0604020202020204" pitchFamily="34" charset="0"/>
            </a:endParaRPr>
          </a:p>
        </p:txBody>
      </p:sp>
      <p:sp>
        <p:nvSpPr>
          <p:cNvPr id="20" name="Shape 16"/>
          <p:cNvSpPr/>
          <p:nvPr/>
        </p:nvSpPr>
        <p:spPr>
          <a:xfrm>
            <a:off x="6629400" y="2798064"/>
            <a:ext cx="73152" cy="73152"/>
          </a:xfrm>
          <a:prstGeom prst="ellipse">
            <a:avLst/>
          </a:prstGeom>
          <a:solidFill>
            <a:srgbClr val="F4C63D"/>
          </a:solidFill>
          <a:ln/>
        </p:spPr>
      </p:sp>
      <p:sp>
        <p:nvSpPr>
          <p:cNvPr id="21" name="Text 17"/>
          <p:cNvSpPr/>
          <p:nvPr/>
        </p:nvSpPr>
        <p:spPr>
          <a:xfrm>
            <a:off x="6812280" y="2688336"/>
            <a:ext cx="4709160" cy="320040"/>
          </a:xfrm>
          <a:prstGeom prst="rect">
            <a:avLst/>
          </a:prstGeom>
          <a:noFill/>
          <a:ln/>
        </p:spPr>
        <p:txBody>
          <a:bodyPr wrap="square" lIns="0" tIns="0" rIns="0" bIns="0" rtlCol="0" anchor="ctr"/>
          <a:lstStyle/>
          <a:p>
            <a:pPr marL="0" indent="0">
              <a:buNone/>
            </a:pPr>
            <a:r>
              <a:rPr lang="en-US" sz="1150" b="1" dirty="0" err="1">
                <a:solidFill>
                  <a:schemeClr val="bg1"/>
                </a:solidFill>
                <a:latin typeface="Arial" panose="020B0604020202020204" pitchFamily="34" charset="0"/>
                <a:ea typeface="Calibri" pitchFamily="34" charset="-122"/>
                <a:cs typeface="Arial" panose="020B0604020202020204" pitchFamily="34" charset="0"/>
              </a:rPr>
              <a:t>Unsplash</a:t>
            </a:r>
            <a:r>
              <a:rPr lang="en-US" sz="1150" b="1" dirty="0">
                <a:solidFill>
                  <a:schemeClr val="bg1"/>
                </a:solidFill>
                <a:latin typeface="Arial" panose="020B0604020202020204" pitchFamily="34" charset="0"/>
                <a:ea typeface="Calibri" pitchFamily="34" charset="-122"/>
                <a:cs typeface="Arial" panose="020B0604020202020204" pitchFamily="34" charset="0"/>
              </a:rPr>
              <a:t> : images libres de droits</a:t>
            </a:r>
            <a:endParaRPr lang="en-US" sz="1150" b="1" dirty="0">
              <a:solidFill>
                <a:schemeClr val="bg1"/>
              </a:solidFill>
              <a:latin typeface="Arial" panose="020B0604020202020204" pitchFamily="34" charset="0"/>
              <a:cs typeface="Arial" panose="020B0604020202020204" pitchFamily="34" charset="0"/>
            </a:endParaRPr>
          </a:p>
        </p:txBody>
      </p:sp>
      <p:sp>
        <p:nvSpPr>
          <p:cNvPr id="22" name="Shape 18"/>
          <p:cNvSpPr/>
          <p:nvPr/>
        </p:nvSpPr>
        <p:spPr>
          <a:xfrm>
            <a:off x="6629400" y="3209544"/>
            <a:ext cx="73152" cy="73152"/>
          </a:xfrm>
          <a:prstGeom prst="ellipse">
            <a:avLst/>
          </a:prstGeom>
          <a:solidFill>
            <a:srgbClr val="F4C63D"/>
          </a:solidFill>
          <a:ln/>
        </p:spPr>
      </p:sp>
      <p:sp>
        <p:nvSpPr>
          <p:cNvPr id="23" name="Text 19"/>
          <p:cNvSpPr/>
          <p:nvPr/>
        </p:nvSpPr>
        <p:spPr>
          <a:xfrm>
            <a:off x="6812280" y="309981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Pravatar — avatars de démonstration</a:t>
            </a:r>
            <a:endParaRPr lang="en-US" sz="1150" b="1" dirty="0">
              <a:solidFill>
                <a:schemeClr val="bg1"/>
              </a:solidFill>
              <a:latin typeface="Arial" panose="020B0604020202020204" pitchFamily="34" charset="0"/>
              <a:cs typeface="Arial" panose="020B0604020202020204" pitchFamily="34" charset="0"/>
            </a:endParaRPr>
          </a:p>
        </p:txBody>
      </p:sp>
      <p:sp>
        <p:nvSpPr>
          <p:cNvPr id="24" name="Shape 20"/>
          <p:cNvSpPr/>
          <p:nvPr/>
        </p:nvSpPr>
        <p:spPr>
          <a:xfrm>
            <a:off x="548640" y="388620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chemeClr val="bg1"/>
              </a:solidFill>
              <a:latin typeface="Arial" panose="020B0604020202020204" pitchFamily="34" charset="0"/>
              <a:cs typeface="Arial" panose="020B0604020202020204" pitchFamily="34" charset="0"/>
            </a:endParaRPr>
          </a:p>
        </p:txBody>
      </p:sp>
      <p:sp>
        <p:nvSpPr>
          <p:cNvPr id="27" name="Text 22"/>
          <p:cNvSpPr/>
          <p:nvPr/>
        </p:nvSpPr>
        <p:spPr>
          <a:xfrm>
            <a:off x="1417320" y="4087368"/>
            <a:ext cx="4343400" cy="411480"/>
          </a:xfrm>
          <a:prstGeom prst="rect">
            <a:avLst/>
          </a:prstGeom>
          <a:noFill/>
          <a:ln/>
        </p:spPr>
        <p:txBody>
          <a:bodyPr wrap="square" lIns="0" tIns="0" rIns="0" bIns="0" rtlCol="0" anchor="ctr"/>
          <a:lstStyle/>
          <a:p>
            <a:pPr marL="0" indent="0">
              <a:buNone/>
            </a:pPr>
            <a:r>
              <a:rPr lang="en-US" sz="1500" b="1" dirty="0">
                <a:solidFill>
                  <a:schemeClr val="bg1"/>
                </a:solidFill>
                <a:latin typeface="Arial" panose="020B0604020202020204" pitchFamily="34" charset="0"/>
                <a:ea typeface="Cambria" pitchFamily="34" charset="-122"/>
                <a:cs typeface="Arial" panose="020B0604020202020204" pitchFamily="34" charset="0"/>
              </a:rPr>
              <a:t>Apprentissage technique</a:t>
            </a:r>
            <a:endParaRPr lang="en-US" sz="1500" b="1" dirty="0">
              <a:solidFill>
                <a:schemeClr val="bg1"/>
              </a:solidFill>
              <a:latin typeface="Arial" panose="020B0604020202020204" pitchFamily="34" charset="0"/>
              <a:cs typeface="Arial" panose="020B0604020202020204" pitchFamily="34" charset="0"/>
            </a:endParaRPr>
          </a:p>
        </p:txBody>
      </p:sp>
      <p:sp>
        <p:nvSpPr>
          <p:cNvPr id="28" name="Shape 23"/>
          <p:cNvSpPr/>
          <p:nvPr/>
        </p:nvSpPr>
        <p:spPr>
          <a:xfrm>
            <a:off x="822960" y="4809744"/>
            <a:ext cx="73152" cy="73152"/>
          </a:xfrm>
          <a:prstGeom prst="ellipse">
            <a:avLst/>
          </a:prstGeom>
          <a:solidFill>
            <a:srgbClr val="2DD4BF"/>
          </a:solidFill>
          <a:ln/>
        </p:spPr>
      </p:sp>
      <p:sp>
        <p:nvSpPr>
          <p:cNvPr id="29" name="Text 24"/>
          <p:cNvSpPr/>
          <p:nvPr/>
        </p:nvSpPr>
        <p:spPr>
          <a:xfrm>
            <a:off x="1005840" y="470001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MDN : IntersectionObserver API</a:t>
            </a:r>
            <a:endParaRPr lang="en-US" sz="1150" b="1" dirty="0">
              <a:solidFill>
                <a:schemeClr val="bg1"/>
              </a:solidFill>
              <a:latin typeface="Arial" panose="020B0604020202020204" pitchFamily="34" charset="0"/>
              <a:cs typeface="Arial" panose="020B0604020202020204" pitchFamily="34" charset="0"/>
            </a:endParaRPr>
          </a:p>
        </p:txBody>
      </p:sp>
      <p:sp>
        <p:nvSpPr>
          <p:cNvPr id="30" name="Shape 25"/>
          <p:cNvSpPr/>
          <p:nvPr/>
        </p:nvSpPr>
        <p:spPr>
          <a:xfrm>
            <a:off x="822960" y="5221224"/>
            <a:ext cx="73152" cy="73152"/>
          </a:xfrm>
          <a:prstGeom prst="ellipse">
            <a:avLst/>
          </a:prstGeom>
          <a:solidFill>
            <a:srgbClr val="2DD4BF"/>
          </a:solidFill>
          <a:ln/>
        </p:spPr>
      </p:sp>
      <p:sp>
        <p:nvSpPr>
          <p:cNvPr id="31" name="Text 26"/>
          <p:cNvSpPr/>
          <p:nvPr/>
        </p:nvSpPr>
        <p:spPr>
          <a:xfrm>
            <a:off x="1005840" y="511149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CSS-Tricks : Grid &amp; clamp()</a:t>
            </a:r>
            <a:endParaRPr lang="en-US" sz="1150" b="1" dirty="0">
              <a:solidFill>
                <a:schemeClr val="bg1"/>
              </a:solidFill>
              <a:latin typeface="Arial" panose="020B0604020202020204" pitchFamily="34" charset="0"/>
              <a:cs typeface="Arial" panose="020B0604020202020204" pitchFamily="34" charset="0"/>
            </a:endParaRPr>
          </a:p>
        </p:txBody>
      </p:sp>
      <p:sp>
        <p:nvSpPr>
          <p:cNvPr id="33" name="Text 28"/>
          <p:cNvSpPr/>
          <p:nvPr/>
        </p:nvSpPr>
        <p:spPr>
          <a:xfrm>
            <a:off x="1005840" y="5522976"/>
            <a:ext cx="4709160" cy="320040"/>
          </a:xfrm>
          <a:prstGeom prst="rect">
            <a:avLst/>
          </a:prstGeom>
          <a:noFill/>
          <a:ln/>
        </p:spPr>
        <p:txBody>
          <a:bodyPr wrap="square" lIns="0" tIns="0" rIns="0" bIns="0" rtlCol="0" anchor="ctr"/>
          <a:lstStyle/>
          <a:p>
            <a:pPr marL="0" indent="0">
              <a:buNone/>
            </a:pPr>
            <a:endParaRPr lang="en-US" sz="1150" b="1" dirty="0">
              <a:solidFill>
                <a:schemeClr val="bg1"/>
              </a:solidFill>
              <a:latin typeface="Arial" panose="020B0604020202020204" pitchFamily="34" charset="0"/>
              <a:cs typeface="Arial" panose="020B0604020202020204" pitchFamily="34" charset="0"/>
            </a:endParaRPr>
          </a:p>
        </p:txBody>
      </p:sp>
      <p:sp>
        <p:nvSpPr>
          <p:cNvPr id="34" name="Shape 29"/>
          <p:cNvSpPr/>
          <p:nvPr/>
        </p:nvSpPr>
        <p:spPr>
          <a:xfrm>
            <a:off x="6355080" y="388620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37" name="Text 31"/>
          <p:cNvSpPr/>
          <p:nvPr/>
        </p:nvSpPr>
        <p:spPr>
          <a:xfrm>
            <a:off x="7223760" y="4087368"/>
            <a:ext cx="4343400" cy="411480"/>
          </a:xfrm>
          <a:prstGeom prst="rect">
            <a:avLst/>
          </a:prstGeom>
          <a:noFill/>
          <a:ln/>
        </p:spPr>
        <p:txBody>
          <a:bodyPr wrap="square" lIns="0" tIns="0" rIns="0" bIns="0" rtlCol="0" anchor="ctr"/>
          <a:lstStyle/>
          <a:p>
            <a:pPr marL="0" indent="0">
              <a:buNone/>
            </a:pPr>
            <a:r>
              <a:rPr lang="en-US" sz="1500" b="1" dirty="0">
                <a:solidFill>
                  <a:schemeClr val="bg1"/>
                </a:solidFill>
                <a:latin typeface="Arial" panose="020B0604020202020204" pitchFamily="34" charset="0"/>
                <a:ea typeface="Cambria" pitchFamily="34" charset="-122"/>
                <a:cs typeface="Arial" panose="020B0604020202020204" pitchFamily="34" charset="0"/>
              </a:rPr>
              <a:t>Outils &amp; versioning</a:t>
            </a:r>
            <a:endParaRPr lang="en-US" sz="1500" b="1" dirty="0">
              <a:solidFill>
                <a:schemeClr val="bg1"/>
              </a:solidFill>
              <a:latin typeface="Arial" panose="020B0604020202020204" pitchFamily="34" charset="0"/>
              <a:cs typeface="Arial" panose="020B0604020202020204" pitchFamily="34" charset="0"/>
            </a:endParaRPr>
          </a:p>
        </p:txBody>
      </p:sp>
      <p:sp>
        <p:nvSpPr>
          <p:cNvPr id="38" name="Shape 32"/>
          <p:cNvSpPr/>
          <p:nvPr/>
        </p:nvSpPr>
        <p:spPr>
          <a:xfrm>
            <a:off x="6629400" y="4809744"/>
            <a:ext cx="73152" cy="73152"/>
          </a:xfrm>
          <a:prstGeom prst="ellipse">
            <a:avLst/>
          </a:prstGeom>
          <a:solidFill>
            <a:srgbClr val="FF6B9D"/>
          </a:solidFill>
          <a:ln/>
        </p:spPr>
      </p:sp>
      <p:sp>
        <p:nvSpPr>
          <p:cNvPr id="39" name="Text 33"/>
          <p:cNvSpPr/>
          <p:nvPr/>
        </p:nvSpPr>
        <p:spPr>
          <a:xfrm>
            <a:off x="6812280" y="470001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Git &amp; GitHub : gestion de versions</a:t>
            </a:r>
            <a:endParaRPr lang="en-US" sz="1150" b="1" dirty="0">
              <a:solidFill>
                <a:schemeClr val="bg1"/>
              </a:solidFill>
              <a:latin typeface="Arial" panose="020B0604020202020204" pitchFamily="34" charset="0"/>
              <a:cs typeface="Arial" panose="020B0604020202020204" pitchFamily="34" charset="0"/>
            </a:endParaRPr>
          </a:p>
        </p:txBody>
      </p:sp>
      <p:sp>
        <p:nvSpPr>
          <p:cNvPr id="40" name="Shape 34"/>
          <p:cNvSpPr/>
          <p:nvPr/>
        </p:nvSpPr>
        <p:spPr>
          <a:xfrm>
            <a:off x="6629400" y="5221224"/>
            <a:ext cx="73152" cy="73152"/>
          </a:xfrm>
          <a:prstGeom prst="ellipse">
            <a:avLst/>
          </a:prstGeom>
          <a:solidFill>
            <a:srgbClr val="FF6B9D"/>
          </a:solidFill>
          <a:ln/>
        </p:spPr>
      </p:sp>
      <p:sp>
        <p:nvSpPr>
          <p:cNvPr id="41" name="Text 35"/>
          <p:cNvSpPr/>
          <p:nvPr/>
        </p:nvSpPr>
        <p:spPr>
          <a:xfrm>
            <a:off x="6812280" y="511149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GitHub Pages : hébergement statique</a:t>
            </a:r>
            <a:endParaRPr lang="en-US" sz="1150" b="1" dirty="0">
              <a:solidFill>
                <a:schemeClr val="bg1"/>
              </a:solidFill>
              <a:latin typeface="Arial" panose="020B0604020202020204" pitchFamily="34" charset="0"/>
              <a:cs typeface="Arial" panose="020B0604020202020204" pitchFamily="34" charset="0"/>
            </a:endParaRPr>
          </a:p>
        </p:txBody>
      </p:sp>
      <p:sp>
        <p:nvSpPr>
          <p:cNvPr id="42" name="Shape 36"/>
          <p:cNvSpPr/>
          <p:nvPr/>
        </p:nvSpPr>
        <p:spPr>
          <a:xfrm>
            <a:off x="6629400" y="5632704"/>
            <a:ext cx="73152" cy="73152"/>
          </a:xfrm>
          <a:prstGeom prst="ellipse">
            <a:avLst/>
          </a:prstGeom>
          <a:solidFill>
            <a:srgbClr val="FF6B9D"/>
          </a:solidFill>
          <a:ln/>
        </p:spPr>
      </p:sp>
      <p:sp>
        <p:nvSpPr>
          <p:cNvPr id="43" name="Text 37"/>
          <p:cNvSpPr/>
          <p:nvPr/>
        </p:nvSpPr>
        <p:spPr>
          <a:xfrm>
            <a:off x="6812280" y="552297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VS Code + Live Server</a:t>
            </a:r>
            <a:endParaRPr lang="en-US" sz="1150" b="1" dirty="0">
              <a:solidFill>
                <a:schemeClr val="bg1"/>
              </a:solidFill>
              <a:latin typeface="Arial" panose="020B0604020202020204" pitchFamily="34" charset="0"/>
              <a:cs typeface="Arial" panose="020B0604020202020204" pitchFamily="34" charset="0"/>
            </a:endParaRPr>
          </a:p>
        </p:txBody>
      </p:sp>
      <p:sp>
        <p:nvSpPr>
          <p:cNvPr id="44" name="Text 38"/>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b="1" dirty="0">
                <a:solidFill>
                  <a:schemeClr val="bg1"/>
                </a:solidFill>
                <a:latin typeface="Arial" panose="020B0604020202020204" pitchFamily="34" charset="0"/>
                <a:ea typeface="Calibri" pitchFamily="34" charset="-122"/>
                <a:cs typeface="Arial" panose="020B0604020202020204" pitchFamily="34" charset="0"/>
              </a:rPr>
              <a:t>12</a:t>
            </a:r>
            <a:endParaRPr lang="en-US" sz="1000" b="1" dirty="0">
              <a:solidFill>
                <a:schemeClr val="bg1"/>
              </a:solidFill>
              <a:latin typeface="Arial" panose="020B0604020202020204" pitchFamily="34" charset="0"/>
              <a:cs typeface="Arial" panose="020B0604020202020204" pitchFamily="34" charset="0"/>
            </a:endParaRPr>
          </a:p>
        </p:txBody>
      </p:sp>
      <p:sp>
        <p:nvSpPr>
          <p:cNvPr id="45" name="Text 39"/>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b="1"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548640" y="347472"/>
            <a:ext cx="7315200" cy="320040"/>
          </a:xfrm>
          <a:prstGeom prst="rect">
            <a:avLst/>
          </a:prstGeom>
          <a:noFill/>
          <a:ln/>
        </p:spPr>
        <p:txBody>
          <a:bodyPr wrap="square" lIns="0" tIns="0" rIns="0" bIns="0" rtlCol="0" anchor="ctr"/>
          <a:lstStyle/>
          <a:p>
            <a:pPr marL="0" indent="0" algn="l">
              <a:buNone/>
            </a:pPr>
            <a:r>
              <a:rPr lang="en-US" sz="1200" b="1" kern="0" spc="300" dirty="0">
                <a:solidFill>
                  <a:schemeClr val="bg1"/>
                </a:solidFill>
                <a:latin typeface="Calibri" pitchFamily="34" charset="0"/>
                <a:ea typeface="Calibri" pitchFamily="34" charset="-122"/>
                <a:cs typeface="Calibri" pitchFamily="34" charset="-120"/>
              </a:rPr>
              <a:t>DÉMONSTRATION</a:t>
            </a:r>
            <a:endParaRPr lang="en-US" sz="1200" dirty="0">
              <a:solidFill>
                <a:schemeClr val="bg1"/>
              </a:solidFill>
            </a:endParaRPr>
          </a:p>
        </p:txBody>
      </p:sp>
      <p:sp>
        <p:nvSpPr>
          <p:cNvPr id="4" name="Text 2"/>
          <p:cNvSpPr/>
          <p:nvPr/>
        </p:nvSpPr>
        <p:spPr>
          <a:xfrm>
            <a:off x="3460542" y="73152"/>
            <a:ext cx="10515600" cy="640080"/>
          </a:xfrm>
          <a:prstGeom prst="rect">
            <a:avLst/>
          </a:prstGeom>
          <a:noFill/>
          <a:ln/>
        </p:spPr>
        <p:txBody>
          <a:bodyPr wrap="square" lIns="0" tIns="0" rIns="0" bIns="0" rtlCol="0" anchor="ctr"/>
          <a:lstStyle/>
          <a:p>
            <a:pPr marL="0" indent="0" algn="l">
              <a:buNone/>
            </a:pPr>
            <a:r>
              <a:rPr lang="en-US" sz="3200" b="1" dirty="0">
                <a:solidFill>
                  <a:schemeClr val="bg1"/>
                </a:solidFill>
                <a:latin typeface="Cambria" pitchFamily="34" charset="0"/>
                <a:ea typeface="Cambria" pitchFamily="34" charset="-122"/>
                <a:cs typeface="Cambria" pitchFamily="34" charset="-120"/>
              </a:rPr>
              <a:t>Démonstration live du site</a:t>
            </a:r>
            <a:endParaRPr lang="en-US" sz="3200" dirty="0">
              <a:solidFill>
                <a:schemeClr val="bg1"/>
              </a:solidFill>
            </a:endParaRPr>
          </a:p>
        </p:txBody>
      </p:sp>
      <p:sp>
        <p:nvSpPr>
          <p:cNvPr id="10" name="Text 8"/>
          <p:cNvSpPr/>
          <p:nvPr/>
        </p:nvSpPr>
        <p:spPr>
          <a:xfrm>
            <a:off x="2304288" y="1572768"/>
            <a:ext cx="7552944" cy="365760"/>
          </a:xfrm>
          <a:prstGeom prst="rect">
            <a:avLst/>
          </a:prstGeom>
          <a:noFill/>
          <a:ln/>
        </p:spPr>
        <p:txBody>
          <a:bodyPr wrap="square" lIns="0" tIns="0" rIns="0" bIns="0" rtlCol="0" anchor="ctr"/>
          <a:lstStyle/>
          <a:p>
            <a:pPr marL="0" indent="0" algn="ctr">
              <a:buNone/>
            </a:pPr>
            <a:endParaRPr lang="en-US" sz="1100" dirty="0">
              <a:solidFill>
                <a:schemeClr val="bg1"/>
              </a:solidFill>
            </a:endParaRPr>
          </a:p>
        </p:txBody>
      </p:sp>
      <p:sp>
        <p:nvSpPr>
          <p:cNvPr id="14" name="Text 11"/>
          <p:cNvSpPr/>
          <p:nvPr/>
        </p:nvSpPr>
        <p:spPr>
          <a:xfrm>
            <a:off x="2651760" y="3749040"/>
            <a:ext cx="6858000" cy="365760"/>
          </a:xfrm>
          <a:prstGeom prst="rect">
            <a:avLst/>
          </a:prstGeom>
          <a:noFill/>
          <a:ln/>
        </p:spPr>
        <p:txBody>
          <a:bodyPr wrap="square" lIns="0" tIns="0" rIns="0" bIns="0" rtlCol="0" anchor="ctr"/>
          <a:lstStyle/>
          <a:p>
            <a:pPr marL="0" indent="0" algn="ctr">
              <a:buNone/>
            </a:pPr>
            <a:endParaRPr lang="en-US" sz="1300" dirty="0">
              <a:solidFill>
                <a:schemeClr val="bg1"/>
              </a:solidFill>
            </a:endParaRPr>
          </a:p>
        </p:txBody>
      </p:sp>
      <p:sp>
        <p:nvSpPr>
          <p:cNvPr id="15" name="Text 12"/>
          <p:cNvSpPr/>
          <p:nvPr/>
        </p:nvSpPr>
        <p:spPr>
          <a:xfrm>
            <a:off x="524317" y="6067526"/>
            <a:ext cx="2127443" cy="320040"/>
          </a:xfrm>
          <a:prstGeom prst="rect">
            <a:avLst/>
          </a:prstGeom>
          <a:noFill/>
          <a:ln/>
        </p:spPr>
        <p:txBody>
          <a:bodyPr wrap="square" lIns="0" tIns="0" rIns="0" bIns="0" rtlCol="0" anchor="ctr"/>
          <a:lstStyle/>
          <a:p>
            <a:pPr marL="0" indent="0" algn="ctr">
              <a:buNone/>
            </a:pPr>
            <a:r>
              <a:rPr lang="en-US" sz="1050" b="1" dirty="0">
                <a:solidFill>
                  <a:schemeClr val="bg1"/>
                </a:solidFill>
                <a:latin typeface="Calibri" pitchFamily="34" charset="0"/>
                <a:ea typeface="Calibri" pitchFamily="34" charset="-122"/>
                <a:cs typeface="Calibri" pitchFamily="34" charset="-120"/>
              </a:rPr>
              <a:t>Accueil</a:t>
            </a:r>
            <a:endParaRPr lang="en-US" sz="1050" dirty="0">
              <a:solidFill>
                <a:schemeClr val="bg1"/>
              </a:solidFill>
            </a:endParaRPr>
          </a:p>
        </p:txBody>
      </p:sp>
      <p:sp>
        <p:nvSpPr>
          <p:cNvPr id="17" name="Text 13"/>
          <p:cNvSpPr/>
          <p:nvPr/>
        </p:nvSpPr>
        <p:spPr>
          <a:xfrm>
            <a:off x="2767523" y="6054291"/>
            <a:ext cx="2127443" cy="320040"/>
          </a:xfrm>
          <a:prstGeom prst="rect">
            <a:avLst/>
          </a:prstGeom>
          <a:noFill/>
          <a:ln/>
        </p:spPr>
        <p:txBody>
          <a:bodyPr wrap="square" lIns="0" tIns="0" rIns="0" bIns="0" rtlCol="0" anchor="ctr"/>
          <a:lstStyle/>
          <a:p>
            <a:pPr marL="0" indent="0" algn="ctr">
              <a:buNone/>
            </a:pPr>
            <a:r>
              <a:rPr lang="en-US" sz="1050" b="1" dirty="0">
                <a:solidFill>
                  <a:schemeClr val="bg1"/>
                </a:solidFill>
                <a:latin typeface="Calibri" pitchFamily="34" charset="0"/>
                <a:ea typeface="Calibri" pitchFamily="34" charset="-122"/>
                <a:cs typeface="Calibri" pitchFamily="34" charset="-120"/>
              </a:rPr>
              <a:t>Freelances (filtres)</a:t>
            </a:r>
            <a:endParaRPr lang="en-US" sz="1050" dirty="0">
              <a:solidFill>
                <a:schemeClr val="bg1"/>
              </a:solidFill>
            </a:endParaRPr>
          </a:p>
        </p:txBody>
      </p:sp>
      <p:sp>
        <p:nvSpPr>
          <p:cNvPr id="19" name="Text 14"/>
          <p:cNvSpPr/>
          <p:nvPr/>
        </p:nvSpPr>
        <p:spPr>
          <a:xfrm>
            <a:off x="4986406" y="6035040"/>
            <a:ext cx="2127443" cy="320040"/>
          </a:xfrm>
          <a:prstGeom prst="rect">
            <a:avLst/>
          </a:prstGeom>
          <a:noFill/>
          <a:ln/>
        </p:spPr>
        <p:txBody>
          <a:bodyPr wrap="square" lIns="0" tIns="0" rIns="0" bIns="0" rtlCol="0" anchor="ctr"/>
          <a:lstStyle/>
          <a:p>
            <a:pPr marL="0" indent="0" algn="ctr">
              <a:buNone/>
            </a:pPr>
            <a:r>
              <a:rPr lang="en-US" sz="1050" b="1" dirty="0">
                <a:solidFill>
                  <a:schemeClr val="bg1"/>
                </a:solidFill>
                <a:latin typeface="Calibri" pitchFamily="34" charset="0"/>
                <a:ea typeface="Calibri" pitchFamily="34" charset="-122"/>
                <a:cs typeface="Calibri" pitchFamily="34" charset="-120"/>
              </a:rPr>
              <a:t>Tarifs (FAQ)</a:t>
            </a:r>
            <a:endParaRPr lang="en-US" sz="1050" dirty="0">
              <a:solidFill>
                <a:schemeClr val="bg1"/>
              </a:solidFill>
            </a:endParaRPr>
          </a:p>
        </p:txBody>
      </p:sp>
      <p:sp>
        <p:nvSpPr>
          <p:cNvPr id="21" name="Text 15"/>
          <p:cNvSpPr/>
          <p:nvPr/>
        </p:nvSpPr>
        <p:spPr>
          <a:xfrm>
            <a:off x="7205289" y="6035040"/>
            <a:ext cx="2127443" cy="320040"/>
          </a:xfrm>
          <a:prstGeom prst="rect">
            <a:avLst/>
          </a:prstGeom>
          <a:noFill/>
          <a:ln/>
        </p:spPr>
        <p:txBody>
          <a:bodyPr wrap="square" lIns="0" tIns="0" rIns="0" bIns="0" rtlCol="0" anchor="ctr"/>
          <a:lstStyle/>
          <a:p>
            <a:pPr marL="0" indent="0" algn="ctr">
              <a:buNone/>
            </a:pPr>
            <a:r>
              <a:rPr lang="en-US" sz="1050" b="1" dirty="0">
                <a:solidFill>
                  <a:schemeClr val="bg1"/>
                </a:solidFill>
                <a:latin typeface="Calibri" pitchFamily="34" charset="0"/>
                <a:ea typeface="Calibri" pitchFamily="34" charset="-122"/>
                <a:cs typeface="Calibri" pitchFamily="34" charset="-120"/>
              </a:rPr>
              <a:t>Contact (validation)</a:t>
            </a:r>
            <a:endParaRPr lang="en-US" sz="1050" dirty="0">
              <a:solidFill>
                <a:schemeClr val="bg1"/>
              </a:solidFill>
            </a:endParaRPr>
          </a:p>
        </p:txBody>
      </p:sp>
      <p:sp>
        <p:nvSpPr>
          <p:cNvPr id="23" name="Text 16"/>
          <p:cNvSpPr/>
          <p:nvPr/>
        </p:nvSpPr>
        <p:spPr>
          <a:xfrm>
            <a:off x="9424172" y="6008571"/>
            <a:ext cx="2127443" cy="320040"/>
          </a:xfrm>
          <a:prstGeom prst="rect">
            <a:avLst/>
          </a:prstGeom>
          <a:noFill/>
          <a:ln/>
        </p:spPr>
        <p:txBody>
          <a:bodyPr wrap="square" lIns="0" tIns="0" rIns="0" bIns="0" rtlCol="0" anchor="ctr"/>
          <a:lstStyle/>
          <a:p>
            <a:pPr marL="0" indent="0" algn="ctr">
              <a:buNone/>
            </a:pPr>
            <a:r>
              <a:rPr lang="en-US" sz="1050" b="1" dirty="0">
                <a:solidFill>
                  <a:schemeClr val="bg1"/>
                </a:solidFill>
                <a:latin typeface="Calibri" pitchFamily="34" charset="0"/>
                <a:ea typeface="Calibri" pitchFamily="34" charset="-122"/>
                <a:cs typeface="Calibri" pitchFamily="34" charset="-120"/>
              </a:rPr>
              <a:t>A </a:t>
            </a:r>
            <a:r>
              <a:rPr lang="en-US" sz="1050" b="1" dirty="0" err="1">
                <a:solidFill>
                  <a:schemeClr val="bg1"/>
                </a:solidFill>
                <a:latin typeface="Calibri" pitchFamily="34" charset="0"/>
                <a:ea typeface="Calibri" pitchFamily="34" charset="-122"/>
                <a:cs typeface="Calibri" pitchFamily="34" charset="-120"/>
              </a:rPr>
              <a:t>propos</a:t>
            </a:r>
            <a:r>
              <a:rPr lang="en-US" sz="1050" b="1" dirty="0">
                <a:solidFill>
                  <a:schemeClr val="bg1"/>
                </a:solidFill>
                <a:latin typeface="Calibri" pitchFamily="34" charset="0"/>
                <a:ea typeface="Calibri" pitchFamily="34" charset="-122"/>
                <a:cs typeface="Calibri" pitchFamily="34" charset="-120"/>
              </a:rPr>
              <a:t> (about)</a:t>
            </a:r>
            <a:endParaRPr lang="en-US" sz="1050" dirty="0">
              <a:solidFill>
                <a:schemeClr val="bg1"/>
              </a:solidFill>
            </a:endParaRPr>
          </a:p>
        </p:txBody>
      </p:sp>
      <p:sp>
        <p:nvSpPr>
          <p:cNvPr id="24" name="Text 17"/>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13</a:t>
            </a:r>
            <a:endParaRPr lang="en-US" sz="1000" dirty="0">
              <a:solidFill>
                <a:schemeClr val="bg1"/>
              </a:solidFill>
            </a:endParaRPr>
          </a:p>
        </p:txBody>
      </p:sp>
      <p:sp>
        <p:nvSpPr>
          <p:cNvPr id="25" name="Text 18"/>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065971" y="-885524"/>
            <a:ext cx="4572000" cy="4572000"/>
          </a:xfrm>
          <a:prstGeom prst="ellipse">
            <a:avLst/>
          </a:prstGeom>
          <a:solidFill>
            <a:srgbClr val="8F3DFF">
              <a:alpha val="16000"/>
            </a:srgbClr>
          </a:solidFill>
          <a:ln/>
        </p:spPr>
      </p:sp>
      <p:sp>
        <p:nvSpPr>
          <p:cNvPr id="3" name="Text 1"/>
          <p:cNvSpPr/>
          <p:nvPr/>
        </p:nvSpPr>
        <p:spPr>
          <a:xfrm>
            <a:off x="4876800" y="275283"/>
            <a:ext cx="7315200" cy="320040"/>
          </a:xfrm>
          <a:prstGeom prst="rect">
            <a:avLst/>
          </a:prstGeom>
          <a:noFill/>
          <a:ln/>
        </p:spPr>
        <p:txBody>
          <a:bodyPr wrap="square" lIns="0" tIns="0" rIns="0" bIns="0" rtlCol="0" anchor="ctr"/>
          <a:lstStyle/>
          <a:p>
            <a:pPr marL="0" indent="0" algn="l">
              <a:buNone/>
            </a:pPr>
            <a:r>
              <a:rPr lang="en-US" sz="1400" b="1" kern="0" spc="300" dirty="0">
                <a:solidFill>
                  <a:srgbClr val="C00000"/>
                </a:solidFill>
                <a:latin typeface="Arial" panose="020B0604020202020204" pitchFamily="34" charset="0"/>
                <a:ea typeface="Calibri" pitchFamily="34" charset="-122"/>
                <a:cs typeface="Arial" panose="020B0604020202020204" pitchFamily="34" charset="0"/>
              </a:rPr>
              <a:t>CONCLUSION</a:t>
            </a:r>
            <a:endParaRPr lang="en-US" sz="1400" dirty="0">
              <a:solidFill>
                <a:srgbClr val="C00000"/>
              </a:solidFill>
              <a:latin typeface="Arial" panose="020B0604020202020204" pitchFamily="34" charset="0"/>
              <a:cs typeface="Arial" panose="020B0604020202020204" pitchFamily="34" charset="0"/>
            </a:endParaRPr>
          </a:p>
        </p:txBody>
      </p:sp>
      <p:sp>
        <p:nvSpPr>
          <p:cNvPr id="4" name="Text 2"/>
          <p:cNvSpPr/>
          <p:nvPr/>
        </p:nvSpPr>
        <p:spPr>
          <a:xfrm>
            <a:off x="4206240" y="641043"/>
            <a:ext cx="10515600" cy="640080"/>
          </a:xfrm>
          <a:prstGeom prst="rect">
            <a:avLst/>
          </a:prstGeom>
          <a:noFill/>
          <a:ln/>
        </p:spPr>
        <p:txBody>
          <a:bodyPr wrap="square" lIns="0" tIns="0" rIns="0" bIns="0" rtlCol="0" anchor="ctr"/>
          <a:lstStyle/>
          <a:p>
            <a:pPr marL="0" indent="0" algn="l">
              <a:buNone/>
            </a:pPr>
            <a:r>
              <a:rPr lang="en-US" sz="3600" b="1" dirty="0">
                <a:solidFill>
                  <a:schemeClr val="bg1"/>
                </a:solidFill>
                <a:latin typeface="Arial" panose="020B0604020202020204" pitchFamily="34" charset="0"/>
                <a:ea typeface="Cambria" pitchFamily="34" charset="-122"/>
                <a:cs typeface="Arial" panose="020B0604020202020204" pitchFamily="34" charset="0"/>
              </a:rPr>
              <a:t>Bilan du projet</a:t>
            </a:r>
            <a:endParaRPr lang="en-US" sz="3600" dirty="0">
              <a:solidFill>
                <a:schemeClr val="bg1"/>
              </a:solidFill>
              <a:latin typeface="Arial" panose="020B0604020202020204" pitchFamily="34" charset="0"/>
              <a:cs typeface="Arial" panose="020B0604020202020204" pitchFamily="34" charset="0"/>
            </a:endParaRPr>
          </a:p>
        </p:txBody>
      </p:sp>
      <p:sp>
        <p:nvSpPr>
          <p:cNvPr id="5" name="Text 3"/>
          <p:cNvSpPr/>
          <p:nvPr/>
        </p:nvSpPr>
        <p:spPr>
          <a:xfrm>
            <a:off x="548640" y="1600200"/>
            <a:ext cx="6035040" cy="1188720"/>
          </a:xfrm>
          <a:prstGeom prst="rect">
            <a:avLst/>
          </a:prstGeom>
          <a:noFill/>
          <a:ln/>
        </p:spPr>
        <p:txBody>
          <a:bodyPr wrap="square" lIns="0" tIns="0" rIns="0" bIns="0" rtlCol="0" anchor="ctr"/>
          <a:lstStyle/>
          <a:p>
            <a:pPr marL="0" indent="0">
              <a:lnSpc>
                <a:spcPct val="125000"/>
              </a:lnSpc>
              <a:buNone/>
            </a:pPr>
            <a:r>
              <a:rPr lang="en-US" sz="1600" dirty="0">
                <a:solidFill>
                  <a:schemeClr val="bg1"/>
                </a:solidFill>
                <a:latin typeface="Arial" panose="020B0604020202020204" pitchFamily="34" charset="0"/>
                <a:ea typeface="Calibri" pitchFamily="34" charset="-122"/>
                <a:cs typeface="Arial" panose="020B0604020202020204" pitchFamily="34" charset="0"/>
              </a:rPr>
              <a:t>Ce projet a permis de mettre en pratique un développement front-end complet : structuration HTML sémantique, mise en forme CSS avancée (Grid, variables, animations), interactivité JavaScript (DOM, formulaires, observers) et intégration de Bootstrap 5.</a:t>
            </a:r>
            <a:endParaRPr lang="en-US" sz="1600" dirty="0">
              <a:solidFill>
                <a:schemeClr val="bg1"/>
              </a:solidFill>
              <a:latin typeface="Arial" panose="020B0604020202020204" pitchFamily="34" charset="0"/>
              <a:cs typeface="Arial" panose="020B0604020202020204" pitchFamily="34" charset="0"/>
            </a:endParaRPr>
          </a:p>
        </p:txBody>
      </p:sp>
      <p:sp>
        <p:nvSpPr>
          <p:cNvPr id="6" name="Text 4"/>
          <p:cNvSpPr/>
          <p:nvPr/>
        </p:nvSpPr>
        <p:spPr>
          <a:xfrm>
            <a:off x="548640" y="2743200"/>
            <a:ext cx="6035040" cy="914400"/>
          </a:xfrm>
          <a:prstGeom prst="rect">
            <a:avLst/>
          </a:prstGeom>
          <a:noFill/>
          <a:ln/>
        </p:spPr>
        <p:txBody>
          <a:bodyPr wrap="square" lIns="0" tIns="0" rIns="0" bIns="0" rtlCol="0" anchor="ctr"/>
          <a:lstStyle/>
          <a:p>
            <a:pPr marL="0" indent="0">
              <a:lnSpc>
                <a:spcPct val="125000"/>
              </a:lnSpc>
              <a:buNone/>
            </a:pPr>
            <a:r>
              <a:rPr lang="en-US" sz="1600" dirty="0">
                <a:solidFill>
                  <a:schemeClr val="bg1"/>
                </a:solidFill>
                <a:latin typeface="Arial" panose="020B0604020202020204" pitchFamily="34" charset="0"/>
                <a:ea typeface="Calibri" pitchFamily="34" charset="-122"/>
                <a:cs typeface="Arial" panose="020B0604020202020204" pitchFamily="34" charset="0"/>
              </a:rPr>
              <a:t>Au-delà du code, ce travail a renforcé ma compréhension du workflow Git/GitHub et de la nécessité de penser « responsive-first » dès la conception.</a:t>
            </a:r>
            <a:endParaRPr lang="en-US" sz="1600" dirty="0">
              <a:solidFill>
                <a:schemeClr val="bg1"/>
              </a:solidFill>
              <a:latin typeface="Arial" panose="020B0604020202020204" pitchFamily="34" charset="0"/>
              <a:cs typeface="Arial" panose="020B0604020202020204" pitchFamily="34" charset="0"/>
            </a:endParaRPr>
          </a:p>
        </p:txBody>
      </p:sp>
      <p:sp>
        <p:nvSpPr>
          <p:cNvPr id="9" name="Text 6"/>
          <p:cNvSpPr/>
          <p:nvPr/>
        </p:nvSpPr>
        <p:spPr>
          <a:xfrm>
            <a:off x="1051560" y="3776472"/>
            <a:ext cx="5486400" cy="384048"/>
          </a:xfrm>
          <a:prstGeom prst="rect">
            <a:avLst/>
          </a:prstGeom>
          <a:noFill/>
          <a:ln/>
        </p:spPr>
        <p:txBody>
          <a:bodyPr wrap="square" lIns="0" tIns="0" rIns="0" bIns="0" rtlCol="0" anchor="ctr"/>
          <a:lstStyle/>
          <a:p>
            <a:pPr marL="0" indent="0">
              <a:buNone/>
            </a:pPr>
            <a:r>
              <a:rPr lang="en-US" sz="1400" dirty="0">
                <a:solidFill>
                  <a:schemeClr val="bg1"/>
                </a:solidFill>
                <a:latin typeface="Arial" panose="020B0604020202020204" pitchFamily="34" charset="0"/>
                <a:ea typeface="Calibri" pitchFamily="34" charset="-122"/>
                <a:cs typeface="Arial" panose="020B0604020202020204" pitchFamily="34" charset="0"/>
              </a:rPr>
              <a:t>Site multi-pages cohérent et responsive</a:t>
            </a:r>
            <a:endParaRPr lang="en-US" sz="1400" dirty="0">
              <a:solidFill>
                <a:schemeClr val="bg1"/>
              </a:solidFill>
              <a:latin typeface="Arial" panose="020B0604020202020204" pitchFamily="34" charset="0"/>
              <a:cs typeface="Arial" panose="020B0604020202020204" pitchFamily="34" charset="0"/>
            </a:endParaRPr>
          </a:p>
        </p:txBody>
      </p:sp>
      <p:sp>
        <p:nvSpPr>
          <p:cNvPr id="12" name="Text 8"/>
          <p:cNvSpPr/>
          <p:nvPr/>
        </p:nvSpPr>
        <p:spPr>
          <a:xfrm>
            <a:off x="1051560" y="4279392"/>
            <a:ext cx="5486400" cy="384048"/>
          </a:xfrm>
          <a:prstGeom prst="rect">
            <a:avLst/>
          </a:prstGeom>
          <a:noFill/>
          <a:ln/>
        </p:spPr>
        <p:txBody>
          <a:bodyPr wrap="square" lIns="0" tIns="0" rIns="0" bIns="0" rtlCol="0" anchor="ctr"/>
          <a:lstStyle/>
          <a:p>
            <a:pPr marL="0" indent="0">
              <a:buNone/>
            </a:pPr>
            <a:r>
              <a:rPr lang="en-US" sz="1400" dirty="0">
                <a:solidFill>
                  <a:schemeClr val="bg1"/>
                </a:solidFill>
                <a:latin typeface="Arial" panose="020B0604020202020204" pitchFamily="34" charset="0"/>
                <a:ea typeface="Calibri" pitchFamily="34" charset="-122"/>
                <a:cs typeface="Arial" panose="020B0604020202020204" pitchFamily="34" charset="0"/>
              </a:rPr>
              <a:t>Thème clair/sombre persistant</a:t>
            </a:r>
            <a:endParaRPr lang="en-US" sz="1400" dirty="0">
              <a:solidFill>
                <a:schemeClr val="bg1"/>
              </a:solidFill>
              <a:latin typeface="Arial" panose="020B0604020202020204" pitchFamily="34" charset="0"/>
              <a:cs typeface="Arial" panose="020B0604020202020204" pitchFamily="34" charset="0"/>
            </a:endParaRPr>
          </a:p>
        </p:txBody>
      </p:sp>
      <p:sp>
        <p:nvSpPr>
          <p:cNvPr id="15" name="Text 10"/>
          <p:cNvSpPr/>
          <p:nvPr/>
        </p:nvSpPr>
        <p:spPr>
          <a:xfrm>
            <a:off x="1051560" y="4782312"/>
            <a:ext cx="5486400" cy="384048"/>
          </a:xfrm>
          <a:prstGeom prst="rect">
            <a:avLst/>
          </a:prstGeom>
          <a:noFill/>
          <a:ln/>
        </p:spPr>
        <p:txBody>
          <a:bodyPr wrap="square" lIns="0" tIns="0" rIns="0" bIns="0" rtlCol="0" anchor="ctr"/>
          <a:lstStyle/>
          <a:p>
            <a:pPr marL="0" indent="0">
              <a:buNone/>
            </a:pPr>
            <a:r>
              <a:rPr lang="en-US" sz="1400" dirty="0">
                <a:solidFill>
                  <a:schemeClr val="bg1"/>
                </a:solidFill>
                <a:latin typeface="Arial" panose="020B0604020202020204" pitchFamily="34" charset="0"/>
                <a:ea typeface="Calibri" pitchFamily="34" charset="-122"/>
                <a:cs typeface="Arial" panose="020B0604020202020204" pitchFamily="34" charset="0"/>
              </a:rPr>
              <a:t>Interactions JS robustes (filtres, validation, compteurs)</a:t>
            </a:r>
            <a:endParaRPr lang="en-US" sz="1400" dirty="0">
              <a:solidFill>
                <a:schemeClr val="bg1"/>
              </a:solidFill>
              <a:latin typeface="Arial" panose="020B0604020202020204" pitchFamily="34" charset="0"/>
              <a:cs typeface="Arial" panose="020B0604020202020204" pitchFamily="34" charset="0"/>
            </a:endParaRPr>
          </a:p>
        </p:txBody>
      </p:sp>
      <p:sp>
        <p:nvSpPr>
          <p:cNvPr id="18" name="Text 12"/>
          <p:cNvSpPr/>
          <p:nvPr/>
        </p:nvSpPr>
        <p:spPr>
          <a:xfrm>
            <a:off x="1051560" y="5285232"/>
            <a:ext cx="5486400" cy="384048"/>
          </a:xfrm>
          <a:prstGeom prst="rect">
            <a:avLst/>
          </a:prstGeom>
          <a:noFill/>
          <a:ln/>
        </p:spPr>
        <p:txBody>
          <a:bodyPr wrap="square" lIns="0" tIns="0" rIns="0" bIns="0" rtlCol="0" anchor="ctr"/>
          <a:lstStyle/>
          <a:p>
            <a:pPr marL="0" indent="0">
              <a:buNone/>
            </a:pPr>
            <a:r>
              <a:rPr lang="en-US" sz="1400" dirty="0">
                <a:solidFill>
                  <a:schemeClr val="bg1"/>
                </a:solidFill>
                <a:latin typeface="Arial" panose="020B0604020202020204" pitchFamily="34" charset="0"/>
                <a:ea typeface="Calibri" pitchFamily="34" charset="-122"/>
                <a:cs typeface="Arial" panose="020B0604020202020204" pitchFamily="34" charset="0"/>
              </a:rPr>
              <a:t>Identité visuelle forte et originale</a:t>
            </a:r>
            <a:endParaRPr lang="en-US" sz="1400" dirty="0">
              <a:solidFill>
                <a:schemeClr val="bg1"/>
              </a:solidFill>
              <a:latin typeface="Arial" panose="020B0604020202020204" pitchFamily="34" charset="0"/>
              <a:cs typeface="Arial" panose="020B0604020202020204" pitchFamily="34" charset="0"/>
            </a:endParaRPr>
          </a:p>
        </p:txBody>
      </p:sp>
      <p:sp>
        <p:nvSpPr>
          <p:cNvPr id="19" name="Shape 13"/>
          <p:cNvSpPr/>
          <p:nvPr/>
        </p:nvSpPr>
        <p:spPr>
          <a:xfrm>
            <a:off x="7517331" y="2679192"/>
            <a:ext cx="3546910" cy="3144092"/>
          </a:xfrm>
          <a:prstGeom prst="roundRect">
            <a:avLst>
              <a:gd name="adj" fmla="val 2828"/>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22" name="Text 15"/>
          <p:cNvSpPr/>
          <p:nvPr/>
        </p:nvSpPr>
        <p:spPr>
          <a:xfrm>
            <a:off x="7040880" y="2743200"/>
            <a:ext cx="4617720" cy="914400"/>
          </a:xfrm>
          <a:prstGeom prst="rect">
            <a:avLst/>
          </a:prstGeom>
          <a:noFill/>
          <a:ln/>
        </p:spPr>
        <p:txBody>
          <a:bodyPr wrap="square" lIns="0" tIns="0" rIns="0" bIns="0" rtlCol="0" anchor="ctr"/>
          <a:lstStyle/>
          <a:p>
            <a:pPr marL="0" indent="0" algn="ctr">
              <a:buNone/>
            </a:pPr>
            <a:r>
              <a:rPr lang="en-US" sz="6600" b="1" dirty="0">
                <a:solidFill>
                  <a:schemeClr val="bg1"/>
                </a:solidFill>
                <a:latin typeface="Arial" panose="020B0604020202020204" pitchFamily="34" charset="0"/>
                <a:ea typeface="Cambria" pitchFamily="34" charset="-122"/>
                <a:cs typeface="Arial" panose="020B0604020202020204" pitchFamily="34" charset="0"/>
              </a:rPr>
              <a:t>5</a:t>
            </a:r>
            <a:endParaRPr lang="en-US" sz="6600" dirty="0">
              <a:solidFill>
                <a:schemeClr val="bg1"/>
              </a:solidFill>
              <a:latin typeface="Arial" panose="020B0604020202020204" pitchFamily="34" charset="0"/>
              <a:cs typeface="Arial" panose="020B0604020202020204" pitchFamily="34" charset="0"/>
            </a:endParaRPr>
          </a:p>
        </p:txBody>
      </p:sp>
      <p:sp>
        <p:nvSpPr>
          <p:cNvPr id="23" name="Text 16"/>
          <p:cNvSpPr/>
          <p:nvPr/>
        </p:nvSpPr>
        <p:spPr>
          <a:xfrm>
            <a:off x="7040880" y="3611880"/>
            <a:ext cx="4617720" cy="365760"/>
          </a:xfrm>
          <a:prstGeom prst="rect">
            <a:avLst/>
          </a:prstGeom>
          <a:noFill/>
          <a:ln/>
        </p:spPr>
        <p:txBody>
          <a:bodyPr wrap="square" lIns="0" tIns="0" rIns="0" bIns="0" rtlCol="0" anchor="ctr"/>
          <a:lstStyle/>
          <a:p>
            <a:pPr marL="0" indent="0" algn="ctr">
              <a:buNone/>
            </a:pPr>
            <a:r>
              <a:rPr lang="en-US" sz="1400" dirty="0">
                <a:solidFill>
                  <a:schemeClr val="bg1"/>
                </a:solidFill>
                <a:latin typeface="Arial" panose="020B0604020202020204" pitchFamily="34" charset="0"/>
                <a:ea typeface="Calibri" pitchFamily="34" charset="-122"/>
                <a:cs typeface="Arial" panose="020B0604020202020204" pitchFamily="34" charset="0"/>
              </a:rPr>
              <a:t>pages développées</a:t>
            </a:r>
            <a:endParaRPr lang="en-US" sz="1400" dirty="0">
              <a:solidFill>
                <a:schemeClr val="bg1"/>
              </a:solidFill>
              <a:latin typeface="Arial" panose="020B0604020202020204" pitchFamily="34" charset="0"/>
              <a:cs typeface="Arial" panose="020B0604020202020204" pitchFamily="34" charset="0"/>
            </a:endParaRPr>
          </a:p>
        </p:txBody>
      </p:sp>
      <p:sp>
        <p:nvSpPr>
          <p:cNvPr id="24" name="Shape 17"/>
          <p:cNvSpPr/>
          <p:nvPr/>
        </p:nvSpPr>
        <p:spPr>
          <a:xfrm>
            <a:off x="7589520" y="4160520"/>
            <a:ext cx="3520440" cy="0"/>
          </a:xfrm>
          <a:prstGeom prst="line">
            <a:avLst/>
          </a:prstGeom>
          <a:noFill/>
          <a:ln w="12700">
            <a:solidFill>
              <a:srgbClr val="2A2545"/>
            </a:solidFill>
            <a:prstDash val="solid"/>
          </a:ln>
        </p:spPr>
      </p:sp>
      <p:sp>
        <p:nvSpPr>
          <p:cNvPr id="25" name="Text 18"/>
          <p:cNvSpPr/>
          <p:nvPr/>
        </p:nvSpPr>
        <p:spPr>
          <a:xfrm>
            <a:off x="7040880" y="4343400"/>
            <a:ext cx="4617720" cy="640080"/>
          </a:xfrm>
          <a:prstGeom prst="rect">
            <a:avLst/>
          </a:prstGeom>
          <a:noFill/>
          <a:ln/>
        </p:spPr>
        <p:txBody>
          <a:bodyPr wrap="square" lIns="0" tIns="0" rIns="0" bIns="0" rtlCol="0" anchor="ctr"/>
          <a:lstStyle/>
          <a:p>
            <a:pPr marL="0" indent="0" algn="ctr">
              <a:buNone/>
            </a:pPr>
            <a:r>
              <a:rPr lang="en-US" sz="4400" b="1" dirty="0">
                <a:solidFill>
                  <a:schemeClr val="bg1"/>
                </a:solidFill>
                <a:latin typeface="Arial" panose="020B0604020202020204" pitchFamily="34" charset="0"/>
                <a:ea typeface="Cambria" pitchFamily="34" charset="-122"/>
                <a:cs typeface="Arial" panose="020B0604020202020204" pitchFamily="34" charset="0"/>
              </a:rPr>
              <a:t>100%</a:t>
            </a:r>
            <a:endParaRPr lang="en-US" sz="4400" dirty="0">
              <a:solidFill>
                <a:schemeClr val="bg1"/>
              </a:solidFill>
              <a:latin typeface="Arial" panose="020B0604020202020204" pitchFamily="34" charset="0"/>
              <a:cs typeface="Arial" panose="020B0604020202020204" pitchFamily="34" charset="0"/>
            </a:endParaRPr>
          </a:p>
        </p:txBody>
      </p:sp>
      <p:sp>
        <p:nvSpPr>
          <p:cNvPr id="26" name="Text 19"/>
          <p:cNvSpPr/>
          <p:nvPr/>
        </p:nvSpPr>
        <p:spPr>
          <a:xfrm>
            <a:off x="7040880" y="4983480"/>
            <a:ext cx="4617720" cy="365760"/>
          </a:xfrm>
          <a:prstGeom prst="rect">
            <a:avLst/>
          </a:prstGeom>
          <a:noFill/>
          <a:ln/>
        </p:spPr>
        <p:txBody>
          <a:bodyPr wrap="square" lIns="0" tIns="0" rIns="0" bIns="0" rtlCol="0" anchor="ctr"/>
          <a:lstStyle/>
          <a:p>
            <a:pPr marL="0" indent="0" algn="ctr">
              <a:buNone/>
            </a:pPr>
            <a:r>
              <a:rPr lang="en-US" sz="1400" dirty="0">
                <a:solidFill>
                  <a:schemeClr val="bg1"/>
                </a:solidFill>
                <a:latin typeface="Arial" panose="020B0604020202020204" pitchFamily="34" charset="0"/>
                <a:ea typeface="Calibri" pitchFamily="34" charset="-122"/>
                <a:cs typeface="Arial" panose="020B0604020202020204" pitchFamily="34" charset="0"/>
              </a:rPr>
              <a:t>responsive (mobile, </a:t>
            </a:r>
            <a:r>
              <a:rPr lang="en-US" sz="1400" dirty="0" err="1">
                <a:solidFill>
                  <a:schemeClr val="bg1"/>
                </a:solidFill>
                <a:latin typeface="Arial" panose="020B0604020202020204" pitchFamily="34" charset="0"/>
                <a:ea typeface="Calibri" pitchFamily="34" charset="-122"/>
                <a:cs typeface="Arial" panose="020B0604020202020204" pitchFamily="34" charset="0"/>
              </a:rPr>
              <a:t>tablette</a:t>
            </a:r>
            <a:r>
              <a:rPr lang="en-US" sz="1400" dirty="0">
                <a:solidFill>
                  <a:schemeClr val="bg1"/>
                </a:solidFill>
                <a:latin typeface="Arial" panose="020B0604020202020204" pitchFamily="34" charset="0"/>
                <a:ea typeface="Calibri" pitchFamily="34" charset="-122"/>
                <a:cs typeface="Arial" panose="020B0604020202020204" pitchFamily="34" charset="0"/>
              </a:rPr>
              <a:t> et desktop)</a:t>
            </a:r>
            <a:endParaRPr lang="en-US" sz="1400" dirty="0">
              <a:solidFill>
                <a:schemeClr val="bg1"/>
              </a:solidFill>
              <a:latin typeface="Arial" panose="020B0604020202020204" pitchFamily="34" charset="0"/>
              <a:cs typeface="Arial" panose="020B0604020202020204" pitchFamily="34" charset="0"/>
            </a:endParaRPr>
          </a:p>
        </p:txBody>
      </p:sp>
      <p:sp>
        <p:nvSpPr>
          <p:cNvPr id="27" name="Text 20"/>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50" dirty="0">
                <a:solidFill>
                  <a:schemeClr val="bg1"/>
                </a:solidFill>
                <a:latin typeface="Arial" panose="020B0604020202020204" pitchFamily="34" charset="0"/>
                <a:ea typeface="Calibri" pitchFamily="34" charset="-122"/>
                <a:cs typeface="Arial" panose="020B0604020202020204" pitchFamily="34" charset="0"/>
              </a:rPr>
              <a:t>14</a:t>
            </a:r>
            <a:endParaRPr lang="en-US" sz="1050" dirty="0">
              <a:solidFill>
                <a:schemeClr val="bg1"/>
              </a:solidFill>
              <a:latin typeface="Arial" panose="020B0604020202020204" pitchFamily="34" charset="0"/>
              <a:cs typeface="Arial" panose="020B0604020202020204" pitchFamily="34" charset="0"/>
            </a:endParaRPr>
          </a:p>
        </p:txBody>
      </p:sp>
      <p:sp>
        <p:nvSpPr>
          <p:cNvPr id="28" name="Text 21"/>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50" dirty="0">
              <a:solidFill>
                <a:schemeClr val="bg1"/>
              </a:solidFill>
              <a:latin typeface="Arial" panose="020B0604020202020204" pitchFamily="34" charset="0"/>
              <a:cs typeface="Arial" panose="020B0604020202020204" pitchFamily="34" charset="0"/>
            </a:endParaRPr>
          </a:p>
        </p:txBody>
      </p:sp>
      <p:cxnSp>
        <p:nvCxnSpPr>
          <p:cNvPr id="21" name="Connecteur droit 20">
            <a:extLst>
              <a:ext uri="{FF2B5EF4-FFF2-40B4-BE49-F238E27FC236}">
                <a16:creationId xmlns:a16="http://schemas.microsoft.com/office/drawing/2014/main" id="{439FF7C1-DAA0-CE94-4F80-C83CF8D1543F}"/>
              </a:ext>
            </a:extLst>
          </p:cNvPr>
          <p:cNvCxnSpPr>
            <a:cxnSpLocks/>
          </p:cNvCxnSpPr>
          <p:nvPr/>
        </p:nvCxnSpPr>
        <p:spPr>
          <a:xfrm>
            <a:off x="685800" y="3906078"/>
            <a:ext cx="0" cy="1763202"/>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1828800" y="4114800"/>
            <a:ext cx="5029200" cy="5029200"/>
          </a:xfrm>
          <a:prstGeom prst="ellipse">
            <a:avLst/>
          </a:prstGeom>
          <a:solidFill>
            <a:srgbClr val="5B21B6">
              <a:alpha val="20000"/>
            </a:srgbClr>
          </a:solidFill>
          <a:ln/>
        </p:spPr>
      </p:sp>
      <p:sp>
        <p:nvSpPr>
          <p:cNvPr id="3" name="Text 1"/>
          <p:cNvSpPr/>
          <p:nvPr/>
        </p:nvSpPr>
        <p:spPr>
          <a:xfrm>
            <a:off x="5051066" y="168369"/>
            <a:ext cx="7315200" cy="320040"/>
          </a:xfrm>
          <a:prstGeom prst="rect">
            <a:avLst/>
          </a:prstGeom>
          <a:noFill/>
          <a:ln/>
        </p:spPr>
        <p:txBody>
          <a:bodyPr wrap="square" lIns="0" tIns="0" rIns="0" bIns="0" rtlCol="0" anchor="ctr"/>
          <a:lstStyle/>
          <a:p>
            <a:pPr marL="0" indent="0" algn="l">
              <a:buNone/>
            </a:pPr>
            <a:r>
              <a:rPr lang="en-US" sz="1600" b="1" kern="0" spc="300" dirty="0">
                <a:solidFill>
                  <a:schemeClr val="bg1"/>
                </a:solidFill>
                <a:latin typeface="Arial" panose="020B0604020202020204" pitchFamily="34" charset="0"/>
                <a:ea typeface="Calibri" pitchFamily="34" charset="-122"/>
                <a:cs typeface="Arial" panose="020B0604020202020204" pitchFamily="34" charset="0"/>
              </a:rPr>
              <a:t>PERSPECTIVES</a:t>
            </a:r>
            <a:endParaRPr lang="en-US" sz="1600" dirty="0">
              <a:solidFill>
                <a:schemeClr val="bg1"/>
              </a:solidFill>
              <a:latin typeface="Arial" panose="020B0604020202020204" pitchFamily="34" charset="0"/>
              <a:cs typeface="Arial" panose="020B0604020202020204" pitchFamily="34" charset="0"/>
            </a:endParaRPr>
          </a:p>
        </p:txBody>
      </p:sp>
      <p:sp>
        <p:nvSpPr>
          <p:cNvPr id="4" name="Text 2"/>
          <p:cNvSpPr/>
          <p:nvPr/>
        </p:nvSpPr>
        <p:spPr>
          <a:xfrm>
            <a:off x="3955983" y="470916"/>
            <a:ext cx="10515600" cy="640080"/>
          </a:xfrm>
          <a:prstGeom prst="rect">
            <a:avLst/>
          </a:prstGeom>
          <a:noFill/>
          <a:ln/>
        </p:spPr>
        <p:txBody>
          <a:bodyPr wrap="square" lIns="0" tIns="0" rIns="0" bIns="0" rtlCol="0" anchor="ctr"/>
          <a:lstStyle/>
          <a:p>
            <a:pPr marL="0" indent="0" algn="l">
              <a:buNone/>
            </a:pPr>
            <a:r>
              <a:rPr lang="en-US" sz="4000" b="1" dirty="0">
                <a:solidFill>
                  <a:schemeClr val="bg1"/>
                </a:solidFill>
                <a:latin typeface="Arial" panose="020B0604020202020204" pitchFamily="34" charset="0"/>
                <a:ea typeface="Cambria" pitchFamily="34" charset="-122"/>
                <a:cs typeface="Arial" panose="020B0604020202020204" pitchFamily="34" charset="0"/>
              </a:rPr>
              <a:t>Pistes d'amélioration</a:t>
            </a:r>
            <a:endParaRPr lang="en-US" sz="4000"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548640" y="1479937"/>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8" name="Text 5"/>
          <p:cNvSpPr/>
          <p:nvPr/>
        </p:nvSpPr>
        <p:spPr>
          <a:xfrm>
            <a:off x="901887" y="1988820"/>
            <a:ext cx="3054096" cy="457200"/>
          </a:xfrm>
          <a:prstGeom prst="rect">
            <a:avLst/>
          </a:prstGeom>
          <a:noFill/>
          <a:ln/>
        </p:spPr>
        <p:txBody>
          <a:bodyPr wrap="square" lIns="0" tIns="0" rIns="0" bIns="0" rtlCol="0" anchor="t"/>
          <a:lstStyle/>
          <a:p>
            <a:pPr marL="0" indent="0">
              <a:buNone/>
            </a:pPr>
            <a:r>
              <a:rPr lang="en-US" sz="1600" b="1" dirty="0">
                <a:solidFill>
                  <a:srgbClr val="C00000"/>
                </a:solidFill>
                <a:latin typeface="Arial" panose="020B0604020202020204" pitchFamily="34" charset="0"/>
                <a:ea typeface="Cambria" pitchFamily="34" charset="-122"/>
                <a:cs typeface="Arial" panose="020B0604020202020204" pitchFamily="34" charset="0"/>
              </a:rPr>
              <a:t>Back-end &amp; base de données</a:t>
            </a:r>
            <a:endParaRPr lang="en-US" sz="1600" dirty="0">
              <a:solidFill>
                <a:srgbClr val="C00000"/>
              </a:solidFill>
              <a:latin typeface="Arial" panose="020B0604020202020204" pitchFamily="34" charset="0"/>
              <a:cs typeface="Arial" panose="020B0604020202020204" pitchFamily="34" charset="0"/>
            </a:endParaRPr>
          </a:p>
        </p:txBody>
      </p:sp>
      <p:sp>
        <p:nvSpPr>
          <p:cNvPr id="9" name="Text 6"/>
          <p:cNvSpPr/>
          <p:nvPr/>
        </p:nvSpPr>
        <p:spPr>
          <a:xfrm>
            <a:off x="850392" y="2542430"/>
            <a:ext cx="3054096" cy="868680"/>
          </a:xfrm>
          <a:prstGeom prst="rect">
            <a:avLst/>
          </a:prstGeom>
          <a:noFill/>
          <a:ln/>
        </p:spPr>
        <p:txBody>
          <a:bodyPr wrap="square" lIns="0" tIns="0" rIns="0" bIns="0" rtlCol="0" anchor="t"/>
          <a:lstStyle/>
          <a:p>
            <a:pPr>
              <a:lnSpc>
                <a:spcPct val="115000"/>
              </a:lnSpc>
            </a:pPr>
            <a:r>
              <a:rPr lang="fr-FR" sz="1400" b="1" dirty="0">
                <a:solidFill>
                  <a:schemeClr val="bg1"/>
                </a:solidFill>
                <a:latin typeface="Arial" panose="020B0604020202020204" pitchFamily="34" charset="0"/>
                <a:cs typeface="Arial" panose="020B0604020202020204" pitchFamily="34" charset="0"/>
              </a:rPr>
              <a:t>Connecter le formulaire de contact et les comptes des joueurs à une base de données (Node.js/Express)</a:t>
            </a:r>
            <a:endParaRPr lang="en-US" sz="1400" b="1" dirty="0">
              <a:solidFill>
                <a:schemeClr val="bg1"/>
              </a:solidFill>
              <a:latin typeface="Arial" panose="020B0604020202020204" pitchFamily="34" charset="0"/>
              <a:cs typeface="Arial" panose="020B0604020202020204" pitchFamily="34" charset="0"/>
            </a:endParaRPr>
          </a:p>
        </p:txBody>
      </p:sp>
      <p:sp>
        <p:nvSpPr>
          <p:cNvPr id="10" name="Shape 7"/>
          <p:cNvSpPr/>
          <p:nvPr/>
        </p:nvSpPr>
        <p:spPr>
          <a:xfrm>
            <a:off x="4407408" y="1479937"/>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3" name="Text 9"/>
          <p:cNvSpPr/>
          <p:nvPr/>
        </p:nvSpPr>
        <p:spPr>
          <a:xfrm>
            <a:off x="5065776" y="1993690"/>
            <a:ext cx="3054096" cy="457200"/>
          </a:xfrm>
          <a:prstGeom prst="rect">
            <a:avLst/>
          </a:prstGeom>
          <a:noFill/>
          <a:ln/>
        </p:spPr>
        <p:txBody>
          <a:bodyPr wrap="square" lIns="0" tIns="0" rIns="0" bIns="0" rtlCol="0" anchor="t"/>
          <a:lstStyle/>
          <a:p>
            <a:pPr marL="0" indent="0">
              <a:buNone/>
            </a:pPr>
            <a:r>
              <a:rPr lang="en-US" sz="1600" b="1" dirty="0">
                <a:solidFill>
                  <a:srgbClr val="C00000"/>
                </a:solidFill>
                <a:latin typeface="Arial" panose="020B0604020202020204" pitchFamily="34" charset="0"/>
                <a:ea typeface="Cambria" pitchFamily="34" charset="-122"/>
                <a:cs typeface="Arial" panose="020B0604020202020204" pitchFamily="34" charset="0"/>
              </a:rPr>
              <a:t>Authentification réelle</a:t>
            </a:r>
            <a:endParaRPr lang="en-US" sz="1600" dirty="0">
              <a:solidFill>
                <a:srgbClr val="C00000"/>
              </a:solidFill>
              <a:latin typeface="Arial" panose="020B0604020202020204" pitchFamily="34" charset="0"/>
              <a:cs typeface="Arial" panose="020B0604020202020204" pitchFamily="34" charset="0"/>
            </a:endParaRPr>
          </a:p>
        </p:txBody>
      </p:sp>
      <p:sp>
        <p:nvSpPr>
          <p:cNvPr id="14" name="Text 10"/>
          <p:cNvSpPr/>
          <p:nvPr/>
        </p:nvSpPr>
        <p:spPr>
          <a:xfrm>
            <a:off x="4992624" y="2518476"/>
            <a:ext cx="3054096" cy="868680"/>
          </a:xfrm>
          <a:prstGeom prst="rect">
            <a:avLst/>
          </a:prstGeom>
          <a:noFill/>
          <a:ln/>
        </p:spPr>
        <p:txBody>
          <a:bodyPr wrap="square" lIns="0" tIns="0" rIns="0" bIns="0" rtlCol="0" anchor="t"/>
          <a:lstStyle/>
          <a:p>
            <a:pPr>
              <a:lnSpc>
                <a:spcPct val="115000"/>
              </a:lnSpc>
            </a:pPr>
            <a:r>
              <a:rPr lang="fr-FR" sz="1400" b="1" dirty="0">
                <a:solidFill>
                  <a:schemeClr val="bg1"/>
                </a:solidFill>
                <a:latin typeface="Arial" panose="020B0604020202020204" pitchFamily="34" charset="0"/>
                <a:cs typeface="Arial" panose="020B0604020202020204" pitchFamily="34" charset="0"/>
              </a:rPr>
              <a:t>Mettre en place un système d'inscription et de connexion sécurisé pour les joueurs</a:t>
            </a:r>
            <a:endParaRPr lang="en-US" sz="1400" b="1" dirty="0">
              <a:solidFill>
                <a:schemeClr val="bg1"/>
              </a:solidFill>
              <a:latin typeface="Arial" panose="020B0604020202020204" pitchFamily="34" charset="0"/>
              <a:cs typeface="Arial" panose="020B0604020202020204" pitchFamily="34" charset="0"/>
            </a:endParaRPr>
          </a:p>
        </p:txBody>
      </p:sp>
      <p:sp>
        <p:nvSpPr>
          <p:cNvPr id="15" name="Shape 11"/>
          <p:cNvSpPr/>
          <p:nvPr/>
        </p:nvSpPr>
        <p:spPr>
          <a:xfrm>
            <a:off x="8266176" y="1451113"/>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8" name="Text 13"/>
          <p:cNvSpPr/>
          <p:nvPr/>
        </p:nvSpPr>
        <p:spPr>
          <a:xfrm>
            <a:off x="8778240" y="1993690"/>
            <a:ext cx="3054096" cy="457200"/>
          </a:xfrm>
          <a:prstGeom prst="rect">
            <a:avLst/>
          </a:prstGeom>
          <a:noFill/>
          <a:ln/>
        </p:spPr>
        <p:txBody>
          <a:bodyPr wrap="square" lIns="0" tIns="0" rIns="0" bIns="0" rtlCol="0" anchor="t"/>
          <a:lstStyle/>
          <a:p>
            <a:pPr marL="0" indent="0">
              <a:buNone/>
            </a:pPr>
            <a:r>
              <a:rPr lang="en-US" sz="1600" b="1" dirty="0">
                <a:solidFill>
                  <a:srgbClr val="C00000"/>
                </a:solidFill>
                <a:latin typeface="Arial" panose="020B0604020202020204" pitchFamily="34" charset="0"/>
                <a:ea typeface="Cambria" pitchFamily="34" charset="-122"/>
                <a:cs typeface="Arial" panose="020B0604020202020204" pitchFamily="34" charset="0"/>
              </a:rPr>
              <a:t>Recherche &amp; filtres avancés</a:t>
            </a:r>
            <a:endParaRPr lang="en-US" sz="1600" dirty="0">
              <a:solidFill>
                <a:srgbClr val="C00000"/>
              </a:solidFill>
              <a:latin typeface="Arial" panose="020B0604020202020204" pitchFamily="34" charset="0"/>
              <a:cs typeface="Arial" panose="020B0604020202020204" pitchFamily="34" charset="0"/>
            </a:endParaRPr>
          </a:p>
        </p:txBody>
      </p:sp>
      <p:sp>
        <p:nvSpPr>
          <p:cNvPr id="19" name="Text 14"/>
          <p:cNvSpPr/>
          <p:nvPr/>
        </p:nvSpPr>
        <p:spPr>
          <a:xfrm>
            <a:off x="8631936" y="2496610"/>
            <a:ext cx="3054096" cy="868680"/>
          </a:xfrm>
          <a:prstGeom prst="rect">
            <a:avLst/>
          </a:prstGeom>
          <a:noFill/>
          <a:ln/>
        </p:spPr>
        <p:txBody>
          <a:bodyPr wrap="square" lIns="0" tIns="0" rIns="0" bIns="0" rtlCol="0" anchor="t"/>
          <a:lstStyle/>
          <a:p>
            <a:pPr marL="0" indent="0">
              <a:lnSpc>
                <a:spcPct val="115000"/>
              </a:lnSpc>
              <a:buNone/>
            </a:pPr>
            <a:r>
              <a:rPr lang="en-US" sz="1200" b="1" dirty="0">
                <a:solidFill>
                  <a:schemeClr val="bg1"/>
                </a:solidFill>
                <a:latin typeface="Arial" panose="020B0604020202020204" pitchFamily="34" charset="0"/>
                <a:ea typeface="Calibri" pitchFamily="34" charset="-122"/>
                <a:cs typeface="Arial" panose="020B0604020202020204" pitchFamily="34" charset="0"/>
              </a:rPr>
              <a:t>Ajouter une recherche textuelle et des filtres combinés (prix, note, disponibilité) sur la page Freelances</a:t>
            </a:r>
            <a:endParaRPr lang="en-US" sz="1200" b="1" dirty="0">
              <a:solidFill>
                <a:schemeClr val="bg1"/>
              </a:solidFill>
              <a:latin typeface="Arial" panose="020B0604020202020204" pitchFamily="34" charset="0"/>
              <a:cs typeface="Arial" panose="020B0604020202020204" pitchFamily="34" charset="0"/>
            </a:endParaRPr>
          </a:p>
        </p:txBody>
      </p:sp>
      <p:sp>
        <p:nvSpPr>
          <p:cNvPr id="20" name="Shape 15"/>
          <p:cNvSpPr/>
          <p:nvPr/>
        </p:nvSpPr>
        <p:spPr>
          <a:xfrm>
            <a:off x="548640" y="4069080"/>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23" name="Text 17"/>
          <p:cNvSpPr/>
          <p:nvPr/>
        </p:nvSpPr>
        <p:spPr>
          <a:xfrm>
            <a:off x="950976" y="4397569"/>
            <a:ext cx="3054096" cy="457200"/>
          </a:xfrm>
          <a:prstGeom prst="rect">
            <a:avLst/>
          </a:prstGeom>
          <a:noFill/>
          <a:ln/>
        </p:spPr>
        <p:txBody>
          <a:bodyPr wrap="square" lIns="0" tIns="0" rIns="0" bIns="0" rtlCol="0" anchor="t"/>
          <a:lstStyle/>
          <a:p>
            <a:pPr marL="0" indent="0">
              <a:buNone/>
            </a:pPr>
            <a:r>
              <a:rPr lang="en-US" sz="1600" b="1" dirty="0">
                <a:solidFill>
                  <a:srgbClr val="C00000"/>
                </a:solidFill>
                <a:latin typeface="Arial" panose="020B0604020202020204" pitchFamily="34" charset="0"/>
                <a:ea typeface="Cambria" pitchFamily="34" charset="-122"/>
                <a:cs typeface="Arial" panose="020B0604020202020204" pitchFamily="34" charset="0"/>
              </a:rPr>
              <a:t>Tableau de bord utilisateur</a:t>
            </a:r>
            <a:endParaRPr lang="en-US" sz="1600" dirty="0">
              <a:solidFill>
                <a:srgbClr val="C00000"/>
              </a:solidFill>
              <a:latin typeface="Arial" panose="020B0604020202020204" pitchFamily="34" charset="0"/>
              <a:cs typeface="Arial" panose="020B0604020202020204" pitchFamily="34" charset="0"/>
            </a:endParaRPr>
          </a:p>
        </p:txBody>
      </p:sp>
      <p:sp>
        <p:nvSpPr>
          <p:cNvPr id="24" name="Text 18"/>
          <p:cNvSpPr/>
          <p:nvPr/>
        </p:nvSpPr>
        <p:spPr>
          <a:xfrm>
            <a:off x="901887" y="5062993"/>
            <a:ext cx="3054096" cy="868680"/>
          </a:xfrm>
          <a:prstGeom prst="rect">
            <a:avLst/>
          </a:prstGeom>
          <a:noFill/>
          <a:ln/>
        </p:spPr>
        <p:txBody>
          <a:bodyPr wrap="square" lIns="0" tIns="0" rIns="0" bIns="0" rtlCol="0" anchor="t"/>
          <a:lstStyle/>
          <a:p>
            <a:pPr>
              <a:lnSpc>
                <a:spcPct val="115000"/>
              </a:lnSpc>
            </a:pPr>
            <a:r>
              <a:rPr lang="fr-FR" sz="1400" b="1" dirty="0">
                <a:solidFill>
                  <a:schemeClr val="bg1"/>
                </a:solidFill>
                <a:latin typeface="Arial" panose="020B0604020202020204" pitchFamily="34" charset="0"/>
                <a:cs typeface="Arial" panose="020B0604020202020204" pitchFamily="34" charset="0"/>
              </a:rPr>
              <a:t>Tableau de bord personnalisé avec statistiques, notifications et progression du joueur.</a:t>
            </a:r>
            <a:endParaRPr lang="en-US" sz="1400" b="1" dirty="0">
              <a:solidFill>
                <a:schemeClr val="bg1"/>
              </a:solidFill>
              <a:latin typeface="Arial" panose="020B0604020202020204" pitchFamily="34" charset="0"/>
              <a:cs typeface="Arial" panose="020B0604020202020204" pitchFamily="34" charset="0"/>
            </a:endParaRPr>
          </a:p>
        </p:txBody>
      </p:sp>
      <p:sp>
        <p:nvSpPr>
          <p:cNvPr id="25" name="Shape 19"/>
          <p:cNvSpPr/>
          <p:nvPr/>
        </p:nvSpPr>
        <p:spPr>
          <a:xfrm>
            <a:off x="4407408" y="4069080"/>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28" name="Text 21"/>
          <p:cNvSpPr/>
          <p:nvPr/>
        </p:nvSpPr>
        <p:spPr>
          <a:xfrm>
            <a:off x="5577840" y="4343400"/>
            <a:ext cx="3054096" cy="457200"/>
          </a:xfrm>
          <a:prstGeom prst="rect">
            <a:avLst/>
          </a:prstGeom>
          <a:noFill/>
          <a:ln/>
        </p:spPr>
        <p:txBody>
          <a:bodyPr wrap="square" lIns="0" tIns="0" rIns="0" bIns="0" rtlCol="0" anchor="t"/>
          <a:lstStyle/>
          <a:p>
            <a:pPr marL="0" indent="0">
              <a:buNone/>
            </a:pPr>
            <a:r>
              <a:rPr lang="en-US" sz="1600" b="1" dirty="0" err="1">
                <a:solidFill>
                  <a:srgbClr val="C00000"/>
                </a:solidFill>
                <a:latin typeface="Arial" panose="020B0604020202020204" pitchFamily="34" charset="0"/>
                <a:ea typeface="Cambria" pitchFamily="34" charset="-122"/>
                <a:cs typeface="Arial" panose="020B0604020202020204" pitchFamily="34" charset="0"/>
              </a:rPr>
              <a:t>Accessibilité</a:t>
            </a:r>
            <a:r>
              <a:rPr lang="en-US" sz="1600" b="1" dirty="0">
                <a:solidFill>
                  <a:srgbClr val="C00000"/>
                </a:solidFill>
                <a:latin typeface="Arial" panose="020B0604020202020204" pitchFamily="34" charset="0"/>
                <a:ea typeface="Cambria" pitchFamily="34" charset="-122"/>
                <a:cs typeface="Arial" panose="020B0604020202020204" pitchFamily="34" charset="0"/>
              </a:rPr>
              <a:t> </a:t>
            </a:r>
            <a:endParaRPr lang="en-US" sz="1600" dirty="0">
              <a:solidFill>
                <a:srgbClr val="C00000"/>
              </a:solidFill>
              <a:latin typeface="Arial" panose="020B0604020202020204" pitchFamily="34" charset="0"/>
              <a:cs typeface="Arial" panose="020B0604020202020204" pitchFamily="34" charset="0"/>
            </a:endParaRPr>
          </a:p>
        </p:txBody>
      </p:sp>
      <p:sp>
        <p:nvSpPr>
          <p:cNvPr id="29" name="Text 22"/>
          <p:cNvSpPr/>
          <p:nvPr/>
        </p:nvSpPr>
        <p:spPr>
          <a:xfrm>
            <a:off x="4663440" y="4937760"/>
            <a:ext cx="3054096" cy="868680"/>
          </a:xfrm>
          <a:prstGeom prst="rect">
            <a:avLst/>
          </a:prstGeom>
          <a:noFill/>
          <a:ln/>
        </p:spPr>
        <p:txBody>
          <a:bodyPr wrap="square" lIns="0" tIns="0" rIns="0" bIns="0" rtlCol="0" anchor="t"/>
          <a:lstStyle/>
          <a:p>
            <a:r>
              <a:rPr lang="fr-FR" sz="1400" b="1" dirty="0">
                <a:solidFill>
                  <a:schemeClr val="bg1"/>
                </a:solidFill>
                <a:latin typeface="Arial" panose="020B0604020202020204" pitchFamily="34" charset="0"/>
                <a:cs typeface="Arial" panose="020B0604020202020204" pitchFamily="34" charset="0"/>
              </a:rPr>
              <a:t>Test de l’accessibilité du site : contrastes, navigation au clavier et ARIA. </a:t>
            </a:r>
          </a:p>
          <a:p>
            <a:r>
              <a:rPr lang="fr-FR" sz="1400" b="1" dirty="0">
                <a:solidFill>
                  <a:schemeClr val="bg1"/>
                </a:solidFill>
                <a:latin typeface="Arial" panose="020B0604020202020204" pitchFamily="34" charset="0"/>
                <a:cs typeface="Arial" panose="020B0604020202020204" pitchFamily="34" charset="0"/>
              </a:rPr>
              <a:t>Contrôle de l’accessibilité (WCAG) du site. </a:t>
            </a:r>
          </a:p>
          <a:p>
            <a:pPr marL="0" indent="0">
              <a:lnSpc>
                <a:spcPct val="115000"/>
              </a:lnSpc>
              <a:buNone/>
            </a:pPr>
            <a:endParaRPr lang="en-US" sz="1400" b="1" dirty="0">
              <a:solidFill>
                <a:schemeClr val="bg1"/>
              </a:solidFill>
              <a:latin typeface="Arial" panose="020B0604020202020204" pitchFamily="34" charset="0"/>
              <a:cs typeface="Arial" panose="020B0604020202020204" pitchFamily="34" charset="0"/>
            </a:endParaRPr>
          </a:p>
        </p:txBody>
      </p:sp>
      <p:sp>
        <p:nvSpPr>
          <p:cNvPr id="30" name="Shape 23"/>
          <p:cNvSpPr/>
          <p:nvPr/>
        </p:nvSpPr>
        <p:spPr>
          <a:xfrm>
            <a:off x="8266176" y="4069080"/>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33" name="Text 25"/>
          <p:cNvSpPr/>
          <p:nvPr/>
        </p:nvSpPr>
        <p:spPr>
          <a:xfrm>
            <a:off x="9070848" y="4297680"/>
            <a:ext cx="3054096" cy="457200"/>
          </a:xfrm>
          <a:prstGeom prst="rect">
            <a:avLst/>
          </a:prstGeom>
          <a:noFill/>
          <a:ln/>
        </p:spPr>
        <p:txBody>
          <a:bodyPr wrap="square" lIns="0" tIns="0" rIns="0" bIns="0" rtlCol="0" anchor="t"/>
          <a:lstStyle/>
          <a:p>
            <a:pPr marL="0" indent="0">
              <a:buNone/>
            </a:pPr>
            <a:r>
              <a:rPr lang="en-US" sz="1600" b="1" dirty="0">
                <a:solidFill>
                  <a:srgbClr val="C00000"/>
                </a:solidFill>
                <a:latin typeface="Arial" panose="020B0604020202020204" pitchFamily="34" charset="0"/>
                <a:ea typeface="Cambria" pitchFamily="34" charset="-122"/>
                <a:cs typeface="Arial" panose="020B0604020202020204" pitchFamily="34" charset="0"/>
              </a:rPr>
              <a:t>Internationalisation</a:t>
            </a:r>
            <a:endParaRPr lang="en-US" sz="1600" dirty="0">
              <a:solidFill>
                <a:srgbClr val="C00000"/>
              </a:solidFill>
              <a:latin typeface="Arial" panose="020B0604020202020204" pitchFamily="34" charset="0"/>
              <a:cs typeface="Arial" panose="020B0604020202020204" pitchFamily="34" charset="0"/>
            </a:endParaRPr>
          </a:p>
        </p:txBody>
      </p:sp>
      <p:sp>
        <p:nvSpPr>
          <p:cNvPr id="34" name="Text 26"/>
          <p:cNvSpPr/>
          <p:nvPr/>
        </p:nvSpPr>
        <p:spPr>
          <a:xfrm>
            <a:off x="8588959" y="4959626"/>
            <a:ext cx="3054096" cy="868680"/>
          </a:xfrm>
          <a:prstGeom prst="rect">
            <a:avLst/>
          </a:prstGeom>
          <a:noFill/>
          <a:ln/>
        </p:spPr>
        <p:txBody>
          <a:bodyPr wrap="square" lIns="0" tIns="0" rIns="0" bIns="0" rtlCol="0" anchor="t"/>
          <a:lstStyle/>
          <a:p>
            <a:pPr marL="0" indent="0">
              <a:lnSpc>
                <a:spcPct val="115000"/>
              </a:lnSpc>
              <a:buNone/>
            </a:pPr>
            <a:r>
              <a:rPr lang="en-US" sz="1400" b="1" dirty="0">
                <a:solidFill>
                  <a:schemeClr val="bg1"/>
                </a:solidFill>
                <a:latin typeface="Arial" panose="020B0604020202020204" pitchFamily="34" charset="0"/>
                <a:ea typeface="Calibri" pitchFamily="34" charset="-122"/>
                <a:cs typeface="Arial" panose="020B0604020202020204" pitchFamily="34" charset="0"/>
              </a:rPr>
              <a:t>Support multilingue (FR/EN) pour élargir la plateforme à un public international</a:t>
            </a:r>
            <a:endParaRPr lang="en-US" sz="1400" b="1" dirty="0">
              <a:solidFill>
                <a:schemeClr val="bg1"/>
              </a:solidFill>
              <a:latin typeface="Arial" panose="020B0604020202020204" pitchFamily="34" charset="0"/>
              <a:cs typeface="Arial" panose="020B0604020202020204" pitchFamily="34" charset="0"/>
            </a:endParaRPr>
          </a:p>
        </p:txBody>
      </p:sp>
      <p:sp>
        <p:nvSpPr>
          <p:cNvPr id="35" name="Text 27"/>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100" dirty="0">
                <a:solidFill>
                  <a:schemeClr val="bg1"/>
                </a:solidFill>
                <a:latin typeface="Arial" panose="020B0604020202020204" pitchFamily="34" charset="0"/>
                <a:ea typeface="Calibri" pitchFamily="34" charset="-122"/>
                <a:cs typeface="Arial" panose="020B0604020202020204" pitchFamily="34" charset="0"/>
              </a:rPr>
              <a:t>15</a:t>
            </a:r>
            <a:endParaRPr lang="en-US" sz="1100" dirty="0">
              <a:solidFill>
                <a:schemeClr val="bg1"/>
              </a:solidFill>
              <a:latin typeface="Arial" panose="020B0604020202020204" pitchFamily="34" charset="0"/>
              <a:cs typeface="Arial" panose="020B0604020202020204" pitchFamily="34" charset="0"/>
            </a:endParaRPr>
          </a:p>
        </p:txBody>
      </p:sp>
      <p:sp>
        <p:nvSpPr>
          <p:cNvPr id="36" name="Text 28"/>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10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TotalTime>
  <Words>1799</Words>
  <Application>Microsoft Office PowerPoint</Application>
  <PresentationFormat>Grand écran</PresentationFormat>
  <Paragraphs>286</Paragraphs>
  <Slides>15</Slides>
  <Notes>15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Algerian</vt:lpstr>
      <vt:lpstr>Arial</vt:lpstr>
      <vt:lpstr>Calibri</vt:lpstr>
      <vt:lpstr>Cambria</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AfriTalent / GAMEHAVEN - Projet Web</dc:title>
  <dc:subject>PptxGenJS Presentation</dc:subject>
  <dc:creator>Azarel Sylvano</dc:creator>
  <cp:lastModifiedBy>AZAREL KETA</cp:lastModifiedBy>
  <cp:revision>8</cp:revision>
  <dcterms:created xsi:type="dcterms:W3CDTF">2026-06-24T19:10:43Z</dcterms:created>
  <dcterms:modified xsi:type="dcterms:W3CDTF">2026-07-02T01:18:19Z</dcterms:modified>
</cp:coreProperties>
</file>